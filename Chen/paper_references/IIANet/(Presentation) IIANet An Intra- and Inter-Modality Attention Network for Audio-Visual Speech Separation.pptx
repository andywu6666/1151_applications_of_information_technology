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2"/>
    <p:sldId id="259" r:id="rId3"/>
    <p:sldId id="260" r:id="rId4"/>
    <p:sldId id="261" r:id="rId5"/>
    <p:sldId id="262" r:id="rId6"/>
    <p:sldId id="276" r:id="rId7"/>
    <p:sldId id="277" r:id="rId8"/>
    <p:sldId id="278" r:id="rId9"/>
    <p:sldId id="263" r:id="rId10"/>
    <p:sldId id="279" r:id="rId11"/>
    <p:sldId id="280" r:id="rId12"/>
    <p:sldId id="281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82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204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8" d="100"/>
          <a:sy n="118" d="100"/>
        </p:scale>
        <p:origin x="50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C21426C-A563-C15C-818C-83170E0851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8936E7-FD65-A5FE-2A29-0A8F4C1BB4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B477F-743A-4DC7-ACE9-66BC750A2820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E699371-6164-3311-031A-A1FDC0FD2D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EF4DA16-0DAA-0B49-DC0A-6AC4BF3609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4CB18-FD65-4107-8194-72B054CA7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6267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0E0E9-D7FB-44AB-93E7-FB7C591E74BD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21CED-30EE-491A-B6CE-811D8E31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0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0C8B7-BD70-F226-AD88-4AC3A1081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FFDB7D0-DC8D-66F0-94A7-6AAD62936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2395D3-7350-C511-C043-7F5A82976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73840-2C74-4889-A144-83B8881A8EB2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5EDC1F-D48B-290B-D08E-A08F05C8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0DF073-F43A-9096-7C54-B8CF9235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6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4FF724-E0F6-65DA-B414-9C8592E9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EE4E9E-5029-4A49-A11C-CC2491BD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7AB83D-B1AC-88D2-00B6-7C4E8A6D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FCCE9-5E68-4822-843D-5FC38A9BC3C8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F79642-81D4-75EB-7F4C-DEFE9526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D142E0-F2B1-6A5C-2415-1538F682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0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51FE83-6637-254B-5DB5-B83B2E16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E663C9-1C44-AE6F-AF10-2C4B54850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8682D1-A265-1664-A281-882EDB9A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B7429-65EF-4B58-8412-97E0D83AE175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5562CB-A135-0BD6-78CE-004FEB3A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2B184-0DEE-BDB3-5F9A-6C772860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7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FD4DF-FDB7-5AC3-51A0-CA0F1908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49CDEF-4710-4B0C-098E-C85EF0342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B3CC94-C8F7-8AE3-388C-0FB679642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A8FC392-3376-BACB-4E23-8151DA12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50169-C7BE-479A-B73E-E94FFBFCA67C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2270C8-E067-C14C-DC5A-12302765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5B5F61-1D41-7515-6228-D9F1C969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38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506F-9446-C125-3B3C-5F258F5D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4C9C27-19C4-0062-DBED-F30F13F56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5F24451-3AD5-02C1-70A7-1D17061EA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04AC2B-8967-6C71-755E-2E83237C9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7CC67CE-C2D5-8CC6-8EA8-8DFE3708FC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956BDE5-37F4-F394-DCD0-062851E7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F768-58B9-496C-9964-79B587672026}" type="datetime1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F85C98B-E00B-D285-1335-1C9A7F28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B6A256-E3DE-9238-50ED-6A121585C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4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9CBD0-DD4A-AED7-D157-14D431DE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4114F9D-D853-45CD-A9B8-05649B40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DA9B-8FDB-4D2C-B532-7832E313EC53}" type="datetime1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2C30A1F-3DDE-8E5B-CD50-D0327840F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31BF5C3-984E-3F60-0356-E37F2A7A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5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1FD0A7A-88BD-257B-15E1-56DE345D7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860AF-98E2-4021-8B7C-72D1E73CA51B}" type="datetime1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CE2CFD-80D4-D53A-1E60-C4677006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E66B95-9545-0984-2895-F33E43EB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3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C29DE5-F2CC-FCA9-8D18-50FF853F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E5010E-493F-8837-A32A-ABD8291B4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5A7A19-DE38-D391-E8CB-453AFF434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F75BAA-002F-355E-2F72-EB39F620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6DC3-895A-4B9A-87CE-F44FC87A55DC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ABE6D6-1E44-F428-E2EF-15F391657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38E998-A18B-3A2B-15E8-4C0B9B85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3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57B841-9ED0-16C6-7C1F-6DF8FF81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ED72561-7707-495C-06C4-68D59C418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889990-2D48-0272-B8A0-CF36E5623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45EB8C-B350-5315-1FD2-1B98E604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1694-E89C-4A2E-A0A8-E815D6879EE1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E4B10A-556E-E969-A122-CE4D4881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3EF9DA-D3CC-D582-22B0-B308BB8DB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1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A9A672-39DC-5E8B-88BB-A8AEFEA3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935E7EF-2DA5-875A-D982-ED7F2B255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A48638-ACA7-16AF-B8CF-C7B89B0E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84919-E2ED-4708-BE09-5D72FB8E298E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EDDE67-59FF-D160-FEA6-FFB82B6DE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4CC3FF-39AA-59D7-9EF1-920537A5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6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7CA5F80-6A95-C32B-6F89-9C43628C4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5896AA9-D7C6-4BA7-0225-29835F49C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8F109A-0056-25E1-8B08-7614483E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76160-22BF-4079-BF28-13F7AF9A4FBF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9F59A0-58A3-AF16-59FB-B94FADDC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875AAF-8410-039D-2265-968BF08D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3FC9176-C99A-4A55-41DD-92A8FE591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230791-0F39-54A8-B256-0C93AC1D5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6327EA-8A4E-0A5D-E287-EA6AF63FA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8AFB9-3754-4DA4-8FBC-7BEB264E6934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0CC130-EBD4-36EC-E6BC-ED09FA083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EF2D82-53FC-7B2B-040E-F38493090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DD44F-83BF-4DB5-9B8D-D1BE81ED8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6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usperLee/IIANe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A7F9343A-2665-ECD2-BC06-DF7BA40E623F}"/>
              </a:ext>
            </a:extLst>
          </p:cNvPr>
          <p:cNvGrpSpPr/>
          <p:nvPr/>
        </p:nvGrpSpPr>
        <p:grpSpPr>
          <a:xfrm>
            <a:off x="1000000" y="1638774"/>
            <a:ext cx="10192000" cy="3845186"/>
            <a:chOff x="855693" y="1678388"/>
            <a:chExt cx="10192000" cy="384518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C118FC5-3372-6BC0-5243-8E4492172B8D}"/>
                </a:ext>
              </a:extLst>
            </p:cNvPr>
            <p:cNvSpPr txBox="1"/>
            <p:nvPr/>
          </p:nvSpPr>
          <p:spPr>
            <a:xfrm>
              <a:off x="981135" y="1678388"/>
              <a:ext cx="9941116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0" dirty="0" err="1">
                  <a:latin typeface="Times New Roman"/>
                  <a:cs typeface="Times New Roman"/>
                </a:rPr>
                <a:t>IIANet</a:t>
              </a:r>
              <a:r>
                <a:rPr lang="en-US" sz="4000" dirty="0">
                  <a:latin typeface="Times New Roman"/>
                  <a:cs typeface="Times New Roman"/>
                </a:rPr>
                <a:t>: An Intra- and Inter-Modality Attention Network for  Audio-Visual Speech Separation</a:t>
              </a:r>
              <a:endParaRPr lang="en-US" sz="4000" b="0" i="0" u="none" dirty="0">
                <a:latin typeface="Times New Roman"/>
                <a:cs typeface="Times New Roman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70D86D-EA2E-EAEA-7920-03DC67351A13}"/>
                </a:ext>
              </a:extLst>
            </p:cNvPr>
            <p:cNvSpPr txBox="1"/>
            <p:nvPr/>
          </p:nvSpPr>
          <p:spPr>
            <a:xfrm>
              <a:off x="1054543" y="3185819"/>
              <a:ext cx="99411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i-FI" sz="2000" b="1" dirty="0">
                  <a:latin typeface="Times New Roman"/>
                  <a:cs typeface="Times New Roman"/>
                </a:rPr>
                <a:t>Kai Li</a:t>
              </a:r>
              <a:r>
                <a:rPr lang="fi-FI" sz="2000" baseline="30000" dirty="0">
                  <a:latin typeface="Times New Roman"/>
                  <a:cs typeface="Times New Roman"/>
                </a:rPr>
                <a:t>1</a:t>
              </a:r>
              <a:r>
                <a:rPr lang="fi-FI" sz="2000" b="1" dirty="0">
                  <a:latin typeface="Times New Roman"/>
                  <a:cs typeface="Times New Roman"/>
                </a:rPr>
                <a:t> Runxuan Yang</a:t>
              </a:r>
              <a:r>
                <a:rPr lang="fi-FI" sz="2000" baseline="30000" dirty="0">
                  <a:latin typeface="Times New Roman"/>
                  <a:cs typeface="Times New Roman"/>
                </a:rPr>
                <a:t>1</a:t>
              </a:r>
              <a:r>
                <a:rPr lang="fi-FI" sz="2000" b="1" dirty="0">
                  <a:latin typeface="Times New Roman"/>
                  <a:cs typeface="Times New Roman"/>
                </a:rPr>
                <a:t> Fuchun Sun</a:t>
              </a:r>
              <a:r>
                <a:rPr lang="fi-FI" sz="2000" baseline="30000" dirty="0">
                  <a:latin typeface="Times New Roman"/>
                  <a:cs typeface="Times New Roman"/>
                </a:rPr>
                <a:t>1</a:t>
              </a:r>
              <a:r>
                <a:rPr lang="fi-FI" sz="2000" b="1" dirty="0">
                  <a:latin typeface="Times New Roman"/>
                  <a:cs typeface="Times New Roman"/>
                </a:rPr>
                <a:t> Xiaolin Hu</a:t>
              </a:r>
              <a:r>
                <a:rPr lang="fi-FI" sz="2000" baseline="30000" dirty="0">
                  <a:latin typeface="Times New Roman"/>
                  <a:cs typeface="Times New Roman"/>
                </a:rPr>
                <a:t>1, 2, 3</a:t>
              </a:r>
              <a:endParaRPr lang="en-US" sz="2000" i="0" u="none" baseline="30000" dirty="0">
                <a:latin typeface="Times New Roman"/>
                <a:cs typeface="Times New Roman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77372C-ADD2-3EA6-D342-7398445899D7}"/>
                </a:ext>
              </a:extLst>
            </p:cNvPr>
            <p:cNvSpPr txBox="1"/>
            <p:nvPr/>
          </p:nvSpPr>
          <p:spPr>
            <a:xfrm>
              <a:off x="855693" y="3769921"/>
              <a:ext cx="10192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¹</a:t>
              </a:r>
              <a:r>
                <a: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 Science and Technology, Tsinghua University, Beijing, China</a:t>
              </a:r>
              <a:br>
                <a:rPr lang="zh-TW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zh-TW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²</a:t>
              </a:r>
              <a:r>
                <a: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Tsinghua Laboratory of Brain and Intelligence (THBI), Tsinghua University</a:t>
              </a:r>
              <a:br>
                <a:rPr lang="zh-TW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zh-TW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³</a:t>
              </a:r>
              <a:r>
                <a: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IDG/McGovern Institute for Brain Research, Tsinghua University</a:t>
              </a:r>
              <a:endParaRPr lang="en-US" sz="1200" b="0" i="0" u="none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44320F-B60C-0D2F-ACFF-1668CF905059}"/>
                </a:ext>
              </a:extLst>
            </p:cNvPr>
            <p:cNvSpPr txBox="1"/>
            <p:nvPr/>
          </p:nvSpPr>
          <p:spPr>
            <a:xfrm>
              <a:off x="1526843" y="4600244"/>
              <a:ext cx="899651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arXiv:</a:t>
              </a:r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2308.08143v3 [cs.SD] 2 Feb 2024</a:t>
              </a:r>
              <a:br>
                <a:rPr lang="zh-TW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zh-TW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International Conference on Machine Learning (ICML), 2024</a:t>
              </a:r>
              <a:br>
                <a:rPr lang="zh-TW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zh-TW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Code: </a:t>
              </a:r>
              <a:r>
                <a:rPr lang="zh-TW" altLang="zh-TW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https://github.com/JusperLee/IIANet</a:t>
              </a:r>
              <a:endParaRPr lang="en-US" sz="1800" b="0" i="0" u="none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696825F-BCD7-0A1F-56D2-0316F2DF3D3E}"/>
              </a:ext>
            </a:extLst>
          </p:cNvPr>
          <p:cNvSpPr txBox="1"/>
          <p:nvPr/>
        </p:nvSpPr>
        <p:spPr>
          <a:xfrm>
            <a:off x="137160" y="137160"/>
            <a:ext cx="118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Terms:</a:t>
            </a:r>
            <a:r>
              <a:rPr lang="zh-TW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Audio-Visual Speech Separation, Selective Attention, Multi-Scale Fusion, Brain-Inspired Architecture, Cocktail Party Effect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u="none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Citations: </a:t>
            </a:r>
            <a:r>
              <a:rPr lang="en-US" sz="1600" i="0" u="none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44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2A3A2-F5BA-5C0E-CC09-EC41051FFD6E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01/</a:t>
            </a:r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364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Introduction</a:t>
            </a:r>
            <a:r>
              <a:rPr lang="en-US" sz="4000" i="0" u="none" dirty="0">
                <a:latin typeface="Times New Roman"/>
                <a:cs typeface="Times New Roman"/>
              </a:rPr>
              <a:t>: The Cocktail Party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480A2-783F-EC38-B262-34722A5790F1}"/>
              </a:ext>
            </a:extLst>
          </p:cNvPr>
          <p:cNvSpPr txBox="1"/>
          <p:nvPr/>
        </p:nvSpPr>
        <p:spPr>
          <a:xfrm>
            <a:off x="457200" y="1143000"/>
            <a:ext cx="11277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Task 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dirty="0">
                <a:latin typeface="Times New Roman"/>
                <a:cs typeface="Times New Roman"/>
              </a:rPr>
              <a:t>Isolate one voice among many speakers.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u="none" dirty="0">
                <a:latin typeface="Times New Roman"/>
                <a:cs typeface="Times New Roman"/>
              </a:rPr>
              <a:t>AOSS (Audio-Only Speech Separation)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Separation quality collapses under severe noise and reverberation.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AVSS (Audio-Visual Speech Separation)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Lip motion provides a reliable, speaker-specific visual anchor.</a:t>
            </a:r>
          </a:p>
          <a:p>
            <a:pPr lvl="1"/>
            <a:r>
              <a:rPr lang="en-US" sz="2400" dirty="0">
                <a:latin typeface="Times New Roman"/>
                <a:cs typeface="Times New Roman"/>
              </a:rPr>
              <a:t>	</a:t>
            </a:r>
          </a:p>
          <a:p>
            <a:r>
              <a:rPr lang="en-US" sz="2400" b="1" i="0" u="sng" dirty="0">
                <a:latin typeface="Times New Roman"/>
                <a:cs typeface="Times New Roman"/>
              </a:rPr>
              <a:t>Practical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u="none" dirty="0">
                <a:latin typeface="Times New Roman"/>
                <a:cs typeface="Times New Roman"/>
              </a:rPr>
              <a:t>Useful for hearing aids, wearable devices, and speech recognition.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2201224-9E2E-00FF-706D-652B41553B74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/</a:t>
            </a:r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8840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Introduction</a:t>
            </a:r>
            <a:r>
              <a:rPr lang="en-US" sz="4000" i="0" u="none" dirty="0">
                <a:latin typeface="Times New Roman"/>
                <a:cs typeface="Times New Roman"/>
              </a:rPr>
              <a:t>: Research Gaps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BDD21E6-0238-BA84-DF8F-1A7874D47A6A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03/21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E02F817-BBBF-DB7B-395B-1B00003739E0}"/>
              </a:ext>
            </a:extLst>
          </p:cNvPr>
          <p:cNvSpPr txBox="1"/>
          <p:nvPr/>
        </p:nvSpPr>
        <p:spPr>
          <a:xfrm>
            <a:off x="457200" y="1143000"/>
            <a:ext cx="11277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/>
                <a:cs typeface="Times New Roman"/>
              </a:rPr>
              <a:t>Existing Paradigms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CNNs offer low complexity but fuse at a single temporal scale.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Transformers use heavy similarity matrices, not designed for speaker selection. </a:t>
            </a:r>
          </a:p>
          <a:p>
            <a:endParaRPr lang="en-US" sz="2400" b="1" u="sng" dirty="0">
              <a:latin typeface="Times New Roman"/>
              <a:cs typeface="Times New Roman"/>
            </a:endParaRPr>
          </a:p>
          <a:p>
            <a:r>
              <a:rPr lang="en-US" sz="2400" b="1" u="sng" dirty="0">
                <a:latin typeface="Times New Roman"/>
                <a:cs typeface="Times New Roman"/>
              </a:rPr>
              <a:t>Gap 1: </a:t>
            </a:r>
            <a:r>
              <a:rPr lang="en-US" sz="2400" b="1" i="0" u="sng" dirty="0">
                <a:latin typeface="Times New Roman"/>
                <a:cs typeface="Times New Roman"/>
              </a:rPr>
              <a:t>Single Temporal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u="none" dirty="0">
                <a:latin typeface="Times New Roman"/>
                <a:cs typeface="Times New Roman"/>
              </a:rPr>
              <a:t>Human brain integrates signals at multiple temporal levels.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u="none" dirty="0">
                <a:latin typeface="Times New Roman"/>
                <a:cs typeface="Times New Roman"/>
              </a:rPr>
              <a:t>Existing AVSS models ignore crucial cross-scale semantic relations. 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b="1" u="sng" dirty="0">
              <a:latin typeface="Times New Roman"/>
              <a:cs typeface="Times New Roman"/>
            </a:endParaRPr>
          </a:p>
          <a:p>
            <a:r>
              <a:rPr lang="en-US" sz="2400" b="1" u="sng" dirty="0">
                <a:latin typeface="Times New Roman"/>
                <a:cs typeface="Times New Roman"/>
              </a:rPr>
              <a:t>Gap 2: No Selective 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Intra-modal top-down selective attention is entirely overlooked.</a:t>
            </a:r>
          </a:p>
        </p:txBody>
      </p:sp>
    </p:spTree>
    <p:extLst>
      <p:ext uri="{BB962C8B-B14F-4D97-AF65-F5344CB8AC3E}">
        <p14:creationId xmlns:p14="http://schemas.microsoft.com/office/powerpoint/2010/main" val="240554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Introduction</a:t>
            </a:r>
            <a:r>
              <a:rPr lang="en-US" sz="4000" i="0" u="none" dirty="0">
                <a:latin typeface="Times New Roman"/>
                <a:cs typeface="Times New Roman"/>
              </a:rPr>
              <a:t>: The Proposed </a:t>
            </a:r>
            <a:r>
              <a:rPr lang="en-US" sz="4000" i="0" u="none" dirty="0" err="1">
                <a:latin typeface="Times New Roman"/>
                <a:cs typeface="Times New Roman"/>
              </a:rPr>
              <a:t>IIANet</a:t>
            </a:r>
            <a:endParaRPr lang="en-US" sz="4000" i="0" u="none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480A2-783F-EC38-B262-34722A5790F1}"/>
                  </a:ext>
                </a:extLst>
              </p:cNvPr>
              <p:cNvSpPr txBox="1"/>
              <p:nvPr/>
            </p:nvSpPr>
            <p:spPr>
              <a:xfrm>
                <a:off x="457199" y="1143000"/>
                <a:ext cx="10959737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i="0" u="sng" dirty="0">
                    <a:latin typeface="Times New Roman"/>
                    <a:cs typeface="Times New Roman"/>
                  </a:rPr>
                  <a:t>Brain-Inspired Architecture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i="0" dirty="0">
                    <a:latin typeface="Times New Roman"/>
                    <a:cs typeface="Times New Roman"/>
                  </a:rPr>
                  <a:t>Two unimodal networks mimic human auditory and visual pathways.</a:t>
                </a:r>
                <a:endParaRPr lang="en-US" sz="2400" u="sng" dirty="0">
                  <a:latin typeface="Times New Roman"/>
                  <a:cs typeface="Times New Roman"/>
                </a:endParaRPr>
              </a:p>
              <a:p>
                <a:endParaRPr lang="en-US" sz="2400" b="1" i="0" u="sng" dirty="0">
                  <a:latin typeface="Times New Roman"/>
                  <a:cs typeface="Times New Roman"/>
                </a:endParaRPr>
              </a:p>
              <a:p>
                <a:r>
                  <a:rPr lang="en-US" sz="2400" b="1" i="0" u="sng" dirty="0">
                    <a:latin typeface="Times New Roman"/>
                    <a:cs typeface="Times New Roman"/>
                  </a:rPr>
                  <a:t>Variables Definition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Mixture audio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TW" altLang="en-US" sz="24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TW" altLang="en-US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1×</m:t>
                        </m:r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Lip frames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TW" altLang="en-US" sz="24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TW" altLang="en-US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speech output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TW" altLang="en-US" sz="24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TW" altLang="en-US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1×</m:t>
                        </m:r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</a:rPr>
                  <a:t>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US" sz="2400" b="1" u="sng" dirty="0">
                  <a:latin typeface="Times New Roman"/>
                  <a:cs typeface="Times New Roman"/>
                </a:endParaRPr>
              </a:p>
              <a:p>
                <a:r>
                  <a:rPr lang="en-US" sz="2400" b="1" i="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Overall Workflow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Encoders extract audio and visual embeddings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Separation network generates a soft mask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is extracted using element-wise multiplication: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zh-TW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zh-TW" altLang="en-US" sz="2400">
                        <a:latin typeface="Cambria Math" panose="02040503050406030204" pitchFamily="18" charset="0"/>
                      </a:rPr>
                      <m:t>⊙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480A2-783F-EC38-B262-34722A579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143000"/>
                <a:ext cx="10959737" cy="4524315"/>
              </a:xfrm>
              <a:prstGeom prst="rect">
                <a:avLst/>
              </a:prstGeom>
              <a:blipFill>
                <a:blip r:embed="rId2"/>
                <a:stretch>
                  <a:fillRect l="-834" t="-1078" b="-20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6">
            <a:extLst>
              <a:ext uri="{FF2B5EF4-FFF2-40B4-BE49-F238E27FC236}">
                <a16:creationId xmlns:a16="http://schemas.microsoft.com/office/drawing/2014/main" id="{0B6C5147-20EA-5849-A0C7-F9E96D062CE4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04/21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9177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Methodology</a:t>
            </a:r>
            <a:r>
              <a:rPr lang="en-US" sz="4000" i="0" u="none" dirty="0">
                <a:latin typeface="Times New Roman"/>
                <a:cs typeface="Times New Roman"/>
              </a:rPr>
              <a:t>: Overall Pipeline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480A2-783F-EC38-B262-34722A5790F1}"/>
                  </a:ext>
                </a:extLst>
              </p:cNvPr>
              <p:cNvSpPr txBox="1"/>
              <p:nvPr/>
            </p:nvSpPr>
            <p:spPr>
              <a:xfrm>
                <a:off x="457200" y="1143000"/>
                <a:ext cx="11277600" cy="12010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i="0" u="sng" dirty="0">
                    <a:latin typeface="Times New Roman"/>
                    <a:cs typeface="Times New Roman"/>
                  </a:rPr>
                  <a:t>Problem Formulation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i="0" u="none" dirty="0">
                    <a:latin typeface="Times New Roman"/>
                    <a:cs typeface="Times New Roman"/>
                  </a:rPr>
                  <a:t>Inputs</a:t>
                </a:r>
                <a:r>
                  <a:rPr lang="en-US" sz="2400" b="0" i="0" u="none" dirty="0">
                    <a:latin typeface="Times New Roman"/>
                    <a:cs typeface="Times New Roman"/>
                  </a:rPr>
                  <a:t>: Mixture </a:t>
                </a:r>
                <a14:m>
                  <m:oMath xmlns:m="http://schemas.openxmlformats.org/officeDocument/2006/math">
                    <m:r>
                      <a:rPr lang="en-US" sz="2400" b="0" i="1" u="none" smtClean="0">
                        <a:latin typeface="Cambria Math" panose="02040503050406030204" pitchFamily="18" charset="0"/>
                        <a:cs typeface="Times New Roman"/>
                      </a:rPr>
                      <m:t>𝑆</m:t>
                    </m:r>
                    <m:r>
                      <a:rPr lang="en-US" sz="2400" b="0" i="1" u="none" smtClean="0"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ℝ</m:t>
                        </m:r>
                      </m:e>
                      <m:sup>
                        <m:r>
                          <a:rPr lang="en-US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1×</m:t>
                        </m:r>
                        <m:sSub>
                          <m:sSubPr>
                            <m:ctrlPr>
                              <a:rPr lang="en-US" sz="2400" b="0" i="1" u="none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400" b="0" i="1" u="none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u="none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𝑎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400" b="0" i="0" u="none" dirty="0">
                    <a:latin typeface="Times New Roman"/>
                    <a:cs typeface="Times New Roman"/>
                  </a:rPr>
                  <a:t>, lip frames </a:t>
                </a:r>
                <a14:m>
                  <m:oMath xmlns:m="http://schemas.openxmlformats.org/officeDocument/2006/math">
                    <m:r>
                      <a:rPr lang="en-US" sz="2400" b="0" i="1" u="none" smtClean="0">
                        <a:latin typeface="Cambria Math" panose="02040503050406030204" pitchFamily="18" charset="0"/>
                        <a:cs typeface="Times New Roman"/>
                      </a:rPr>
                      <m:t>𝑉</m:t>
                    </m:r>
                    <m:r>
                      <a:rPr lang="en-US" sz="2400" b="0" i="1" u="none" smtClean="0"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ℝ</m:t>
                        </m:r>
                      </m:e>
                      <m:sup>
                        <m:r>
                          <a:rPr lang="en-US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𝐻</m:t>
                        </m:r>
                        <m:r>
                          <a:rPr lang="en-US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×</m:t>
                        </m:r>
                        <m:r>
                          <a:rPr lang="en-US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𝑊</m:t>
                        </m:r>
                        <m:r>
                          <a:rPr lang="en-US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×</m:t>
                        </m:r>
                        <m:sSub>
                          <m:sSubPr>
                            <m:ctrlPr>
                              <a:rPr lang="en-US" sz="2400" b="0" i="1" u="none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400" b="0" i="1" u="none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u="none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400" b="0" i="0" u="none" dirty="0">
                    <a:latin typeface="Times New Roman"/>
                    <a:cs typeface="Times New Roman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i="0" u="none" dirty="0">
                    <a:latin typeface="Times New Roman"/>
                    <a:cs typeface="Times New Roman"/>
                  </a:rPr>
                  <a:t>Output</a:t>
                </a:r>
                <a:r>
                  <a:rPr lang="en-US" sz="2400" b="0" i="0" u="none" dirty="0">
                    <a:latin typeface="Times New Roman"/>
                    <a:cs typeface="Times New Roman"/>
                  </a:rPr>
                  <a:t>: Target speaker speech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accPr>
                      <m:e>
                        <m:r>
                          <a:rPr lang="en-US" altLang="zh-TW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𝐴</m:t>
                        </m:r>
                      </m:e>
                    </m:acc>
                    <m:r>
                      <a:rPr lang="en-US" altLang="zh-TW" sz="2400" b="0" i="1" u="none" smtClean="0"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altLang="zh-TW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zh-TW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ℝ</m:t>
                        </m:r>
                      </m:e>
                      <m:sup>
                        <m:r>
                          <a:rPr lang="en-US" altLang="zh-TW" sz="2400" b="0" i="1" u="none" smtClean="0">
                            <a:latin typeface="Cambria Math" panose="02040503050406030204" pitchFamily="18" charset="0"/>
                            <a:cs typeface="Times New Roman"/>
                          </a:rPr>
                          <m:t>1×</m:t>
                        </m:r>
                        <m:sSub>
                          <m:sSubPr>
                            <m:ctrlPr>
                              <a:rPr lang="en-US" altLang="zh-TW" sz="2400" b="0" i="1" u="none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zh-TW" sz="2400" b="0" i="1" u="none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2400" b="0" i="1" u="none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𝑎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400" b="0" i="0" u="none" dirty="0">
                    <a:latin typeface="Times New Roman"/>
                    <a:cs typeface="Times New Roman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480A2-783F-EC38-B262-34722A579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43000"/>
                <a:ext cx="11277600" cy="1201098"/>
              </a:xfrm>
              <a:prstGeom prst="rect">
                <a:avLst/>
              </a:prstGeom>
              <a:blipFill>
                <a:blip r:embed="rId2"/>
                <a:stretch>
                  <a:fillRect l="-811" t="-4061" b="-10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6">
            <a:extLst>
              <a:ext uri="{FF2B5EF4-FFF2-40B4-BE49-F238E27FC236}">
                <a16:creationId xmlns:a16="http://schemas.microsoft.com/office/drawing/2014/main" id="{95DA559B-2377-DD21-3F62-7153E5BDC74A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05/21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7CA7832-6812-35FF-E79E-F5B9880F4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986" y="3657838"/>
            <a:ext cx="9362027" cy="249159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AFFD76B-35E0-28A7-97F8-A340F8E9CA62}"/>
              </a:ext>
            </a:extLst>
          </p:cNvPr>
          <p:cNvSpPr txBox="1"/>
          <p:nvPr/>
        </p:nvSpPr>
        <p:spPr>
          <a:xfrm>
            <a:off x="1414986" y="6193050"/>
            <a:ext cx="9362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aption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1(A) Li et al. (2024). Overall pipeline of IIANet.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80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2B1C-504F-8861-61D8-DDC0EE3B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AEF824-8DC4-0878-F539-0F9B56EFD8A8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Methodology</a:t>
            </a:r>
            <a:r>
              <a:rPr lang="en-US" sz="4000" i="0" u="none" dirty="0">
                <a:latin typeface="Times New Roman"/>
                <a:cs typeface="Times New Roman"/>
              </a:rPr>
              <a:t>: Overall Pipeline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F080FA-3A7A-28C7-7E05-C3C93A80E7A8}"/>
                  </a:ext>
                </a:extLst>
              </p:cNvPr>
              <p:cNvSpPr txBox="1"/>
              <p:nvPr/>
            </p:nvSpPr>
            <p:spPr>
              <a:xfrm>
                <a:off x="457200" y="1143000"/>
                <a:ext cx="112776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i="0" u="sng" dirty="0">
                    <a:latin typeface="Times New Roman"/>
                    <a:cs typeface="Times New Roman"/>
                  </a:rPr>
                  <a:t>Four Modules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Audio Encoder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1D convolution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Video Encoder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Lip-reading pre-trained model (same as CTCNet)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Separation Network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Outputs soft mask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via ReLU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⊙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Audio Decoder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1D transposed convolution → waveform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F080FA-3A7A-28C7-7E05-C3C93A80E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43000"/>
                <a:ext cx="11277600" cy="2308324"/>
              </a:xfrm>
              <a:prstGeom prst="rect">
                <a:avLst/>
              </a:prstGeom>
              <a:blipFill>
                <a:blip r:embed="rId2"/>
                <a:stretch>
                  <a:fillRect l="-811" t="-2116" b="-5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6">
            <a:extLst>
              <a:ext uri="{FF2B5EF4-FFF2-40B4-BE49-F238E27FC236}">
                <a16:creationId xmlns:a16="http://schemas.microsoft.com/office/drawing/2014/main" id="{38E3190B-F306-E14F-1352-687D3E2FB712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06/21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933D551-80A5-7086-D1FD-C99CA877F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986" y="3657838"/>
            <a:ext cx="9362027" cy="249159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BCB6188-006B-D999-5BB1-5D02A5D8CD15}"/>
              </a:ext>
            </a:extLst>
          </p:cNvPr>
          <p:cNvSpPr txBox="1"/>
          <p:nvPr/>
        </p:nvSpPr>
        <p:spPr>
          <a:xfrm>
            <a:off x="1414986" y="6193050"/>
            <a:ext cx="9362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aption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1(A) Li et al. (2024). Overall pipeline of IIANet.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08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2865-FE9D-03FA-EE48-8F6900E5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F758CD-31DC-F51C-F80E-375999D5E49A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Methodology</a:t>
            </a:r>
            <a:r>
              <a:rPr lang="en-US" sz="4000" i="0" u="none" dirty="0">
                <a:latin typeface="Times New Roman"/>
                <a:cs typeface="Times New Roman"/>
              </a:rPr>
              <a:t>: Separation Network Workflow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A86A57-1F69-948A-82E6-59BF3BF4E3B2}"/>
                  </a:ext>
                </a:extLst>
              </p:cNvPr>
              <p:cNvSpPr txBox="1"/>
              <p:nvPr/>
            </p:nvSpPr>
            <p:spPr>
              <a:xfrm>
                <a:off x="457200" y="1143000"/>
                <a:ext cx="112776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i="0" u="sng" dirty="0">
                    <a:latin typeface="Times New Roman"/>
                    <a:cs typeface="Times New Roman"/>
                  </a:rPr>
                  <a:t>Five-Step Data Flow</a:t>
                </a:r>
                <a:endParaRPr lang="zh-TW" altLang="zh-TW" sz="2400" dirty="0"/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Bottom-Up Pass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Multi-scale features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TW" alt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zh-TW" alt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TW" altLang="en-US" sz="2400" i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TW" alt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=0…</m:t>
                    </m:r>
                    <m:r>
                      <a:rPr lang="zh-TW" alt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0" indent="-342900">
                  <a:buFont typeface="+mj-lt"/>
                  <a:buAutoNum type="arabicPeriod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InterA-T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Pool all scales to coarsest, fuse → global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zh-TW" sz="24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A86A57-1F69-948A-82E6-59BF3BF4E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43000"/>
                <a:ext cx="11277600" cy="1200329"/>
              </a:xfrm>
              <a:prstGeom prst="rect">
                <a:avLst/>
              </a:prstGeom>
              <a:blipFill>
                <a:blip r:embed="rId2"/>
                <a:stretch>
                  <a:fillRect l="-811" t="-4592" b="-10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6">
            <a:extLst>
              <a:ext uri="{FF2B5EF4-FFF2-40B4-BE49-F238E27FC236}">
                <a16:creationId xmlns:a16="http://schemas.microsoft.com/office/drawing/2014/main" id="{D0E0BDB7-DD26-7EB0-9F1A-5DEBB1F150BE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07/21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312AF5D-D2D2-BFD5-1535-017F6342989B}"/>
              </a:ext>
            </a:extLst>
          </p:cNvPr>
          <p:cNvSpPr txBox="1"/>
          <p:nvPr/>
        </p:nvSpPr>
        <p:spPr>
          <a:xfrm>
            <a:off x="2290761" y="6519475"/>
            <a:ext cx="7610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aption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1(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Li et al. (2024). 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separation network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IIANet.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C22F167-F9CC-D82C-B3D2-0FCDBCFD8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761" y="3159374"/>
            <a:ext cx="7610475" cy="337332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4EF49B5-036A-F77B-83E3-4CE8BAAA0F7E}"/>
              </a:ext>
            </a:extLst>
          </p:cNvPr>
          <p:cNvSpPr/>
          <p:nvPr/>
        </p:nvSpPr>
        <p:spPr>
          <a:xfrm>
            <a:off x="2557463" y="5674852"/>
            <a:ext cx="758049" cy="20801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5EF2BD-8260-519E-C676-25515E7EE965}"/>
              </a:ext>
            </a:extLst>
          </p:cNvPr>
          <p:cNvSpPr/>
          <p:nvPr/>
        </p:nvSpPr>
        <p:spPr>
          <a:xfrm>
            <a:off x="2624137" y="5033481"/>
            <a:ext cx="628651" cy="20801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6E4B44-46B1-9AD0-EDA6-4A330A7E003A}"/>
              </a:ext>
            </a:extLst>
          </p:cNvPr>
          <p:cNvSpPr/>
          <p:nvPr/>
        </p:nvSpPr>
        <p:spPr>
          <a:xfrm>
            <a:off x="2731294" y="4381018"/>
            <a:ext cx="407194" cy="20801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9BDD1F-13DB-A31A-1291-5F390E0D7469}"/>
              </a:ext>
            </a:extLst>
          </p:cNvPr>
          <p:cNvSpPr/>
          <p:nvPr/>
        </p:nvSpPr>
        <p:spPr>
          <a:xfrm>
            <a:off x="2795588" y="3801604"/>
            <a:ext cx="276225" cy="20801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5ED090-9995-97AF-F693-194A8D1DDCE0}"/>
              </a:ext>
            </a:extLst>
          </p:cNvPr>
          <p:cNvSpPr/>
          <p:nvPr/>
        </p:nvSpPr>
        <p:spPr>
          <a:xfrm>
            <a:off x="7894638" y="3801604"/>
            <a:ext cx="276225" cy="20801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4CA133-EA68-10DF-3E86-7DD6FDEF151A}"/>
              </a:ext>
            </a:extLst>
          </p:cNvPr>
          <p:cNvSpPr/>
          <p:nvPr/>
        </p:nvSpPr>
        <p:spPr>
          <a:xfrm>
            <a:off x="7829153" y="4387367"/>
            <a:ext cx="407194" cy="20801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482A9E-B1D3-D6DB-AC60-0D9ABF1DB121}"/>
              </a:ext>
            </a:extLst>
          </p:cNvPr>
          <p:cNvSpPr/>
          <p:nvPr/>
        </p:nvSpPr>
        <p:spPr>
          <a:xfrm>
            <a:off x="7718424" y="5034024"/>
            <a:ext cx="628651" cy="20801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83CB45-49F6-74A3-D106-915A6F4B8C0A}"/>
              </a:ext>
            </a:extLst>
          </p:cNvPr>
          <p:cNvSpPr/>
          <p:nvPr/>
        </p:nvSpPr>
        <p:spPr>
          <a:xfrm>
            <a:off x="7653724" y="5681202"/>
            <a:ext cx="758049" cy="20801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43BC67-652F-77C8-4610-66206A7D170C}"/>
              </a:ext>
            </a:extLst>
          </p:cNvPr>
          <p:cNvSpPr/>
          <p:nvPr/>
        </p:nvSpPr>
        <p:spPr>
          <a:xfrm>
            <a:off x="5231607" y="3531394"/>
            <a:ext cx="216693" cy="20794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346692-C362-2801-30EB-6BF215C68FC9}"/>
              </a:ext>
            </a:extLst>
          </p:cNvPr>
          <p:cNvSpPr/>
          <p:nvPr/>
        </p:nvSpPr>
        <p:spPr>
          <a:xfrm>
            <a:off x="6286501" y="3531394"/>
            <a:ext cx="216693" cy="20794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431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B0E37-9BD5-9729-A461-AC7BEC4A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E508A-473F-22E4-DF14-D5A4BA6E2E32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Methodology</a:t>
            </a:r>
            <a:r>
              <a:rPr lang="en-US" sz="4000" i="0" u="none" dirty="0">
                <a:latin typeface="Times New Roman"/>
                <a:cs typeface="Times New Roman"/>
              </a:rPr>
              <a:t>: Separation Network Workflow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11A4606-2C4D-B7FB-73E3-E8C024F0B880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08/21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21472C6-A821-1C11-F953-9BD63C305CFB}"/>
              </a:ext>
            </a:extLst>
          </p:cNvPr>
          <p:cNvSpPr txBox="1"/>
          <p:nvPr/>
        </p:nvSpPr>
        <p:spPr>
          <a:xfrm>
            <a:off x="2290761" y="6519475"/>
            <a:ext cx="7610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aption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1(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Li et al. (2024). 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separation network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IIANet.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B421924-8289-FEAB-0083-498AE2CBB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1" y="3159374"/>
            <a:ext cx="7610475" cy="3373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2">
                <a:extLst>
                  <a:ext uri="{FF2B5EF4-FFF2-40B4-BE49-F238E27FC236}">
                    <a16:creationId xmlns:a16="http://schemas.microsoft.com/office/drawing/2014/main" id="{36825F14-D0DF-2F61-4168-AD98DF7CE479}"/>
                  </a:ext>
                </a:extLst>
              </p:cNvPr>
              <p:cNvSpPr txBox="1"/>
              <p:nvPr/>
            </p:nvSpPr>
            <p:spPr>
              <a:xfrm>
                <a:off x="457200" y="1143000"/>
                <a:ext cx="11277600" cy="19768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i="0" u="sng" dirty="0">
                    <a:latin typeface="Times New Roman"/>
                    <a:cs typeface="Times New Roman"/>
                  </a:rPr>
                  <a:t>Five-Step Data Flow</a:t>
                </a:r>
                <a:endParaRPr lang="zh-TW" altLang="zh-TW" sz="2400" dirty="0"/>
              </a:p>
              <a:p>
                <a:pPr marL="342900" lvl="0" indent="-342900">
                  <a:buFont typeface="+mj-lt"/>
                  <a:buAutoNum type="arabicPeriod" startAt="3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Top-Down Pass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 IntraA → InterA-M → Local IntraA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altLang="zh-TW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altLang="zh-TW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0" indent="-342900">
                  <a:buFont typeface="+mj-lt"/>
                  <a:buAutoNum type="arabicPeriod" startAt="3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InterA-B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Finest-grained cross-modal fusion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TW" alt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4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TW" alt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TW" sz="24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0" indent="-342900">
                  <a:buFont typeface="+mj-lt"/>
                  <a:buAutoNum type="arabicPeriod" startAt="3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Cyclic Refinement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 cycles,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audio-only cycles; weights </a:t>
                </a: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shared across cycles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2">
                <a:extLst>
                  <a:ext uri="{FF2B5EF4-FFF2-40B4-BE49-F238E27FC236}">
                    <a16:creationId xmlns:a16="http://schemas.microsoft.com/office/drawing/2014/main" id="{36825F14-D0DF-2F61-4168-AD98DF7CE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43000"/>
                <a:ext cx="11277600" cy="1976823"/>
              </a:xfrm>
              <a:prstGeom prst="rect">
                <a:avLst/>
              </a:prstGeom>
              <a:blipFill>
                <a:blip r:embed="rId3"/>
                <a:stretch>
                  <a:fillRect l="-811" t="-2778" b="-58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C93697EE-B486-17C9-5579-327EBB39C185}"/>
              </a:ext>
            </a:extLst>
          </p:cNvPr>
          <p:cNvSpPr/>
          <p:nvPr/>
        </p:nvSpPr>
        <p:spPr>
          <a:xfrm>
            <a:off x="5627687" y="6059167"/>
            <a:ext cx="478632" cy="18288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E1741A-2113-49EC-271C-C7FC23A0A790}"/>
              </a:ext>
            </a:extLst>
          </p:cNvPr>
          <p:cNvSpPr/>
          <p:nvPr/>
        </p:nvSpPr>
        <p:spPr>
          <a:xfrm>
            <a:off x="3098800" y="5938381"/>
            <a:ext cx="215900" cy="22302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D9C918-DF0D-A7F3-15E7-FD7B2390D901}"/>
              </a:ext>
            </a:extLst>
          </p:cNvPr>
          <p:cNvSpPr/>
          <p:nvPr/>
        </p:nvSpPr>
        <p:spPr>
          <a:xfrm>
            <a:off x="7686277" y="5984097"/>
            <a:ext cx="215900" cy="22302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44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Methodology</a:t>
            </a:r>
            <a:r>
              <a:rPr lang="en-US" sz="4000" i="0" u="none" dirty="0">
                <a:latin typeface="Times New Roman"/>
                <a:cs typeface="Times New Roman"/>
              </a:rPr>
              <a:t>: </a:t>
            </a:r>
            <a:r>
              <a:rPr lang="en-US" sz="4000" i="0" u="none" dirty="0" err="1">
                <a:latin typeface="Times New Roman"/>
                <a:cs typeface="Times New Roman"/>
              </a:rPr>
              <a:t>InterA</a:t>
            </a:r>
            <a:r>
              <a:rPr lang="en-US" sz="4000" i="0" u="none" dirty="0">
                <a:latin typeface="Times New Roman"/>
                <a:cs typeface="Times New Roman"/>
              </a:rPr>
              <a:t>-T (Top Level)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D8C68F1-0A8B-390C-8B6F-76543E5D6945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09/21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2850AB54-1C35-EAFE-EB16-B2D7F0C87100}"/>
                  </a:ext>
                </a:extLst>
              </p:cNvPr>
              <p:cNvSpPr txBox="1"/>
              <p:nvPr/>
            </p:nvSpPr>
            <p:spPr>
              <a:xfrm>
                <a:off x="457199" y="1143000"/>
                <a:ext cx="10959737" cy="50553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i="0" u="sng" dirty="0">
                    <a:latin typeface="Times New Roman"/>
                    <a:cs typeface="Times New Roman"/>
                  </a:rPr>
                  <a:t>Mathematical Formulation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𝑆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𝐷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𝐷</m:t>
                              </m:r>
                            </m:sub>
                          </m:sSub>
                        </m:e>
                      </m:nary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/>
                        </a:rPr>
                        <m:t>,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𝑉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𝐷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𝐷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  <a:cs typeface="Times New Roman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𝐺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0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  <a:cs typeface="Times New Roman"/>
                            </a:rPr>
                            <m:t>FFN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𝑆</m:t>
                              </m:r>
                            </m:sub>
                          </m:s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⊙</m:t>
                          </m:r>
                          <m:r>
                            <a:rPr lang="zh-TW" alt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zh-TW" altLang="en-US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𝒬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/>
                        </a:rPr>
                        <m:t>,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𝑉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𝐺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cs typeface="Times New Roman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en-US" altLang="zh-TW" sz="2400" i="1">
                              <a:latin typeface="Cambria Math" panose="02040503050406030204" pitchFamily="18" charset="0"/>
                              <a:cs typeface="Times New Roman"/>
                            </a:rPr>
                            <m:t>N</m:t>
                          </m:r>
                        </m:e>
                        <m:sub>
                          <m: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/>
                            </a:rPr>
                            <m:t>𝑉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cs typeface="Times New Roman"/>
                                </a:rPr>
                                <m:t>𝑉</m:t>
                              </m:r>
                            </m:sub>
                          </m:s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⊙</m:t>
                          </m:r>
                          <m:r>
                            <a:rPr lang="zh-TW" alt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zh-TW" altLang="en-US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𝒬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400" i="0" dirty="0">
                  <a:latin typeface="Times New Roman"/>
                  <a:cs typeface="Times New Roman"/>
                </a:endParaRPr>
              </a:p>
              <a:p>
                <a:pPr>
                  <a:buNone/>
                </a:pPr>
                <a:endParaRPr lang="en-US" sz="2400" b="1" i="0" u="sng" dirty="0">
                  <a:latin typeface="Times New Roman"/>
                  <a:cs typeface="Times New Roman"/>
                </a:endParaRPr>
              </a:p>
              <a:p>
                <a:pPr>
                  <a:buNone/>
                </a:pPr>
                <a:r>
                  <a:rPr lang="en-US" sz="2400" b="1" i="0" u="sng" dirty="0">
                    <a:latin typeface="Times New Roman"/>
                    <a:cs typeface="Times New Roman"/>
                  </a:rPr>
                  <a:t>Key Mathematical Components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Pooling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TW" altLang="en-US" sz="24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Scale-specific ratios align all features to the coarsest resolution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Gating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zh-TW" altLang="en-US" sz="24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4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𝒬</m:t>
                        </m:r>
                        <m:d>
                          <m:dPr>
                            <m:ctrlPr>
                              <a:rPr lang="zh-TW" altLang="en-US" sz="24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4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e>
                    </m:d>
                  </m:oMath>
                </a14:m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modality generates the attention mask for the other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Neuroscience Analogy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associative cortices: frontal and occipital cortex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2850AB54-1C35-EAFE-EB16-B2D7F0C87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143000"/>
                <a:ext cx="10959737" cy="5055358"/>
              </a:xfrm>
              <a:prstGeom prst="rect">
                <a:avLst/>
              </a:prstGeom>
              <a:blipFill>
                <a:blip r:embed="rId2"/>
                <a:stretch>
                  <a:fillRect l="-834" t="-965" b="-18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127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D977-DB9E-FBEB-B905-84A6FB77D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4C555C-E3EB-E714-487E-C05CD301D4E4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Methodology</a:t>
            </a:r>
            <a:r>
              <a:rPr lang="en-US" sz="4000" i="0" u="none" dirty="0">
                <a:latin typeface="Times New Roman"/>
                <a:cs typeface="Times New Roman"/>
              </a:rPr>
              <a:t>: </a:t>
            </a:r>
            <a:r>
              <a:rPr lang="en-US" sz="4000" i="0" u="none" dirty="0" err="1">
                <a:latin typeface="Times New Roman"/>
                <a:cs typeface="Times New Roman"/>
              </a:rPr>
              <a:t>IntraA</a:t>
            </a:r>
            <a:r>
              <a:rPr lang="en-US" sz="4000" i="0" u="none" dirty="0">
                <a:latin typeface="Times New Roman"/>
                <a:cs typeface="Times New Roman"/>
              </a:rPr>
              <a:t> (Top-Down Attention)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F4DCFB9-43BA-D586-5E9E-F48D2EDA6E6D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10/21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0CCE17E5-90DE-F051-9C9C-5EBA3674C27F}"/>
                  </a:ext>
                </a:extLst>
              </p:cNvPr>
              <p:cNvSpPr txBox="1"/>
              <p:nvPr/>
            </p:nvSpPr>
            <p:spPr>
              <a:xfrm>
                <a:off x="457198" y="1143000"/>
                <a:ext cx="9383487" cy="4507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i="0" u="sng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Proposed Form</a:t>
                </a: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sepChr m:val=","/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zh-TW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𝒬</m:t>
                          </m:r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</m:e>
                      </m:d>
                      <m:nary>
                        <m:naryPr>
                          <m:chr m:val="⊙"/>
                          <m:subHide m:val="on"/>
                          <m:supHide m:val="on"/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𝒬</m:t>
                      </m:r>
                      <m:d>
                        <m:d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  <a:p>
                <a:pPr>
                  <a:buNone/>
                </a:pPr>
                <a:endParaRPr lang="en-US" sz="2400" b="1" i="0" u="sng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b="1" u="sng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Two Deployments</a:t>
                </a:r>
                <a:endParaRPr lang="en-US" sz="2400" b="1" i="0" u="sng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 IntraA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sepChr m:val=",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sepChr m:val=",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 IntraA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sepChr m:val=",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̌"/>
                                <m:ctrl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progressive top-down reconstruction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b="1" u="sng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Difference from </a:t>
                </a:r>
                <a:r>
                  <a:rPr lang="en-US" altLang="zh-TW" sz="2400" b="1" u="sng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TDANet</a:t>
                </a:r>
                <a:endParaRPr lang="zh-TW" altLang="zh-TW" sz="24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 form: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sepChr m:val=",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nary>
                      <m:naryPr>
                        <m:chr m:val="⊙"/>
                        <m:subHide m:val="on"/>
                        <m:supHide m:val="on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(multiplicative only)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 form: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adds an </a:t>
                </a: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additive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high-level injection branch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Empirically 16.0 vs 14.7 dB SI-SNRi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0CCE17E5-90DE-F051-9C9C-5EBA3674C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8" y="1143000"/>
                <a:ext cx="9383487" cy="4507003"/>
              </a:xfrm>
              <a:prstGeom prst="rect">
                <a:avLst/>
              </a:prstGeom>
              <a:blipFill>
                <a:blip r:embed="rId2"/>
                <a:stretch>
                  <a:fillRect l="-975" t="-1083" r="-1819" b="-1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31499967-2BDB-754B-6711-EAE459D8A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588" y="4153989"/>
            <a:ext cx="2383812" cy="224681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A08A944-4A8C-F7D5-94CA-BDE45A51FCE7}"/>
              </a:ext>
            </a:extLst>
          </p:cNvPr>
          <p:cNvSpPr txBox="1"/>
          <p:nvPr/>
        </p:nvSpPr>
        <p:spPr>
          <a:xfrm>
            <a:off x="9579588" y="3692324"/>
            <a:ext cx="2383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aption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Li et al. (2024)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IntraA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 flow diagram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E524D70-12EC-F413-3693-C320DEADD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586" y="1143001"/>
            <a:ext cx="2383813" cy="122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44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2BAE-BDB2-65D4-7ACF-66325422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38D5C4-8139-E24E-71EB-E66C84D699DE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Methodology</a:t>
            </a:r>
            <a:r>
              <a:rPr lang="en-US" sz="4000" i="0" u="none" dirty="0">
                <a:latin typeface="Times New Roman"/>
                <a:cs typeface="Times New Roman"/>
              </a:rPr>
              <a:t>: </a:t>
            </a:r>
            <a:r>
              <a:rPr lang="en-US" sz="4000" i="0" u="none" dirty="0" err="1">
                <a:latin typeface="Times New Roman"/>
                <a:cs typeface="Times New Roman"/>
              </a:rPr>
              <a:t>InterA</a:t>
            </a:r>
            <a:r>
              <a:rPr lang="en-US" sz="4000" i="0" u="none" dirty="0">
                <a:latin typeface="Times New Roman"/>
                <a:cs typeface="Times New Roman"/>
              </a:rPr>
              <a:t>-M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93C88D2E-271C-38A8-EE00-F596FE410DD7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11/21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8C8FC215-0F1B-63B8-FC6F-3DAC0E13B4A3}"/>
                  </a:ext>
                </a:extLst>
              </p:cNvPr>
              <p:cNvSpPr txBox="1"/>
              <p:nvPr/>
            </p:nvSpPr>
            <p:spPr>
              <a:xfrm>
                <a:off x="457199" y="1143000"/>
                <a:ext cx="9339944" cy="2184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i="0" u="sng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InterA-M (Middle Levels)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zh-TW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𝒬</m:t>
                          </m:r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nary>
                        <m:naryPr>
                          <m:chr m:val="⊙"/>
                          <m:subHide m:val="on"/>
                          <m:supHide m:val="on"/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Unidirectional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Visual features gate auditory features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Applied at every temporal scale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directly addresses Gap 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Analogy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Auditory core/belt → V1 direct projections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8C8FC215-0F1B-63B8-FC6F-3DAC0E13B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143000"/>
                <a:ext cx="9339944" cy="2184252"/>
              </a:xfrm>
              <a:prstGeom prst="rect">
                <a:avLst/>
              </a:prstGeom>
              <a:blipFill>
                <a:blip r:embed="rId2"/>
                <a:stretch>
                  <a:fillRect l="-979" t="-2235" b="-53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75808B84-27E1-DBDD-E8B1-D700256404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00" b="57844"/>
          <a:stretch>
            <a:fillRect/>
          </a:stretch>
        </p:blipFill>
        <p:spPr>
          <a:xfrm>
            <a:off x="2796435" y="3624364"/>
            <a:ext cx="6599130" cy="227485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D13F9B7C-D7B5-BA29-BC4C-715FF4A3AD69}"/>
              </a:ext>
            </a:extLst>
          </p:cNvPr>
          <p:cNvSpPr txBox="1"/>
          <p:nvPr/>
        </p:nvSpPr>
        <p:spPr>
          <a:xfrm>
            <a:off x="3745774" y="5994201"/>
            <a:ext cx="47461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aption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Li et al. (2024)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 block diagram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4853AE08-ACE9-B327-9A13-9B788486D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586" y="1143001"/>
            <a:ext cx="2383813" cy="122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46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F77D-BB28-5531-4642-7EC5B40CA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C9D257-6A0C-BF71-8457-901AD8DD6203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Methodology</a:t>
            </a:r>
            <a:r>
              <a:rPr lang="en-US" sz="4000" i="0" u="none" dirty="0">
                <a:latin typeface="Times New Roman"/>
                <a:cs typeface="Times New Roman"/>
              </a:rPr>
              <a:t>: </a:t>
            </a:r>
            <a:r>
              <a:rPr lang="en-US" sz="4000" i="0" u="none" dirty="0" err="1">
                <a:latin typeface="Times New Roman"/>
                <a:cs typeface="Times New Roman"/>
              </a:rPr>
              <a:t>InterA</a:t>
            </a:r>
            <a:r>
              <a:rPr lang="en-US" sz="4000" i="0" u="none" dirty="0">
                <a:latin typeface="Times New Roman"/>
                <a:cs typeface="Times New Roman"/>
              </a:rPr>
              <a:t>-B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A4F78EA-7672-401E-4003-0FEC3150D7E1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12/21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782BD4F2-5B90-3D32-BB94-5DD3A72C5F05}"/>
                  </a:ext>
                </a:extLst>
              </p:cNvPr>
              <p:cNvSpPr txBox="1"/>
              <p:nvPr/>
            </p:nvSpPr>
            <p:spPr>
              <a:xfrm>
                <a:off x="457199" y="1143000"/>
                <a:ext cx="9339944" cy="2768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i="0" u="sng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InterA</a:t>
                </a:r>
                <a:r>
                  <a:rPr lang="en-US" sz="2400" b="1" i="0" u="sng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-B (Bottom Level)</a:t>
                </a: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𝒬</m:t>
                      </m:r>
                      <m:d>
                        <m:d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̌"/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4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nary>
                            <m:naryPr>
                              <m:chr m:val="⊙"/>
                              <m:subHide m:val="on"/>
                              <m:supHide m:val="on"/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nary>
                          <m:d>
                            <m:dPr>
                              <m:ctrlPr>
                                <a:rPr lang="zh-TW" altLang="en-US" sz="24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>
                                  <a:latin typeface="Cambria Math" panose="02040503050406030204" pitchFamily="18" charset="0"/>
                                </a:rPr>
                                <m:t>𝒬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̌"/>
                                          <m:ctrlP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40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Bidirectional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fusion at the </a:t>
                </a: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finest scale only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CTCNet concatenates all scales → far higher complexity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Residual addition: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Prevents over-distortion by the other modality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Analogy: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Thalamus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782BD4F2-5B90-3D32-BB94-5DD3A72C5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143000"/>
                <a:ext cx="9339944" cy="2768835"/>
              </a:xfrm>
              <a:prstGeom prst="rect">
                <a:avLst/>
              </a:prstGeom>
              <a:blipFill>
                <a:blip r:embed="rId2"/>
                <a:stretch>
                  <a:fillRect l="-979" t="-1762" b="-39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90BA98E9-DBB7-1615-970D-CC066F103A51}"/>
              </a:ext>
            </a:extLst>
          </p:cNvPr>
          <p:cNvSpPr txBox="1"/>
          <p:nvPr/>
        </p:nvSpPr>
        <p:spPr>
          <a:xfrm>
            <a:off x="3745774" y="6499609"/>
            <a:ext cx="47461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aption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Li et al. (2024)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</a:t>
            </a:r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 block diagram</a:t>
            </a:r>
            <a:r>
              <a:rPr lang="zh-TW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CEE549CF-B442-63FF-6EAF-624CF71D4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586" y="1143001"/>
            <a:ext cx="2383813" cy="122231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34AED93-7FE9-8732-59D3-EEF8906CD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841" y="3936586"/>
            <a:ext cx="4350317" cy="255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69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Experiments</a:t>
            </a:r>
            <a:r>
              <a:rPr lang="en-US" sz="4000" i="0" u="none" dirty="0">
                <a:latin typeface="Times New Roman"/>
                <a:cs typeface="Times New Roman"/>
              </a:rPr>
              <a:t>: Datasets and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480A2-783F-EC38-B262-34722A5790F1}"/>
                  </a:ext>
                </a:extLst>
              </p:cNvPr>
              <p:cNvSpPr txBox="1"/>
              <p:nvPr/>
            </p:nvSpPr>
            <p:spPr>
              <a:xfrm>
                <a:off x="457200" y="1143000"/>
                <a:ext cx="11277600" cy="4893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i="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Three Benchmarks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LRS2 (BBC)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11h / 3h / 1.5h — reverberation, partial overlap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LRS3 (TED)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28h / 3h / 1.5h — relatively clean environment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VoxCeleb2 (YouTube)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56h / 3h / 1.5h — most complex acoustics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Mixtures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 random speakers,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SNR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∈[−5,5]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dB, 2s @ 16 kHz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Lips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25 FPS, 88×88 grayscale, audio-synchronized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buNone/>
                </a:pPr>
                <a:endParaRPr lang="en-US" sz="2400" b="1" i="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sz="2400" b="1" i="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Configuration</a:t>
                </a:r>
                <a:endParaRPr lang="en-US" altLang="zh-TW" sz="24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Optimizer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Adam, lr = 1e-3, ×0.5 on 15-epoch plateau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SI-SNR (PIT used for multi-speaker settings)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Hyperparameters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40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,512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channels,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IIANet-fast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sz="240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TW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Hardware: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zh-TW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RTX 4090, batch size 6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A480A2-783F-EC38-B262-34722A579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43000"/>
                <a:ext cx="11277600" cy="4893647"/>
              </a:xfrm>
              <a:prstGeom prst="rect">
                <a:avLst/>
              </a:prstGeom>
              <a:blipFill>
                <a:blip r:embed="rId2"/>
                <a:stretch>
                  <a:fillRect l="-811" t="-998" b="-1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6">
            <a:extLst>
              <a:ext uri="{FF2B5EF4-FFF2-40B4-BE49-F238E27FC236}">
                <a16:creationId xmlns:a16="http://schemas.microsoft.com/office/drawing/2014/main" id="{41301A4E-777F-EBD3-EA2F-512476AA11B1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13/21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2973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Result</a:t>
            </a:r>
            <a:r>
              <a:rPr lang="en-US" sz="4000" i="0" u="none" dirty="0">
                <a:latin typeface="Times New Roman"/>
                <a:cs typeface="Times New Roman"/>
              </a:rPr>
              <a:t>: Separation Quality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480A2-783F-EC38-B262-34722A5790F1}"/>
              </a:ext>
            </a:extLst>
          </p:cNvPr>
          <p:cNvSpPr txBox="1"/>
          <p:nvPr/>
        </p:nvSpPr>
        <p:spPr>
          <a:xfrm>
            <a:off x="457200" y="1143000"/>
            <a:ext cx="11277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Consistent SOTA Across Benchmarks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 err="1">
                <a:latin typeface="Times New Roman"/>
                <a:cs typeface="Times New Roman"/>
              </a:rPr>
              <a:t>IIANet</a:t>
            </a:r>
            <a:r>
              <a:rPr lang="en-US" sz="2400" i="0" dirty="0">
                <a:latin typeface="Times New Roman"/>
                <a:cs typeface="Times New Roman"/>
              </a:rPr>
              <a:t> gains at least </a:t>
            </a:r>
            <a:r>
              <a:rPr lang="en-US" sz="2400" b="1" i="0" dirty="0">
                <a:latin typeface="Times New Roman"/>
                <a:cs typeface="Times New Roman"/>
              </a:rPr>
              <a:t>+0.9 dB</a:t>
            </a:r>
            <a:r>
              <a:rPr lang="en-US" sz="2400" i="0" dirty="0">
                <a:latin typeface="Times New Roman"/>
                <a:cs typeface="Times New Roman"/>
              </a:rPr>
              <a:t> SI-</a:t>
            </a:r>
            <a:r>
              <a:rPr lang="en-US" sz="2400" i="0" dirty="0" err="1">
                <a:latin typeface="Times New Roman"/>
                <a:cs typeface="Times New Roman"/>
              </a:rPr>
              <a:t>SNRi</a:t>
            </a:r>
            <a:r>
              <a:rPr lang="en-US" sz="2400" i="0" dirty="0">
                <a:latin typeface="Times New Roman"/>
                <a:cs typeface="Times New Roman"/>
              </a:rPr>
              <a:t> over all baselines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Gain reaches </a:t>
            </a:r>
            <a:r>
              <a:rPr lang="en-US" sz="2400" b="1" i="0" dirty="0">
                <a:latin typeface="Times New Roman"/>
                <a:cs typeface="Times New Roman"/>
              </a:rPr>
              <a:t>+1.7 dB</a:t>
            </a:r>
            <a:r>
              <a:rPr lang="en-US" sz="2400" i="0" dirty="0">
                <a:latin typeface="Times New Roman"/>
                <a:cs typeface="Times New Roman"/>
              </a:rPr>
              <a:t> on complex LRS2 and VoxCeleb2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 err="1">
                <a:latin typeface="Times New Roman"/>
                <a:cs typeface="Times New Roman"/>
              </a:rPr>
              <a:t>IIANet</a:t>
            </a:r>
            <a:r>
              <a:rPr lang="en-US" sz="2400" i="0" dirty="0">
                <a:latin typeface="Times New Roman"/>
                <a:cs typeface="Times New Roman"/>
              </a:rPr>
              <a:t>-fast still beats </a:t>
            </a:r>
            <a:r>
              <a:rPr lang="en-US" sz="2400" i="0" dirty="0" err="1">
                <a:latin typeface="Times New Roman"/>
                <a:cs typeface="Times New Roman"/>
              </a:rPr>
              <a:t>CTCNet</a:t>
            </a:r>
            <a:r>
              <a:rPr lang="en-US" sz="2400" i="0" dirty="0">
                <a:latin typeface="Times New Roman"/>
                <a:cs typeface="Times New Roman"/>
              </a:rPr>
              <a:t> by </a:t>
            </a:r>
            <a:r>
              <a:rPr lang="en-US" sz="2400" b="1" i="0" dirty="0">
                <a:latin typeface="Times New Roman"/>
                <a:cs typeface="Times New Roman"/>
              </a:rPr>
              <a:t>+1.1 dB</a:t>
            </a:r>
            <a:r>
              <a:rPr lang="en-US" sz="2400" i="0" dirty="0">
                <a:latin typeface="Times New Roman"/>
                <a:cs typeface="Times New Roman"/>
              </a:rPr>
              <a:t> on LRS2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67A4AF-023A-3DD2-1906-20A949711C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1"/>
          <a:stretch>
            <a:fillRect/>
          </a:stretch>
        </p:blipFill>
        <p:spPr>
          <a:xfrm>
            <a:off x="890570" y="2919174"/>
            <a:ext cx="10410860" cy="3710226"/>
          </a:xfrm>
          <a:prstGeom prst="rect">
            <a:avLst/>
          </a:prstGeom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36418416-3C0F-5E40-A194-C8E3E33068DC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14/21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6256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Result</a:t>
            </a:r>
            <a:r>
              <a:rPr lang="en-US" sz="4000" i="0" u="none" dirty="0">
                <a:latin typeface="Times New Roman"/>
                <a:cs typeface="Times New Roman"/>
              </a:rPr>
              <a:t>: Efficiency Trade-off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480A2-783F-EC38-B262-34722A5790F1}"/>
              </a:ext>
            </a:extLst>
          </p:cNvPr>
          <p:cNvSpPr txBox="1"/>
          <p:nvPr/>
        </p:nvSpPr>
        <p:spPr>
          <a:xfrm>
            <a:off x="457200" y="1143000"/>
            <a:ext cx="11277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Hardware-Agnostic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vs. </a:t>
            </a:r>
            <a:r>
              <a:rPr lang="en-US" sz="2400" i="0" dirty="0" err="1">
                <a:latin typeface="Times New Roman"/>
                <a:cs typeface="Times New Roman"/>
              </a:rPr>
              <a:t>CTCNet</a:t>
            </a:r>
            <a:r>
              <a:rPr lang="en-US" sz="2400" i="0" dirty="0">
                <a:latin typeface="Times New Roman"/>
                <a:cs typeface="Times New Roman"/>
              </a:rPr>
              <a:t>: 11% MACs, 44% Params, 16% GPU memory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 err="1">
                <a:latin typeface="Times New Roman"/>
                <a:cs typeface="Times New Roman"/>
              </a:rPr>
              <a:t>IIANet</a:t>
            </a:r>
            <a:r>
              <a:rPr lang="en-US" sz="2400" i="0" dirty="0">
                <a:latin typeface="Times New Roman"/>
                <a:cs typeface="Times New Roman"/>
              </a:rPr>
              <a:t>-fast: only 7% of </a:t>
            </a:r>
            <a:r>
              <a:rPr lang="en-US" sz="2400" i="0" dirty="0" err="1">
                <a:latin typeface="Times New Roman"/>
                <a:cs typeface="Times New Roman"/>
              </a:rPr>
              <a:t>CTCNet's</a:t>
            </a:r>
            <a:r>
              <a:rPr lang="en-US" sz="2400" i="0" dirty="0">
                <a:latin typeface="Times New Roman"/>
                <a:cs typeface="Times New Roman"/>
              </a:rPr>
              <a:t> MACs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2400" b="1" u="sng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Real Inference Speed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CPU: 0.52 s vs </a:t>
            </a:r>
            <a:r>
              <a:rPr lang="en-US" sz="2400" i="0" dirty="0" err="1">
                <a:latin typeface="Times New Roman"/>
                <a:cs typeface="Times New Roman"/>
              </a:rPr>
              <a:t>CTCNet</a:t>
            </a:r>
            <a:r>
              <a:rPr lang="en-US" sz="2400" i="0" dirty="0">
                <a:latin typeface="Times New Roman"/>
                <a:cs typeface="Times New Roman"/>
              </a:rPr>
              <a:t> 1.26 s → about 2.4× faster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GPU: Full </a:t>
            </a:r>
            <a:r>
              <a:rPr lang="en-US" sz="2400" i="0" dirty="0" err="1">
                <a:latin typeface="Times New Roman"/>
                <a:cs typeface="Times New Roman"/>
              </a:rPr>
              <a:t>IIANet</a:t>
            </a:r>
            <a:r>
              <a:rPr lang="en-US" sz="2400" i="0" dirty="0">
                <a:latin typeface="Times New Roman"/>
                <a:cs typeface="Times New Roman"/>
              </a:rPr>
              <a:t> is slower (110 </a:t>
            </a:r>
            <a:r>
              <a:rPr lang="en-US" sz="2400" i="0" dirty="0" err="1">
                <a:latin typeface="Times New Roman"/>
                <a:cs typeface="Times New Roman"/>
              </a:rPr>
              <a:t>ms</a:t>
            </a:r>
            <a:r>
              <a:rPr lang="en-US" sz="2400" i="0" dirty="0">
                <a:latin typeface="Times New Roman"/>
                <a:cs typeface="Times New Roman"/>
              </a:rPr>
              <a:t> vs 84 </a:t>
            </a:r>
            <a:r>
              <a:rPr lang="en-US" sz="2400" i="0" dirty="0" err="1">
                <a:latin typeface="Times New Roman"/>
                <a:cs typeface="Times New Roman"/>
              </a:rPr>
              <a:t>ms</a:t>
            </a:r>
            <a:r>
              <a:rPr lang="en-US" sz="2400" i="0" dirty="0">
                <a:latin typeface="Times New Roman"/>
                <a:cs typeface="Times New Roman"/>
              </a:rPr>
              <a:t>)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Many small operators → memory-bound, not compute-bound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Takeaway: Fewer MACs ≠ automatically faster on GPU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3BEBDA3-0B7D-2EA7-C527-453F032EA957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dirty="0">
                <a:solidFill>
                  <a:srgbClr val="595959"/>
                </a:solidFill>
                <a:latin typeface="Times New Roman"/>
                <a:cs typeface="Times New Roman"/>
              </a:rPr>
              <a:t>15/21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A176904-81AC-EEDE-5A8A-DA71DD492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833" y="4559320"/>
            <a:ext cx="7568054" cy="22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34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Result</a:t>
            </a:r>
            <a:r>
              <a:rPr lang="en-US" sz="4000" i="0" u="none" dirty="0">
                <a:latin typeface="Times New Roman"/>
                <a:cs typeface="Times New Roman"/>
              </a:rPr>
              <a:t>: Multi-Speaker Robustness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480A2-783F-EC38-B262-34722A5790F1}"/>
              </a:ext>
            </a:extLst>
          </p:cNvPr>
          <p:cNvSpPr txBox="1"/>
          <p:nvPr/>
        </p:nvSpPr>
        <p:spPr>
          <a:xfrm>
            <a:off x="457200" y="1143000"/>
            <a:ext cx="11277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Scaling to 3 and 4 Speakers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Advantage widens as interference increases (+2.3 dB on 3Mix)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Visual cues become more critical in denser mixtures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Inference: face detection → lip crop → iterate over each speaker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E32BD6E5-CA4E-E9CA-3B86-C359B59EA0C1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dirty="0">
                <a:solidFill>
                  <a:srgbClr val="595959"/>
                </a:solidFill>
                <a:latin typeface="Times New Roman"/>
                <a:cs typeface="Times New Roman"/>
              </a:rPr>
              <a:t>16/21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4F7651C-456D-1C5A-F5FA-1843155F9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09" y="3114312"/>
            <a:ext cx="11650701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14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Result</a:t>
            </a:r>
            <a:r>
              <a:rPr lang="en-US" sz="4000" i="0" u="none" dirty="0">
                <a:latin typeface="Times New Roman"/>
                <a:cs typeface="Times New Roman"/>
              </a:rPr>
              <a:t>: Ablation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480A2-783F-EC38-B262-34722A5790F1}"/>
              </a:ext>
            </a:extLst>
          </p:cNvPr>
          <p:cNvSpPr txBox="1"/>
          <p:nvPr/>
        </p:nvSpPr>
        <p:spPr>
          <a:xfrm>
            <a:off x="457200" y="1143000"/>
            <a:ext cx="828620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Component Contribution (Table 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Control 1 (no </a:t>
            </a:r>
            <a:r>
              <a:rPr lang="en-US" sz="2400" i="0" dirty="0" err="1">
                <a:latin typeface="Times New Roman"/>
                <a:cs typeface="Times New Roman"/>
              </a:rPr>
              <a:t>IntraA</a:t>
            </a:r>
            <a:r>
              <a:rPr lang="en-US" sz="2400" i="0" dirty="0">
                <a:latin typeface="Times New Roman"/>
                <a:cs typeface="Times New Roman"/>
              </a:rPr>
              <a:t>, no </a:t>
            </a:r>
            <a:r>
              <a:rPr lang="en-US" sz="2400" i="0" dirty="0" err="1">
                <a:latin typeface="Times New Roman"/>
                <a:cs typeface="Times New Roman"/>
              </a:rPr>
              <a:t>InterA</a:t>
            </a:r>
            <a:r>
              <a:rPr lang="en-US" sz="2400" i="0" dirty="0">
                <a:latin typeface="Times New Roman"/>
                <a:cs typeface="Times New Roman"/>
              </a:rPr>
              <a:t>): 13.1 </a:t>
            </a:r>
            <a:r>
              <a:rPr lang="en-US" sz="2400" i="0" dirty="0" err="1">
                <a:latin typeface="Times New Roman"/>
                <a:cs typeface="Times New Roman"/>
              </a:rPr>
              <a:t>dB</a:t>
            </a:r>
            <a:r>
              <a:rPr lang="en-US" altLang="zh-TW" sz="2400" i="0" dirty="0" err="1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Control 2 (＋</a:t>
            </a:r>
            <a:r>
              <a:rPr lang="en-US" sz="2400" i="0" dirty="0" err="1">
                <a:latin typeface="Times New Roman"/>
                <a:cs typeface="Times New Roman"/>
              </a:rPr>
              <a:t>IntraA</a:t>
            </a:r>
            <a:r>
              <a:rPr lang="en-US" sz="2400" i="0" dirty="0">
                <a:latin typeface="Times New Roman"/>
                <a:cs typeface="Times New Roman"/>
              </a:rPr>
              <a:t>): 13.6 dB → +0.5 </a:t>
            </a:r>
            <a:r>
              <a:rPr lang="en-US" sz="2400" i="0" dirty="0" err="1">
                <a:latin typeface="Times New Roman"/>
                <a:cs typeface="Times New Roman"/>
              </a:rPr>
              <a:t>dB</a:t>
            </a:r>
            <a:r>
              <a:rPr lang="en-US" altLang="zh-TW" sz="2400" i="0" dirty="0" err="1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 err="1">
                <a:latin typeface="Times New Roman"/>
                <a:cs typeface="Times New Roman"/>
              </a:rPr>
              <a:t>IIANet</a:t>
            </a:r>
            <a:r>
              <a:rPr lang="en-US" sz="2400" i="0" dirty="0">
                <a:latin typeface="Times New Roman"/>
                <a:cs typeface="Times New Roman"/>
              </a:rPr>
              <a:t> (＋</a:t>
            </a:r>
            <a:r>
              <a:rPr lang="en-US" sz="2400" i="0" dirty="0" err="1">
                <a:latin typeface="Times New Roman"/>
                <a:cs typeface="Times New Roman"/>
              </a:rPr>
              <a:t>InterA</a:t>
            </a:r>
            <a:r>
              <a:rPr lang="en-US" sz="2400" i="0" dirty="0">
                <a:latin typeface="Times New Roman"/>
                <a:cs typeface="Times New Roman"/>
              </a:rPr>
              <a:t>): 16.0 dB → +2.4 </a:t>
            </a:r>
            <a:r>
              <a:rPr lang="en-US" sz="2400" i="0" dirty="0" err="1">
                <a:latin typeface="Times New Roman"/>
                <a:cs typeface="Times New Roman"/>
              </a:rPr>
              <a:t>dB</a:t>
            </a:r>
            <a:r>
              <a:rPr lang="en-US" altLang="zh-TW" sz="2400" i="0" dirty="0" err="1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Cross-modal multi-level fusion is the dominant contributor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2400" b="1" u="sng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 i="0" u="sng" dirty="0" err="1">
                <a:latin typeface="Times New Roman"/>
                <a:cs typeface="Times New Roman"/>
              </a:rPr>
              <a:t>InterA</a:t>
            </a:r>
            <a:r>
              <a:rPr lang="en-US" sz="2400" b="1" i="0" u="sng" dirty="0">
                <a:latin typeface="Times New Roman"/>
                <a:cs typeface="Times New Roman"/>
              </a:rPr>
              <a:t> Placement (Table 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Single block best: </a:t>
            </a:r>
            <a:r>
              <a:rPr lang="en-US" sz="2400" i="0" dirty="0" err="1">
                <a:latin typeface="Times New Roman"/>
                <a:cs typeface="Times New Roman"/>
              </a:rPr>
              <a:t>InterA</a:t>
            </a:r>
            <a:r>
              <a:rPr lang="en-US" sz="2400" i="0" dirty="0">
                <a:latin typeface="Times New Roman"/>
                <a:cs typeface="Times New Roman"/>
              </a:rPr>
              <a:t>-M alone → 14.5 </a:t>
            </a:r>
            <a:r>
              <a:rPr lang="en-US" sz="2400" i="0" dirty="0" err="1">
                <a:latin typeface="Times New Roman"/>
                <a:cs typeface="Times New Roman"/>
              </a:rPr>
              <a:t>dB</a:t>
            </a:r>
            <a:r>
              <a:rPr lang="en-US" altLang="zh-TW" sz="2400" i="0" dirty="0" err="1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Pair best: </a:t>
            </a:r>
            <a:r>
              <a:rPr lang="en-US" sz="2400" i="0" dirty="0" err="1">
                <a:latin typeface="Times New Roman"/>
                <a:cs typeface="Times New Roman"/>
              </a:rPr>
              <a:t>InterA</a:t>
            </a:r>
            <a:r>
              <a:rPr lang="en-US" sz="2400" i="0" dirty="0">
                <a:latin typeface="Times New Roman"/>
                <a:cs typeface="Times New Roman"/>
              </a:rPr>
              <a:t>-M ＋ </a:t>
            </a:r>
            <a:r>
              <a:rPr lang="en-US" sz="2400" i="0" dirty="0" err="1">
                <a:latin typeface="Times New Roman"/>
                <a:cs typeface="Times New Roman"/>
              </a:rPr>
              <a:t>InterA</a:t>
            </a:r>
            <a:r>
              <a:rPr lang="en-US" sz="2400" i="0" dirty="0">
                <a:latin typeface="Times New Roman"/>
                <a:cs typeface="Times New Roman"/>
              </a:rPr>
              <a:t>-B → 15.5 </a:t>
            </a:r>
            <a:r>
              <a:rPr lang="en-US" sz="2400" i="0" dirty="0" err="1">
                <a:latin typeface="Times New Roman"/>
                <a:cs typeface="Times New Roman"/>
              </a:rPr>
              <a:t>dB</a:t>
            </a:r>
            <a:r>
              <a:rPr lang="en-US" altLang="zh-TW" sz="2400" i="0" dirty="0" err="1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All three: 16.0 dB — the three levels are complementary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D4AD8B19-BDE1-C648-36E5-40BEE538F9EB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17/21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7BA1D19-513B-856F-71F1-25400CF15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737" y="134035"/>
            <a:ext cx="5214257" cy="207686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0C08125-A640-C2C7-8E0F-2D3052BF3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397" y="3429000"/>
            <a:ext cx="4194597" cy="233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5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Result</a:t>
            </a:r>
            <a:r>
              <a:rPr lang="en-US" sz="4000" i="0" u="none" dirty="0">
                <a:latin typeface="Times New Roman"/>
                <a:cs typeface="Times New Roman"/>
              </a:rPr>
              <a:t>: Additional Analyses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480A2-783F-EC38-B262-34722A5790F1}"/>
              </a:ext>
            </a:extLst>
          </p:cNvPr>
          <p:cNvSpPr txBox="1"/>
          <p:nvPr/>
        </p:nvSpPr>
        <p:spPr>
          <a:xfrm>
            <a:off x="457200" y="1143000"/>
            <a:ext cx="11277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Visual Cue Analyses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Visual Contribution (App. F): 16.0 vs 11.2 dB (audio-only) → ≈ +4.8 </a:t>
            </a:r>
            <a:r>
              <a:rPr lang="en-US" sz="2400" i="0" dirty="0" err="1">
                <a:latin typeface="Times New Roman"/>
                <a:cs typeface="Times New Roman"/>
              </a:rPr>
              <a:t>dB</a:t>
            </a:r>
            <a:r>
              <a:rPr lang="en-US" altLang="zh-TW" sz="2400" i="0" dirty="0" err="1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Video Encoder (App. J): DC-TCN / MS-TCN / </a:t>
            </a:r>
            <a:r>
              <a:rPr lang="en-US" sz="2400" i="0" dirty="0" err="1">
                <a:latin typeface="Times New Roman"/>
                <a:cs typeface="Times New Roman"/>
              </a:rPr>
              <a:t>CTCNet</a:t>
            </a:r>
            <a:r>
              <a:rPr lang="en-US" sz="2400" i="0" dirty="0">
                <a:latin typeface="Times New Roman"/>
                <a:cs typeface="Times New Roman"/>
              </a:rPr>
              <a:t>-Lip differ &lt; 0.3 </a:t>
            </a:r>
            <a:r>
              <a:rPr lang="en-US" sz="2400" i="0" dirty="0" err="1">
                <a:latin typeface="Times New Roman"/>
                <a:cs typeface="Times New Roman"/>
              </a:rPr>
              <a:t>dB</a:t>
            </a:r>
            <a:r>
              <a:rPr lang="en-US" altLang="zh-TW" sz="2400" i="0" dirty="0" err="1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Lip-reading accuracy does not correlate with separation quality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The fusion strategy matters more than the encoder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Impaired Cues (App. K): Side-profile degradation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AVLiT-8 and </a:t>
            </a:r>
            <a:r>
              <a:rPr lang="en-US" sz="2400" i="0" dirty="0" err="1">
                <a:latin typeface="Times New Roman"/>
                <a:cs typeface="Times New Roman"/>
              </a:rPr>
              <a:t>CTCNet</a:t>
            </a:r>
            <a:r>
              <a:rPr lang="en-US" sz="2400" i="0" dirty="0">
                <a:latin typeface="Times New Roman"/>
                <a:cs typeface="Times New Roman"/>
              </a:rPr>
              <a:t> drop &gt; 8%; </a:t>
            </a:r>
            <a:r>
              <a:rPr lang="en-US" sz="2400" i="0" dirty="0" err="1">
                <a:latin typeface="Times New Roman"/>
                <a:cs typeface="Times New Roman"/>
              </a:rPr>
              <a:t>IIANet</a:t>
            </a:r>
            <a:r>
              <a:rPr lang="en-US" sz="2400" i="0" dirty="0">
                <a:latin typeface="Times New Roman"/>
                <a:cs typeface="Times New Roman"/>
              </a:rPr>
              <a:t> only ≈ 4%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2400" b="1" u="sng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Training Analyses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Fusion Cycles (App. I): 𝑁𝐹N F​  = 1→5 plateaus at 4 (16.0 dB)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Dynamic Mixing (App. L): LRS2 16.0 → 16.8 dB, only ＋0.1 min/epoch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Qualitative (App. M): Better high-frequency and harmonic reconstruction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70079-FFDC-00F3-60BA-A90A51077F0A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18/21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1999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Conclusion</a:t>
            </a:r>
            <a:endParaRPr lang="en-US" sz="4000" i="0" u="none" dirty="0">
              <a:latin typeface="Times New Roman"/>
              <a:cs typeface="Times New Roman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1B04344D-13A7-41F3-848D-BC2F16914F32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19/21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CFE04A6D-2F83-4BC1-5D12-0440618BCC8A}"/>
              </a:ext>
            </a:extLst>
          </p:cNvPr>
          <p:cNvSpPr txBox="1"/>
          <p:nvPr/>
        </p:nvSpPr>
        <p:spPr>
          <a:xfrm>
            <a:off x="457200" y="1143000"/>
            <a:ext cx="11277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Core Contributions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Multi-Level Fusion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cross-modal fusion from a single point to top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Selective Attention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gating replaces similarity-matrix cross-attention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Frontier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SOTA with 3.1 M parameters and 11% of CTCNet's MACs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u="sng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2400" b="1" u="sng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Future Directions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Long-Form Audio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evaluation is limited to 2-second clips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Optimization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fusion needed to convert MACs savings into GPU speed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Multimodal Tasks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Audio-visual segmentation, lip-to-speech, cross-modal medical imaging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986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2623B-ECEB-6F10-E47B-06FC46A7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F57706-04BD-793E-EEDB-74C103CEA22D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My Insights &amp; Critique</a:t>
            </a:r>
            <a:endParaRPr lang="en-US" sz="4000" i="0" u="none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F3F02-8F2A-E075-C557-B1F60074830A}"/>
              </a:ext>
            </a:extLst>
          </p:cNvPr>
          <p:cNvSpPr txBox="1"/>
          <p:nvPr/>
        </p:nvSpPr>
        <p:spPr>
          <a:xfrm>
            <a:off x="457200" y="1143000"/>
            <a:ext cx="11277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Post-Hoc Brain Analogy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 err="1">
                <a:latin typeface="Times New Roman"/>
                <a:cs typeface="Times New Roman"/>
              </a:rPr>
              <a:t>InterA</a:t>
            </a:r>
            <a:r>
              <a:rPr lang="en-US" sz="2400" i="0" dirty="0">
                <a:latin typeface="Times New Roman"/>
                <a:cs typeface="Times New Roman"/>
              </a:rPr>
              <a:t>-T/M/B ↔ frontal cortex / cortical projections / thalamus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No neural validation experiment; mapping is an analogy, not evidence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Stripped of the narrative, the method is multi-scale gated fusion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2400" b="1" u="sng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Reporting Inconsistency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Abstract claims "40% faster"; Introduction claims "more than twice</a:t>
            </a:r>
            <a:r>
              <a:rPr lang="en-US" altLang="zh-TW" sz="2400" dirty="0">
                <a:latin typeface="Times New Roman"/>
                <a:cs typeface="Times New Roman"/>
              </a:rPr>
              <a:t>".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Table 2 supports ≈ 2.4× — trust the table, not the abstract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93F4F901-3055-BBC9-7A5F-F231FA6A1829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20/21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6513510-305E-DE2C-5B8A-226FE0BF8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254" y="4237204"/>
            <a:ext cx="8449492" cy="248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7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B301B-AC3B-9B99-5080-41CD7CA49109}"/>
              </a:ext>
            </a:extLst>
          </p:cNvPr>
          <p:cNvSpPr txBox="1"/>
          <p:nvPr/>
        </p:nvSpPr>
        <p:spPr>
          <a:xfrm>
            <a:off x="228600" y="228600"/>
            <a:ext cx="11780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dirty="0">
                <a:latin typeface="Times New Roman"/>
                <a:cs typeface="Times New Roman"/>
              </a:rPr>
              <a:t>My Insights &amp; Critique</a:t>
            </a:r>
            <a:endParaRPr lang="en-US" sz="4000" i="0" u="none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480A2-783F-EC38-B262-34722A5790F1}"/>
              </a:ext>
            </a:extLst>
          </p:cNvPr>
          <p:cNvSpPr txBox="1"/>
          <p:nvPr/>
        </p:nvSpPr>
        <p:spPr>
          <a:xfrm>
            <a:off x="457200" y="1143000"/>
            <a:ext cx="11277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400" b="1" u="sng" dirty="0">
                <a:latin typeface="Times New Roman"/>
                <a:cs typeface="Times New Roman"/>
              </a:rPr>
              <a:t>Design Asymmetry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 err="1">
                <a:latin typeface="Times New Roman"/>
                <a:cs typeface="Times New Roman"/>
              </a:rPr>
              <a:t>InterA</a:t>
            </a:r>
            <a:r>
              <a:rPr lang="en-US" altLang="zh-TW" sz="2400" dirty="0">
                <a:latin typeface="Times New Roman"/>
                <a:cs typeface="Times New Roman"/>
              </a:rPr>
              <a:t>-T and </a:t>
            </a:r>
            <a:r>
              <a:rPr lang="en-US" altLang="zh-TW" sz="2400" dirty="0" err="1">
                <a:latin typeface="Times New Roman"/>
                <a:cs typeface="Times New Roman"/>
              </a:rPr>
              <a:t>InterA</a:t>
            </a:r>
            <a:r>
              <a:rPr lang="en-US" altLang="zh-TW" sz="2400" dirty="0">
                <a:latin typeface="Times New Roman"/>
                <a:cs typeface="Times New Roman"/>
              </a:rPr>
              <a:t>-B are bidirectional, </a:t>
            </a:r>
            <a:r>
              <a:rPr lang="en-US" altLang="zh-TW" sz="2400" dirty="0" err="1">
                <a:latin typeface="Times New Roman"/>
                <a:cs typeface="Times New Roman"/>
              </a:rPr>
              <a:t>InterA</a:t>
            </a:r>
            <a:r>
              <a:rPr lang="en-US" altLang="zh-TW" sz="2400" dirty="0">
                <a:latin typeface="Times New Roman"/>
                <a:cs typeface="Times New Roman"/>
              </a:rPr>
              <a:t>-M is visual → audio only.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/>
                <a:cs typeface="Times New Roman"/>
              </a:rPr>
              <a:t>No ablation justifies removing the audio → visual path at middle levels.</a:t>
            </a:r>
            <a:endParaRPr lang="en-US" sz="2400" b="1" i="0" u="sng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2400" b="1" i="0" u="sng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 i="0" u="sng" dirty="0">
                <a:latin typeface="Times New Roman"/>
                <a:cs typeface="Times New Roman"/>
              </a:rPr>
              <a:t>Transferable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Gated multi-scale fusion is cheap enough for 3D medical volumes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Directly applicable to CT/MRI synthesis and multi-sequence segmentation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Replacing sigmoid gating with SSM / Mamba is a natural extension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i="0" dirty="0">
              <a:latin typeface="Times New Roman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Times New Roman"/>
                <a:cs typeface="Times New Roman"/>
              </a:rPr>
              <a:t>Authors already cite an SSM-based AOSS model (Chen et al., 2023)</a:t>
            </a:r>
            <a:r>
              <a:rPr lang="en-US" altLang="zh-TW" sz="2400" i="0" dirty="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F3799A5-4568-3106-ED5D-E83A1A88C8EE}"/>
              </a:ext>
            </a:extLst>
          </p:cNvPr>
          <p:cNvSpPr txBox="1"/>
          <p:nvPr/>
        </p:nvSpPr>
        <p:spPr>
          <a:xfrm>
            <a:off x="11265408" y="6400800"/>
            <a:ext cx="78758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u="none" dirty="0">
                <a:solidFill>
                  <a:srgbClr val="595959"/>
                </a:solidFill>
                <a:latin typeface="Times New Roman"/>
                <a:cs typeface="Times New Roman"/>
              </a:rPr>
              <a:t>21/21</a:t>
            </a:r>
            <a:endParaRPr sz="1500" b="0" i="0" u="none" dirty="0">
              <a:solidFill>
                <a:srgbClr val="595959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583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1961</Words>
  <Application>Microsoft Office PowerPoint</Application>
  <PresentationFormat>寬螢幕</PresentationFormat>
  <Paragraphs>218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伯豪 陳</dc:creator>
  <cp:lastModifiedBy>吳杰恩</cp:lastModifiedBy>
  <cp:revision>295</cp:revision>
  <dcterms:created xsi:type="dcterms:W3CDTF">2026-07-23T08:43:01Z</dcterms:created>
  <dcterms:modified xsi:type="dcterms:W3CDTF">2026-10-15T15:51:18Z</dcterms:modified>
</cp:coreProperties>
</file>