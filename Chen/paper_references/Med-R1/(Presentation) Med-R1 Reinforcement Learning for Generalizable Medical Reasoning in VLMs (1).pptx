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75" r:id="rId6"/>
    <p:sldId id="273" r:id="rId7"/>
    <p:sldId id="276" r:id="rId8"/>
    <p:sldId id="263" r:id="rId9"/>
    <p:sldId id="279" r:id="rId10"/>
    <p:sldId id="277" r:id="rId11"/>
    <p:sldId id="278" r:id="rId12"/>
    <p:sldId id="280" r:id="rId13"/>
    <p:sldId id="281" r:id="rId14"/>
    <p:sldId id="282" r:id="rId15"/>
    <p:sldId id="274" r:id="rId16"/>
    <p:sldId id="283" r:id="rId17"/>
    <p:sldId id="285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0070C0"/>
    <a:srgbClr val="92D050"/>
    <a:srgbClr val="00B050"/>
    <a:srgbClr val="156082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3" autoAdjust="0"/>
    <p:restoredTop sz="95026" autoAdjust="0"/>
  </p:normalViewPr>
  <p:slideViewPr>
    <p:cSldViewPr snapToGrid="0">
      <p:cViewPr varScale="1">
        <p:scale>
          <a:sx n="82" d="100"/>
          <a:sy n="82" d="100"/>
        </p:scale>
        <p:origin x="71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44CA1-F6F3-43D5-862A-A1FFE4BE786E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11CD1-9238-4DF0-BFD8-AB354E1113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4932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9755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276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0DAB5-1B12-852F-F9F8-896D80EC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95955B-7506-4495-5B59-7700FF781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ADD97C-C736-487C-C176-2F8711D3F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BBA8F8-1837-2C80-684A-F447F07B7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8510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D5608-6669-ED43-32A3-6EF559732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8FFB546-3CE1-1C59-9DD5-8D5BFFE86B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980123E-D0FE-B7B6-69E2-B07592111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A1F891-9C84-06C8-C5F5-DF71967113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6585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F8740-74D3-63BB-6DF6-68B58850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AD24B50-F848-83BF-1C9A-96A499627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CF32FB-16B9-7B68-2934-DA2A2C6DA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724CE83-890B-7AB6-7171-D006F8AA6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3272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D8C39-C940-2B65-35E0-F70E10385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B36E2C8-096E-B35F-3964-360445A09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3E8BAD0-65AA-F9A2-BC71-DA3E3B617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7F0CFD-FF25-25C7-18C0-15E295627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0143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2766A-F8F0-60BB-B819-3B07DF682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DBBD32-8C4F-87A9-0B5C-0689BB007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536FD10-D107-95CB-853F-317C6BB56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34248F-29B9-CF58-2DCF-96E6D94BE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100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01E9A-26AD-829A-96A9-B1F5913B8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5BC6A1B-183F-A092-0B74-3AFDB0858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7225C06-5C76-63F4-4644-0C7D91C97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3FB191-8336-28D2-CFC3-FDB0B396B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5528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47947-56A9-B1F7-F9F9-D08607CA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9940E2-8F35-1E64-FFB7-86029ACD3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733D510-47AD-DC35-E68D-CE16CC54D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95A3F1-500D-A36C-4477-48084693A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3225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47947-56A9-B1F7-F9F9-D08607CA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9940E2-8F35-1E64-FFB7-86029ACD3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733D510-47AD-DC35-E68D-CE16CC54D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95A3F1-500D-A36C-4477-48084693A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14325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47947-56A9-B1F7-F9F9-D08607CA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9940E2-8F35-1E64-FFB7-86029ACD3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733D510-47AD-DC35-E68D-CE16CC54D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95A3F1-500D-A36C-4477-48084693A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7822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47947-56A9-B1F7-F9F9-D08607CA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9940E2-8F35-1E64-FFB7-86029ACD3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733D510-47AD-DC35-E68D-CE16CC54D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95A3F1-500D-A36C-4477-48084693A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7547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47947-56A9-B1F7-F9F9-D08607CA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9940E2-8F35-1E64-FFB7-86029ACD3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733D510-47AD-DC35-E68D-CE16CC54D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95A3F1-500D-A36C-4477-48084693A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6090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47947-56A9-B1F7-F9F9-D08607CAC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9940E2-8F35-1E64-FFB7-86029ACD3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733D510-47AD-DC35-E68D-CE16CC54D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95A3F1-500D-A36C-4477-48084693A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53735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21928-C918-C7D0-D3E9-69C348A3E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ACC13ED-4B0F-8F78-857A-FAD8455B5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2D5FFD-3D2C-EB4A-A6FE-F598A7A93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62CBA4-C88D-9D64-F26E-AC5728D7B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1309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21928-C918-C7D0-D3E9-69C348A3E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ACC13ED-4B0F-8F78-857A-FAD8455B5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2D5FFD-3D2C-EB4A-A6FE-F598A7A93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762CBA4-C88D-9D64-F26E-AC5728D7B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4606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4214-1108-A70B-D6B7-3D452104E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93B029F-E113-072A-EE94-F37809361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E16C971-1C02-23B9-E760-1365FDFDE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66354E-77CA-6957-45F2-439F63AE9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D11CD1-9238-4DF0-BFD8-AB354E1113B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426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D5F8DB-7A7E-C446-4140-AD8BE3ECC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7DD61C7-743C-E641-DF72-CBCF2081C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F3AE62-0DCA-9E8E-0D73-50F8741FA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8BD6-B5C4-4962-955E-5C26455BBEC1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8AFC18-D564-92F0-FF26-46D00E31C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374F88-CB78-0004-4EB2-E555DE4EA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C0C4-0C06-4723-8E93-832091E337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86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9DC650-9B71-A24F-02EC-6691319F1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98B48D5-A5AF-AE9B-7888-EAAFAC73A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9B5FC3-4B9D-8241-25BE-13D02943E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8E7DC-E95F-496E-A513-2F850CA85F21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BA84AD-E506-DFD1-5D25-57781D0D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43864A-CCBB-AD78-52AF-7F572C00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C0C4-0C06-4723-8E93-832091E337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494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04638D-F922-5863-3748-83529C3D3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FCC09E7-E769-FD7B-F197-50FB26EAE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F87821-3BAC-A462-68E3-CB620907C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96215-21D4-44F3-AB79-DFACB4264395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09454-3CF0-F65D-06D9-9BD1C20E3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241455-4B75-408F-4BCA-09C41B4A8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C0C4-0C06-4723-8E93-832091E337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175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34813C-4DAA-C6C9-0104-81E6B8C01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9E5D33-3953-ACDD-AADE-C59695C316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7D16E42-A998-8A4D-A6E8-8A3F783B1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5AEACA-46CC-3E2F-5FBB-31B169F8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B2D1C-2F5D-46C8-BFB2-8B9F5B79689C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79D85B7-6EAE-524F-EB8F-B33FC896F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6329D88-A3D7-0A31-83D3-19D064367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C0C4-0C06-4723-8E93-832091E337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3409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2FB825-ADA0-08DA-777E-7251A21E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615ECA2-D065-ED1D-5941-36C3CF6D1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91CCB73-AD99-3710-3DB3-776CFED6D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485FB92-F2ED-2E91-B155-6ACA0F364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ABF6710-3A47-06B1-A100-EFA8C16AD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62AD91B-050C-9DF2-B94E-1DAE1E582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4B72E-0701-4F9C-9854-A8CA44A145C0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E6A5411-5E81-56D3-1ED8-405123EA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F150A18-6922-8CBF-662C-A0A2061F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C0C4-0C06-4723-8E93-832091E337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209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806730-1A65-7806-981B-C7A72822C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9360C7D-21AC-0A5E-949A-9BE1A4B8B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20354-2DEF-4281-B8AE-AB2F34BF7CFA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7E5FE72-0C9A-0556-F205-2DBE0028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F4A2D77-0CC3-8061-F719-47747B44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C0C4-0C06-4723-8E93-832091E337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9463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A718AAB-70AB-58EF-3EBA-FA597CBD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BA5D-200F-44F4-BB56-27B1088F0302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DC75B14-9A4A-1087-38D5-77EC93C3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8F12F5-762A-5B5F-B790-361E6436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C0C4-0C06-4723-8E93-832091E337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253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EB585E-CAAA-80F3-C6B4-8AAAA23A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005827-86CB-30A1-36CD-6122673B1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8FC69A5-2F08-5ECA-3A50-6E9C66A80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06266C-8EF4-E823-E419-24FE1477E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CBD11-3D1B-4D21-AF75-4C5FF94438F6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EED900-C5B7-DDD3-BE69-275CF29FD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D87FD38-DE99-9EF9-8B1D-16C63A8EC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C0C4-0C06-4723-8E93-832091E337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0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20BC83-3E51-866A-6EE9-0F5143BA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2851968-1680-89DA-BA1B-9D453EADD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D809A0E-D13C-25A8-5D81-5144EA595E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FC6CAA5-FE8B-B149-39E8-ADC9855CA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41A60-619C-4781-B206-9A294E2C9BEE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3D97DF-93E9-B336-5889-CD67DEA29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B07F8B-8078-74F2-2CB9-5D1F7DFD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C0C4-0C06-4723-8E93-832091E337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987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4D65B7-8A10-E6BA-112A-454FF41E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DC11DB-D8B6-E854-8A29-9A521E9D8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FA59CF-63DB-0F39-03D8-5A7B29222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62F5-5B11-4A09-9DAC-54C605D9DA37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B39C7-2257-CBA9-00B4-D25E970F9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504902-6474-9652-2EAC-91B91EC5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C0C4-0C06-4723-8E93-832091E337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394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1AFB1AB-C377-4D30-2250-2D887F3A67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94201B-AB74-662F-BD6C-95F9C94A3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CFD94F-B016-54DF-F122-8BC640BA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EC1CC-696F-4E23-95B8-866D1E27B319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BF18D8-86BF-1E37-B9B5-700DDC789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80A508-A8EC-F70A-E21D-A4004B1D0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5C0C4-0C06-4723-8E93-832091E337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13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3659B35-6415-BEE4-A48B-4ACDF357D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4C63F3-3952-6109-F4D9-95AA2C6CA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391E2C-EEBA-9EDB-1842-326B4BB59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ED4238-2A41-4731-94E2-236B35227419}" type="datetime1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BCC91B-4EE1-96E5-0EAD-80F28AB58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8067B7-54B2-9CEA-2CB3-03D22E1052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5C0C4-0C06-4723-8E93-832091E337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819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>
            <a:extLst>
              <a:ext uri="{FF2B5EF4-FFF2-40B4-BE49-F238E27FC236}">
                <a16:creationId xmlns:a16="http://schemas.microsoft.com/office/drawing/2014/main" id="{92ABFC8D-682F-E093-BAF2-6E571C0FD9AD}"/>
              </a:ext>
            </a:extLst>
          </p:cNvPr>
          <p:cNvGrpSpPr/>
          <p:nvPr/>
        </p:nvGrpSpPr>
        <p:grpSpPr>
          <a:xfrm>
            <a:off x="1125442" y="872472"/>
            <a:ext cx="9941116" cy="5291947"/>
            <a:chOff x="1125442" y="837916"/>
            <a:chExt cx="9941116" cy="5291947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4AC58C47-AB5C-CBFB-4453-049AC10FBBFC}"/>
                </a:ext>
              </a:extLst>
            </p:cNvPr>
            <p:cNvSpPr txBox="1"/>
            <p:nvPr/>
          </p:nvSpPr>
          <p:spPr>
            <a:xfrm>
              <a:off x="1125442" y="837916"/>
              <a:ext cx="9941116" cy="24006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Med-R1: Reinforcement Learning for Generalizable Medical Reasoning in Vision-Language Models</a:t>
              </a:r>
              <a:endParaRPr lang="zh-TW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FDBA40A7-F581-ECC9-C446-FA17D7868926}"/>
                </a:ext>
              </a:extLst>
            </p:cNvPr>
            <p:cNvSpPr txBox="1"/>
            <p:nvPr/>
          </p:nvSpPr>
          <p:spPr>
            <a:xfrm>
              <a:off x="1700379" y="3445417"/>
              <a:ext cx="8996516" cy="15542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Yuxiang Lai</a:t>
              </a:r>
              <a:r>
                <a:rPr lang="en-US" altLang="zh-TW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1*</a:t>
              </a:r>
              <a:r>
                <a:rPr lang="zh-TW" alt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Jike Zhong</a:t>
              </a:r>
              <a:r>
                <a:rPr lang="en-US" altLang="zh-TW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2*</a:t>
              </a:r>
              <a:r>
                <a:rPr lang="zh-TW" alt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Ming Li</a:t>
              </a:r>
              <a:r>
                <a:rPr lang="en-US" altLang="zh-TW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TW" alt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Shitian Zhao</a:t>
              </a:r>
              <a:r>
                <a:rPr lang="en-US" altLang="zh-TW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TW" altLang="en-US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Xiaofeng Yang</a:t>
              </a:r>
              <a:r>
                <a:rPr lang="en-US" altLang="zh-TW" sz="2000" b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1,5†</a:t>
              </a:r>
            </a:p>
            <a:p>
              <a:pPr algn="ctr"/>
              <a:r>
                <a:rPr lang="en-US" altLang="zh-TW" sz="15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TW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 of Computer Science, Emory University</a:t>
              </a:r>
            </a:p>
            <a:p>
              <a:pPr algn="ctr"/>
              <a:r>
                <a:rPr lang="en-US" altLang="zh-TW" sz="15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TW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 of Computer Science, University of Southern California</a:t>
              </a:r>
            </a:p>
            <a:p>
              <a:pPr algn="ctr"/>
              <a:r>
                <a:rPr lang="en-US" altLang="zh-TW" sz="15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TW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 of Computer Science, University of Tokyo</a:t>
              </a:r>
            </a:p>
            <a:p>
              <a:pPr algn="ctr"/>
              <a:r>
                <a:rPr lang="en-US" altLang="zh-TW" sz="15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TW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 of Computer Science, Johns Hopkins University </a:t>
              </a:r>
            </a:p>
            <a:p>
              <a:pPr algn="ctr"/>
              <a:r>
                <a:rPr lang="en-US" altLang="zh-TW" sz="15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TW" sz="1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 of Biomedical Engineering, Georgia Institute of Technology</a:t>
              </a:r>
              <a:endParaRPr lang="zh-TW" altLang="en-US" sz="15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A25590B6-8AF2-F21A-38DF-13581BB55BE0}"/>
                </a:ext>
              </a:extLst>
            </p:cNvPr>
            <p:cNvSpPr txBox="1"/>
            <p:nvPr/>
          </p:nvSpPr>
          <p:spPr>
            <a:xfrm>
              <a:off x="1597742" y="5206533"/>
              <a:ext cx="8996516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altLang="zh-TW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arXiv:2503.13939v1 [cs.CV] 18 Mar 2025</a:t>
              </a:r>
            </a:p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IEEE Transactions on Medical Imaging (TMI), 2026</a:t>
              </a:r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(Accepted)</a:t>
              </a:r>
            </a:p>
            <a:p>
              <a:pPr algn="ctr"/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DOI: 10.1109/TMI.2026.3661001 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4F8F93BB-F5DF-7480-F6EB-BDEF0E9B0F83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01/17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F1B63CE-4060-A3B7-1754-AA736475652A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Citations: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126</a:t>
            </a:r>
          </a:p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Terms: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Learning, Vision Language Models, Multimodal LLM, Post-Training, Medical Reasoning.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266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A4B10-024F-7C57-CE26-B09EFE416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4C2D432-5043-F576-3D88-97B954087A73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Challenges of Current Medical VLMs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D8E5192-FB82-AA97-0CAE-E5143AD3D9DA}"/>
              </a:ext>
            </a:extLst>
          </p:cNvPr>
          <p:cNvSpPr txBox="1"/>
          <p:nvPr/>
        </p:nvSpPr>
        <p:spPr>
          <a:xfrm>
            <a:off x="731520" y="1371600"/>
            <a:ext cx="11277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Supervised Fine-Tuning (SFT)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 Bottleneck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Chain-of-Thought (CoT) Data: High cost, expert-dependent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Shortcut Learning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memorize superficial patterns instead of learning actual clinical logic</a:t>
            </a:r>
            <a:endParaRPr lang="en-US" altLang="zh-TW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"Black-Box" Predictions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SFT: Non-interpretable, low trust, non-compliant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Generalization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gaps in diverse modalities &amp; tasks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44CF551-0CC8-331D-8546-1F7F16CD615C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02/17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525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2EF30-AC22-E7DB-87C3-F93452A3B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E5A42D3-5031-23DB-0360-D2E970F4E644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Med-R1: RL-Driven Reasoning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5015828-23F1-F8C0-FF80-CA9EDECD8690}"/>
              </a:ext>
            </a:extLst>
          </p:cNvPr>
          <p:cNvSpPr txBox="1"/>
          <p:nvPr/>
        </p:nvSpPr>
        <p:spPr>
          <a:xfrm>
            <a:off x="731520" y="1371600"/>
            <a:ext cx="1040977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Framework: Reinforcement Learning (RL)</a:t>
            </a:r>
            <a:endParaRPr lang="en-US" altLang="zh-TW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Emergent Reasoning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reasoning via RL (Zero-human labels)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GRPO Algorithm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Value-model-free training via GRPO (Group Relative Policy Optimization)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Benefits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Generalizability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8-modality robustness without retraining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Trustworthiness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explicit, interpretable "Think" processes for every diagnosis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 2B model to outperform counterparts 36x its size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1EF1135-8C7E-0477-4C27-2963E39BE9E0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03/17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498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6F223-DB3F-7553-50C4-BD1A37355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77F6F167-227F-2B74-F8A2-CD78AB43E3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7552878"/>
                  </p:ext>
                </p:extLst>
              </p:nvPr>
            </p:nvGraphicFramePr>
            <p:xfrm>
              <a:off x="1146524" y="1371600"/>
              <a:ext cx="10203751" cy="24557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3249">
                      <a:extLst>
                        <a:ext uri="{9D8B030D-6E8A-4147-A177-3AD203B41FA5}">
                          <a16:colId xmlns:a16="http://schemas.microsoft.com/office/drawing/2014/main" val="152132199"/>
                        </a:ext>
                      </a:extLst>
                    </a:gridCol>
                    <a:gridCol w="8560502">
                      <a:extLst>
                        <a:ext uri="{9D8B030D-6E8A-4147-A177-3AD203B41FA5}">
                          <a16:colId xmlns:a16="http://schemas.microsoft.com/office/drawing/2014/main" val="3937172053"/>
                        </a:ext>
                      </a:extLst>
                    </a:gridCol>
                  </a:tblGrid>
                  <a:tr h="339338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5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5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𝒥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25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G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5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5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5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5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5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en-US" altLang="zh-TW" sz="2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zh-TW" altLang="en-US" sz="25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~</m:t>
                                    </m:r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</m:d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en-US" altLang="zh-TW" sz="25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5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5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𝑜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5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sup>
                                    </m:sSubSup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~</m:t>
                                    </m:r>
                                    <m:sSub>
                                      <m:sSubPr>
                                        <m:ctrlP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TW" sz="25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5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5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𝑜𝑑𝑑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5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5330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zh-TW" altLang="en-US" sz="25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p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sz="2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500" i="1" smtClean="0">
                                            <a:latin typeface="Cambria Math" panose="02040503050406030204" pitchFamily="18" charset="0"/>
                                          </a:rPr>
                                          <m:t>𝑚𝑖𝑛</m:t>
                                        </m:r>
                                        <m:r>
                                          <a:rPr lang="en-US" altLang="zh-TW" sz="2500" i="1">
                                            <a:latin typeface="Cambria Math" panose="02040503050406030204" pitchFamily="18" charset="0"/>
                                          </a:rPr>
                                          <m:t>⁡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25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altLang="zh-TW" sz="2500" i="1" smtClean="0">
                                                    <a:solidFill>
                                                      <a:srgbClr val="E9713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en-US" altLang="zh-TW" sz="2500" i="1">
                                                        <a:solidFill>
                                                          <a:srgbClr val="E97132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sz="2500" i="1">
                                                        <a:solidFill>
                                                          <a:srgbClr val="E97132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𝜋</m:t>
                                                    </m:r>
                                                  </m:e>
                                                  <m:sub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𝜃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𝑛𝑒𝑤</m:t>
                                                        </m:r>
                                                      </m:sub>
                                                    </m:sSub>
                                                  </m:sub>
                                                </m:sSub>
                                                <m:d>
                                                  <m:dPr>
                                                    <m:ctrlPr>
                                                      <a:rPr lang="en-US" altLang="zh-TW" sz="2500" i="1">
                                                        <a:solidFill>
                                                          <a:srgbClr val="E97132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𝑜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  <m:e>
                                                    <m:r>
                                                      <a:rPr lang="en-US" altLang="zh-TW" sz="2500" i="1">
                                                        <a:solidFill>
                                                          <a:srgbClr val="E97132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𝑞</m:t>
                                                    </m:r>
                                                  </m:e>
                                                </m:d>
                                              </m:num>
                                              <m:den>
                                                <m:sSub>
                                                  <m:sSubPr>
                                                    <m:ctrlPr>
                                                      <a:rPr lang="en-US" altLang="zh-TW" sz="2500" i="1">
                                                        <a:solidFill>
                                                          <a:srgbClr val="E97132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sz="2500" i="1">
                                                        <a:solidFill>
                                                          <a:srgbClr val="E97132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𝜋</m:t>
                                                    </m:r>
                                                  </m:e>
                                                  <m:sub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𝜃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𝑜𝑙𝑑</m:t>
                                                        </m:r>
                                                      </m:sub>
                                                    </m:sSub>
                                                  </m:sub>
                                                </m:sSub>
                                                <m:d>
                                                  <m:dPr>
                                                    <m:ctrlPr>
                                                      <a:rPr lang="en-US" altLang="zh-TW" sz="2500" i="1">
                                                        <a:solidFill>
                                                          <a:srgbClr val="E97132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𝑜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  <m:e>
                                                    <m:r>
                                                      <a:rPr lang="en-US" altLang="zh-TW" sz="2500" i="1">
                                                        <a:solidFill>
                                                          <a:srgbClr val="E97132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𝑞</m:t>
                                                    </m:r>
                                                  </m:e>
                                                </m:d>
                                              </m:den>
                                            </m:f>
                                            <m:sSub>
                                              <m:sSubPr>
                                                <m:ctrlPr>
                                                  <a:rPr lang="en-US" altLang="zh-TW" sz="250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500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500" i="1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2500" b="0" i="1" smtClean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5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𝑐𝑙𝑖𝑝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altLang="zh-TW" sz="25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altLang="zh-TW" sz="2500" i="1" smtClean="0">
                                                        <a:solidFill>
                                                          <a:srgbClr val="E97132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𝜋</m:t>
                                                        </m:r>
                                                      </m:e>
                                                      <m:sub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𝜃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𝑛𝑒𝑤</m:t>
                                                            </m:r>
                                                          </m:sub>
                                                        </m:sSub>
                                                      </m:sub>
                                                    </m:sSub>
                                                    <m:d>
                                                      <m:d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𝑜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𝑖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𝑞</m:t>
                                                        </m:r>
                                                      </m:e>
                                                    </m:d>
                                                  </m:num>
                                                  <m:den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𝜋</m:t>
                                                        </m:r>
                                                      </m:e>
                                                      <m:sub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𝜃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𝑜𝑙𝑑</m:t>
                                                            </m:r>
                                                          </m:sub>
                                                        </m:sSub>
                                                      </m:sub>
                                                    </m:sSub>
                                                    <m:d>
                                                      <m:d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𝑜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𝑖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𝑞</m:t>
                                                        </m:r>
                                                      </m:e>
                                                    </m:d>
                                                  </m:den>
                                                </m:f>
                                                <m:r>
                                                  <a:rPr lang="en-US" altLang="zh-TW" sz="25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,1−</m:t>
                                                </m:r>
                                                <m:r>
                                                  <a:rPr lang="zh-TW" altLang="en-US" sz="25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𝜀</m:t>
                                                </m:r>
                                                <m:r>
                                                  <a:rPr lang="en-US" altLang="zh-TW" sz="25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,1+</m:t>
                                                </m:r>
                                                <m:r>
                                                  <a:rPr lang="zh-TW" altLang="en-US" sz="25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𝜀</m:t>
                                                </m:r>
                                              </m:e>
                                            </m:d>
                                            <m:sSub>
                                              <m:sSubPr>
                                                <m:ctrlPr>
                                                  <a:rPr lang="en-US" altLang="zh-TW" sz="25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5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500" b="0" i="1" smtClean="0">
                                                    <a:solidFill>
                                                      <a:srgbClr val="0070C0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altLang="zh-TW" sz="25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TW" sz="25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25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5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𝔻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25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KL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zh-TW" sz="25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50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500" i="1">
                                                    <a:latin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</m:e>
                                              <m:sub>
                                                <m:sSub>
                                                  <m:sSubPr>
                                                    <m:ctrlPr>
                                                      <a:rPr lang="en-US" altLang="zh-TW" sz="25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sz="25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TW" sz="25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𝑛𝑒𝑤</m:t>
                                                    </m:r>
                                                  </m:sub>
                                                </m:sSub>
                                              </m:sub>
                                            </m:sSub>
                                            <m:r>
                                              <a:rPr lang="en-US" altLang="zh-TW" sz="25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∥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TW" sz="250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TW" altLang="en-US" sz="250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</m:e>
                                              <m:sub>
                                                <m:sSub>
                                                  <m:sSubPr>
                                                    <m:ctrlPr>
                                                      <a:rPr lang="en-US" altLang="zh-TW" sz="25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sz="25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TW" sz="25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𝑟𝑒𝑓</m:t>
                                                    </m:r>
                                                  </m:sub>
                                                </m:sSub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zh-TW" altLang="en-US" sz="25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66200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77F6F167-227F-2B74-F8A2-CD78AB43E3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7552878"/>
                  </p:ext>
                </p:extLst>
              </p:nvPr>
            </p:nvGraphicFramePr>
            <p:xfrm>
              <a:off x="1146524" y="1371600"/>
              <a:ext cx="10203751" cy="24557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3249">
                      <a:extLst>
                        <a:ext uri="{9D8B030D-6E8A-4147-A177-3AD203B41FA5}">
                          <a16:colId xmlns:a16="http://schemas.microsoft.com/office/drawing/2014/main" val="152132199"/>
                        </a:ext>
                      </a:extLst>
                    </a:gridCol>
                    <a:gridCol w="8560502">
                      <a:extLst>
                        <a:ext uri="{9D8B030D-6E8A-4147-A177-3AD203B41FA5}">
                          <a16:colId xmlns:a16="http://schemas.microsoft.com/office/drawing/2014/main" val="3937172053"/>
                        </a:ext>
                      </a:extLst>
                    </a:gridCol>
                  </a:tblGrid>
                  <a:tr h="534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520000" b="-3579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231" b="-3579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533020"/>
                      </a:ext>
                    </a:extLst>
                  </a:tr>
                  <a:tr h="1921256">
                    <a:tc>
                      <a:txBody>
                        <a:bodyPr/>
                        <a:lstStyle/>
                        <a:p>
                          <a:pPr algn="r"/>
                          <a:endParaRPr lang="zh-TW" altLang="en-US" sz="25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231" t="-2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662003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文字方塊 1">
            <a:extLst>
              <a:ext uri="{FF2B5EF4-FFF2-40B4-BE49-F238E27FC236}">
                <a16:creationId xmlns:a16="http://schemas.microsoft.com/office/drawing/2014/main" id="{31E9B507-E665-D3D1-8D22-580512DD86F4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Mathematical Core: GRPO Objective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938D482-402E-6BC6-1752-4ED597A3B67E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04/17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A39DF9-1A8E-17E5-E4F8-16A3D58B6F2B}"/>
              </a:ext>
            </a:extLst>
          </p:cNvPr>
          <p:cNvSpPr txBox="1"/>
          <p:nvPr/>
        </p:nvSpPr>
        <p:spPr>
          <a:xfrm>
            <a:off x="2184400" y="36677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11EE788-A78F-838D-52B0-FDAB50AA5AF9}"/>
                  </a:ext>
                </a:extLst>
              </p:cNvPr>
              <p:cNvSpPr txBox="1"/>
              <p:nvPr/>
            </p:nvSpPr>
            <p:spPr>
              <a:xfrm>
                <a:off x="680719" y="4125290"/>
                <a:ext cx="11135360" cy="2291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GRPO Objective Function</a:t>
                </a:r>
                <a:r>
                  <a:rPr lang="zh-TW" altLang="en-US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Mathematical Components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solidFill>
                      <a:srgbClr val="E9713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Policy Ratio</a:t>
                </a:r>
                <a:r>
                  <a:rPr lang="en-US" altLang="zh-TW" sz="2400" dirty="0">
                    <a:solidFill>
                      <a:srgbClr val="E9713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400" i="1" smtClean="0">
                            <a:solidFill>
                              <a:srgbClr val="E9713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sz="2400" i="1">
                                <a:solidFill>
                                  <a:srgbClr val="E9713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>
                                <a:solidFill>
                                  <a:srgbClr val="E9713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400" i="1">
                                    <a:solidFill>
                                      <a:srgbClr val="E9713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>
                                    <a:solidFill>
                                      <a:srgbClr val="E97132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TW" sz="2400" b="0" i="1">
                                    <a:solidFill>
                                      <a:srgbClr val="E97132"/>
                                    </a:solidFill>
                                    <a:latin typeface="Cambria Math" panose="02040503050406030204" pitchFamily="18" charset="0"/>
                                  </a:rPr>
                                  <m:t>𝑛𝑒𝑤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zh-TW" sz="2400" i="1">
                                <a:solidFill>
                                  <a:srgbClr val="E9713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solidFill>
                                      <a:srgbClr val="E9713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>
                                    <a:solidFill>
                                      <a:srgbClr val="E97132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TW" sz="2400" b="0" i="1">
                                    <a:solidFill>
                                      <a:srgbClr val="E9713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400" b="0" i="1">
                                <a:solidFill>
                                  <a:srgbClr val="E97132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zh-TW" sz="2400" i="1">
                                <a:solidFill>
                                  <a:srgbClr val="E9713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>
                                <a:solidFill>
                                  <a:srgbClr val="E9713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400" i="1">
                                    <a:solidFill>
                                      <a:srgbClr val="E9713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>
                                    <a:solidFill>
                                      <a:srgbClr val="E97132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TW" sz="2400" b="0" i="1">
                                    <a:solidFill>
                                      <a:srgbClr val="E97132"/>
                                    </a:solidFill>
                                    <a:latin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</m:sub>
                        </m:sSub>
                        <m:d>
                          <m:dPr>
                            <m:ctrlPr>
                              <a:rPr lang="en-US" altLang="zh-TW" sz="2400" i="1">
                                <a:solidFill>
                                  <a:srgbClr val="E9713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400" i="1">
                                    <a:solidFill>
                                      <a:srgbClr val="E9713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>
                                    <a:solidFill>
                                      <a:srgbClr val="E97132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US" altLang="zh-TW" sz="2400" b="0" i="1">
                                    <a:solidFill>
                                      <a:srgbClr val="E9713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400" b="0" i="1">
                                <a:solidFill>
                                  <a:srgbClr val="E97132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den>
                    </m:f>
                  </m:oMath>
                </a14:m>
                <a:endParaRPr lang="en-US" altLang="zh-TW" sz="2400" dirty="0">
                  <a:solidFill>
                    <a:srgbClr val="E971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Measures the change between the current policy and the old policy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Advantage Estimation</a:t>
                </a:r>
                <a14:m>
                  <m:oMath xmlns:m="http://schemas.openxmlformats.org/officeDocument/2006/math">
                    <m:r>
                      <a:rPr lang="en-US" altLang="zh-TW" sz="2400" b="1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TW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Normalized group rewards (vs. PPO's Value Model)</a:t>
                </a: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11EE788-A78F-838D-52B0-FDAB50AA5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19" y="4125290"/>
                <a:ext cx="11135360" cy="2291461"/>
              </a:xfrm>
              <a:prstGeom prst="rect">
                <a:avLst/>
              </a:prstGeom>
              <a:blipFill>
                <a:blip r:embed="rId4"/>
                <a:stretch>
                  <a:fillRect l="-876" t="-2128" b="-53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9435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52DA0-F56D-E465-966B-897970823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A3EC480-B096-C57E-1BB4-DB7AA5910BBF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Mathematical Core: GRPO Objective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E7D6F59-0634-E53B-4203-1DEF28778CFC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05/17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2710101-C81E-44B0-4BCA-F6756B6451B8}"/>
              </a:ext>
            </a:extLst>
          </p:cNvPr>
          <p:cNvSpPr txBox="1"/>
          <p:nvPr/>
        </p:nvSpPr>
        <p:spPr>
          <a:xfrm>
            <a:off x="2184400" y="36677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05E7FC94-A484-163B-9796-DE0A8E9D36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796434"/>
                  </p:ext>
                </p:extLst>
              </p:nvPr>
            </p:nvGraphicFramePr>
            <p:xfrm>
              <a:off x="1146524" y="1371600"/>
              <a:ext cx="10203751" cy="24557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3249">
                      <a:extLst>
                        <a:ext uri="{9D8B030D-6E8A-4147-A177-3AD203B41FA5}">
                          <a16:colId xmlns:a16="http://schemas.microsoft.com/office/drawing/2014/main" val="152132199"/>
                        </a:ext>
                      </a:extLst>
                    </a:gridCol>
                    <a:gridCol w="8560502">
                      <a:extLst>
                        <a:ext uri="{9D8B030D-6E8A-4147-A177-3AD203B41FA5}">
                          <a16:colId xmlns:a16="http://schemas.microsoft.com/office/drawing/2014/main" val="3937172053"/>
                        </a:ext>
                      </a:extLst>
                    </a:gridCol>
                  </a:tblGrid>
                  <a:tr h="339338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5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sz="25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𝒥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TW" sz="25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G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5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5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TW" sz="25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O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5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5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d>
                                <m:r>
                                  <a:rPr lang="en-US" altLang="zh-TW" sz="25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zh-TW" altLang="en-US" sz="25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~</m:t>
                                    </m:r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d>
                                      <m:dPr>
                                        <m:ctrlP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</m:d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Sup>
                                      <m:sSubSupPr>
                                        <m:ctrlP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d>
                                          <m:dPr>
                                            <m:begChr m:val="{"/>
                                            <m:endChr m:val="}"/>
                                            <m:ctrlPr>
                                              <a:rPr lang="en-US" altLang="zh-TW" sz="25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5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5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𝑜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5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b>
                                        <m: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𝐺</m:t>
                                        </m:r>
                                      </m:sup>
                                    </m:sSubSup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~</m:t>
                                    </m:r>
                                    <m:sSub>
                                      <m:sSubPr>
                                        <m:ctrlP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5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altLang="zh-TW" sz="25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5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5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𝑜𝑑𝑑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𝑂</m:t>
                                    </m:r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altLang="zh-TW" sz="25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5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725330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r"/>
                          <a:endParaRPr lang="zh-TW" altLang="en-US" sz="25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zh-TW" sz="25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sup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altLang="zh-TW" sz="25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TW" sz="2500" i="1" smtClean="0">
                                            <a:latin typeface="Cambria Math" panose="02040503050406030204" pitchFamily="18" charset="0"/>
                                          </a:rPr>
                                          <m:t>𝑚𝑖𝑛</m:t>
                                        </m:r>
                                        <m:r>
                                          <a:rPr lang="en-US" altLang="zh-TW" sz="2500" i="1">
                                            <a:latin typeface="Cambria Math" panose="02040503050406030204" pitchFamily="18" charset="0"/>
                                          </a:rPr>
                                          <m:t>⁡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zh-TW" sz="25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f>
                                              <m:fPr>
                                                <m:ctrlPr>
                                                  <a:rPr lang="en-US" altLang="zh-TW" sz="25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sSub>
                                                  <m:sSubPr>
                                                    <m:ctrlPr>
                                                      <a:rPr lang="en-US" altLang="zh-TW" sz="2500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sz="2500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𝜋</m:t>
                                                    </m:r>
                                                  </m:e>
                                                  <m:sub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𝜃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𝑛𝑒𝑤</m:t>
                                                        </m:r>
                                                      </m:sub>
                                                    </m:sSub>
                                                  </m:sub>
                                                </m:sSub>
                                                <m:d>
                                                  <m:dPr>
                                                    <m:ctrlPr>
                                                      <a:rPr lang="en-US" altLang="zh-TW" sz="2500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𝑜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  <m:e>
                                                    <m:r>
                                                      <a:rPr lang="en-US" altLang="zh-TW" sz="2500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𝑞</m:t>
                                                    </m:r>
                                                  </m:e>
                                                </m:d>
                                              </m:num>
                                              <m:den>
                                                <m:sSub>
                                                  <m:sSubPr>
                                                    <m:ctrlPr>
                                                      <a:rPr lang="en-US" altLang="zh-TW" sz="2500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sz="2500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𝜋</m:t>
                                                    </m:r>
                                                  </m:e>
                                                  <m:sub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𝜃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𝑜𝑙𝑑</m:t>
                                                        </m:r>
                                                      </m:sub>
                                                    </m:sSub>
                                                  </m:sub>
                                                </m:sSub>
                                                <m:d>
                                                  <m:dPr>
                                                    <m:ctrlPr>
                                                      <a:rPr lang="en-US" altLang="zh-TW" sz="2500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𝑜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  <m:e>
                                                    <m:r>
                                                      <a:rPr lang="en-US" altLang="zh-TW" sz="2500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𝑞</m:t>
                                                    </m:r>
                                                  </m:e>
                                                </m:d>
                                              </m:den>
                                            </m:f>
                                            <m:sSub>
                                              <m:sSubPr>
                                                <m:ctrlPr>
                                                  <a:rPr lang="en-US" altLang="zh-TW" sz="250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5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5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TW" sz="25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zh-TW" sz="2500" b="0" i="1" smtClean="0">
                                                <a:solidFill>
                                                  <a:srgbClr val="E97132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𝑐𝑙𝑖𝑝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altLang="zh-TW" sz="2500" b="0" i="1" smtClean="0">
                                                    <a:solidFill>
                                                      <a:srgbClr val="E9713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f>
                                                  <m:fPr>
                                                    <m:ctrlPr>
                                                      <a:rPr lang="en-US" altLang="zh-TW" sz="2500" i="1" smtClean="0">
                                                        <a:solidFill>
                                                          <a:srgbClr val="E97132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𝜋</m:t>
                                                        </m:r>
                                                      </m:e>
                                                      <m:sub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𝜃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𝑛𝑒𝑤</m:t>
                                                            </m:r>
                                                          </m:sub>
                                                        </m:sSub>
                                                      </m:sub>
                                                    </m:sSub>
                                                    <m:d>
                                                      <m:d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𝑜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𝑖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𝑞</m:t>
                                                        </m:r>
                                                      </m:e>
                                                    </m:d>
                                                  </m:num>
                                                  <m:den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𝜋</m:t>
                                                        </m:r>
                                                      </m:e>
                                                      <m:sub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𝜃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𝑜𝑙𝑑</m:t>
                                                            </m:r>
                                                          </m:sub>
                                                        </m:sSub>
                                                      </m:sub>
                                                    </m:sSub>
                                                    <m:d>
                                                      <m:dPr>
                                                        <m:ctrlP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dPr>
                                                      <m:e>
                                                        <m:sSub>
                                                          <m:sSubPr>
                                                            <m:ctrlP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</m:ctrlPr>
                                                          </m:sSubPr>
                                                          <m:e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𝑜</m:t>
                                                            </m:r>
                                                          </m:e>
                                                          <m:sub>
                                                            <m:r>
                                                              <a:rPr lang="en-US" altLang="zh-TW" sz="2500" i="1">
                                                                <a:solidFill>
                                                                  <a:srgbClr val="E97132"/>
                                                                </a:solidFill>
                                                                <a:latin typeface="Cambria Math" panose="02040503050406030204" pitchFamily="18" charset="0"/>
                                                              </a:rPr>
                                                              <m:t>𝑖</m:t>
                                                            </m:r>
                                                          </m:sub>
                                                        </m:sSub>
                                                      </m:e>
                                                      <m:e>
                                                        <m:r>
                                                          <a:rPr lang="en-US" altLang="zh-TW" sz="2500" i="1">
                                                            <a:solidFill>
                                                              <a:srgbClr val="E97132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𝑞</m:t>
                                                        </m:r>
                                                      </m:e>
                                                    </m:d>
                                                  </m:den>
                                                </m:f>
                                                <m:r>
                                                  <a:rPr lang="en-US" altLang="zh-TW" sz="2500" b="0" i="1" smtClean="0">
                                                    <a:solidFill>
                                                      <a:srgbClr val="E9713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,1−</m:t>
                                                </m:r>
                                                <m:r>
                                                  <a:rPr lang="zh-TW" altLang="en-US" sz="2500" b="0" i="1" smtClean="0">
                                                    <a:solidFill>
                                                      <a:srgbClr val="E9713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𝜀</m:t>
                                                </m:r>
                                                <m:r>
                                                  <a:rPr lang="en-US" altLang="zh-TW" sz="2500" b="0" i="1" smtClean="0">
                                                    <a:solidFill>
                                                      <a:srgbClr val="E9713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,1+</m:t>
                                                </m:r>
                                                <m:r>
                                                  <a:rPr lang="zh-TW" altLang="en-US" sz="2500" b="0" i="1" smtClean="0">
                                                    <a:solidFill>
                                                      <a:srgbClr val="E97132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𝜀</m:t>
                                                </m:r>
                                              </m:e>
                                            </m:d>
                                            <m:sSub>
                                              <m:sSubPr>
                                                <m:ctrlPr>
                                                  <a:rPr lang="en-US" altLang="zh-TW" sz="25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5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𝐴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TW" sz="25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US" altLang="zh-TW" sz="25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zh-TW" sz="25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25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5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𝔻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TW" sz="2500" b="0" i="1" smtClean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KL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zh-TW" sz="25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TW" sz="250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TW" sz="2500" i="1">
                                                    <a:latin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</m:e>
                                              <m:sub>
                                                <m:sSub>
                                                  <m:sSubPr>
                                                    <m:ctrlPr>
                                                      <a:rPr lang="en-US" altLang="zh-TW" sz="25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sz="25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TW" sz="2500" i="1">
                                                        <a:latin typeface="Cambria Math" panose="02040503050406030204" pitchFamily="18" charset="0"/>
                                                      </a:rPr>
                                                      <m:t>𝑛𝑒𝑤</m:t>
                                                    </m:r>
                                                  </m:sub>
                                                </m:sSub>
                                              </m:sub>
                                            </m:sSub>
                                            <m:r>
                                              <a:rPr lang="en-US" altLang="zh-TW" sz="250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∥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altLang="zh-TW" sz="250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zh-TW" altLang="en-US" sz="250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𝜋</m:t>
                                                </m:r>
                                              </m:e>
                                              <m:sub>
                                                <m:sSub>
                                                  <m:sSubPr>
                                                    <m:ctrlPr>
                                                      <a:rPr lang="en-US" altLang="zh-TW" sz="25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TW" sz="25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𝜃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TW" sz="2500" b="0" i="1" smtClean="0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𝑟𝑒𝑓</m:t>
                                                    </m:r>
                                                  </m:sub>
                                                </m:sSub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d>
                                  </m:e>
                                </m:nary>
                              </m:oMath>
                            </m:oMathPara>
                          </a14:m>
                          <a:endParaRPr lang="zh-TW" altLang="en-US" sz="2500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66200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05E7FC94-A484-163B-9796-DE0A8E9D36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796434"/>
                  </p:ext>
                </p:extLst>
              </p:nvPr>
            </p:nvGraphicFramePr>
            <p:xfrm>
              <a:off x="1146524" y="1371600"/>
              <a:ext cx="10203751" cy="245573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43249">
                      <a:extLst>
                        <a:ext uri="{9D8B030D-6E8A-4147-A177-3AD203B41FA5}">
                          <a16:colId xmlns:a16="http://schemas.microsoft.com/office/drawing/2014/main" val="152132199"/>
                        </a:ext>
                      </a:extLst>
                    </a:gridCol>
                    <a:gridCol w="8560502">
                      <a:extLst>
                        <a:ext uri="{9D8B030D-6E8A-4147-A177-3AD203B41FA5}">
                          <a16:colId xmlns:a16="http://schemas.microsoft.com/office/drawing/2014/main" val="3937172053"/>
                        </a:ext>
                      </a:extLst>
                    </a:gridCol>
                  </a:tblGrid>
                  <a:tr h="53448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r="-520000" b="-3579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231" b="-3579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72533020"/>
                      </a:ext>
                    </a:extLst>
                  </a:tr>
                  <a:tr h="1921256">
                    <a:tc>
                      <a:txBody>
                        <a:bodyPr/>
                        <a:lstStyle/>
                        <a:p>
                          <a:pPr algn="r"/>
                          <a:endParaRPr lang="zh-TW" altLang="en-US" sz="25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R="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9231" t="-279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662003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8C34568F-A6BF-1FF9-1C8B-B2C272CE986E}"/>
                  </a:ext>
                </a:extLst>
              </p:cNvPr>
              <p:cNvSpPr txBox="1"/>
              <p:nvPr/>
            </p:nvSpPr>
            <p:spPr>
              <a:xfrm>
                <a:off x="680719" y="4125290"/>
                <a:ext cx="1113536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GRPO Objective Function</a:t>
                </a:r>
                <a:r>
                  <a:rPr lang="zh-TW" altLang="en-US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Mathematical Components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solidFill>
                      <a:srgbClr val="E9713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Clipping Mechanism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Restricts the policy update to a range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zh-TW" alt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1+</m:t>
                    </m:r>
                    <m:r>
                      <a:rPr lang="zh-TW" altLang="en-US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ensure training stability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KL Divergence</a:t>
                </a:r>
                <a:r>
                  <a:rPr lang="zh-TW" altLang="en-US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𝔻</m:t>
                        </m:r>
                      </m:e>
                      <m:sub>
                        <m:r>
                          <a:rPr lang="en-US" altLang="zh-TW" sz="2400" b="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</m:oMath>
                </a14:m>
                <a:endParaRPr lang="en-US" altLang="zh-TW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Linguistic Capability Preservation</a:t>
                </a: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8C34568F-A6BF-1FF9-1C8B-B2C272CE9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19" y="4125290"/>
                <a:ext cx="11135360" cy="1938992"/>
              </a:xfrm>
              <a:prstGeom prst="rect">
                <a:avLst/>
              </a:prstGeom>
              <a:blipFill>
                <a:blip r:embed="rId4"/>
                <a:stretch>
                  <a:fillRect l="-876" t="-2516" b="-62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957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10EE0-F2FF-0772-D97D-EB49CF014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58C6B4AC-C172-8457-039F-D4520E24902B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 Logic &amp; Advantage Calculation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8D44C61-92AE-5112-075A-210CF448122E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06/17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3483ADA-6957-4087-6B1C-7EE140FD16A5}"/>
                  </a:ext>
                </a:extLst>
              </p:cNvPr>
              <p:cNvSpPr txBox="1"/>
              <p:nvPr/>
            </p:nvSpPr>
            <p:spPr>
              <a:xfrm>
                <a:off x="731520" y="1371600"/>
                <a:ext cx="11224932" cy="46240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GRPO:</a:t>
                </a:r>
                <a:r>
                  <a:rPr lang="zh-TW" altLang="en-US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Group-Relative Advantage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 u="sng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u="sng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TW" sz="2400" b="1" i="1" u="sng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TW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Calculation</a:t>
                </a:r>
                <a:endParaRPr lang="en-US" altLang="zh-TW" sz="24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Mechanism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Generates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independent responses per prompt to compute relative advantage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TW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Calculation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Normalizes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using group mean and standard deviation: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sz="240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TW" alt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TW" alt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zh-TW" altLang="en-US" sz="240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mean</m:t>
                          </m:r>
                          <m:d>
                            <m:dPr>
                              <m:ctrlPr>
                                <a:rPr lang="zh-TW" alt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TW" alt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1…</m:t>
                                  </m:r>
                                  <m:r>
                                    <a:rPr lang="zh-TW" alt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m:rPr>
                              <m:nor/>
                            </m:rPr>
                            <a:rPr lang="zh-TW" altLang="en-US" sz="2400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std</m:t>
                          </m:r>
                          <m:d>
                            <m:dPr>
                              <m:ctrlPr>
                                <a:rPr lang="zh-TW" altLang="en-US" sz="240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zh-TW" alt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1…</m:t>
                                  </m:r>
                                  <m:r>
                                    <a:rPr lang="zh-TW" altLang="en-US" sz="240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Efficiency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Eliminates the Value Function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significantly reducing GPU memory overhead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Rule-Based Rewards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TW" sz="24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𝑓𝑜𝑟𝑚𝑎𝑡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Binary for correct </a:t>
                </a:r>
                <a:r>
                  <a:rPr lang="en-US" altLang="zh-TW" sz="2000" u="sng" dirty="0">
                    <a:latin typeface="Consolas" panose="020B0609020204030204" pitchFamily="49" charset="0"/>
                    <a:cs typeface="Times New Roman" panose="02020603050405020304" pitchFamily="18" charset="0"/>
                  </a:rPr>
                  <a:t>&lt;think&gt;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zh-TW" sz="2000" u="sng" dirty="0">
                    <a:latin typeface="Consolas" panose="020B0609020204030204" pitchFamily="49" charset="0"/>
                    <a:cs typeface="Times New Roman" panose="02020603050405020304" pitchFamily="18" charset="0"/>
                  </a:rPr>
                  <a:t>&lt;answer&gt;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tag usage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𝑎𝑐𝑐𝑢𝑟𝑎𝑐𝑦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Binary for matching the ground truth MCQ option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C3483ADA-6957-4087-6B1C-7EE140FD1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371600"/>
                <a:ext cx="11224932" cy="4624023"/>
              </a:xfrm>
              <a:prstGeom prst="rect">
                <a:avLst/>
              </a:prstGeom>
              <a:blipFill>
                <a:blip r:embed="rId3"/>
                <a:stretch>
                  <a:fillRect l="-815" t="-1054" b="-13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4326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F5DA6-CDB3-B98A-0115-E7BE7C04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D70A50CF-D06F-121D-53B2-463AEA173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371" y="1384935"/>
            <a:ext cx="10071256" cy="23475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B5D77AB5-E3EE-8FA3-D76E-BC3DA19FFD3D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Upper Bound: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No-Think RL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98E59F1F-F5C1-53E5-A77C-39C6D7C61881}"/>
              </a:ext>
            </a:extLst>
          </p:cNvPr>
          <p:cNvCxnSpPr>
            <a:cxnSpLocks/>
          </p:cNvCxnSpPr>
          <p:nvPr/>
        </p:nvCxnSpPr>
        <p:spPr>
          <a:xfrm>
            <a:off x="2095500" y="2029460"/>
            <a:ext cx="1996440" cy="193675"/>
          </a:xfrm>
          <a:prstGeom prst="bentConnector3">
            <a:avLst>
              <a:gd name="adj1" fmla="val 48601"/>
            </a:avLst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59144FB4-F0C0-BF6C-3BBD-C33F04EDFEDB}"/>
              </a:ext>
            </a:extLst>
          </p:cNvPr>
          <p:cNvCxnSpPr>
            <a:cxnSpLocks/>
          </p:cNvCxnSpPr>
          <p:nvPr/>
        </p:nvCxnSpPr>
        <p:spPr>
          <a:xfrm>
            <a:off x="4088130" y="2421070"/>
            <a:ext cx="1996440" cy="193675"/>
          </a:xfrm>
          <a:prstGeom prst="bentConnector3">
            <a:avLst>
              <a:gd name="adj1" fmla="val 48601"/>
            </a:avLst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0D4CF7E2-7692-2033-D449-E9AA4C2A8034}"/>
              </a:ext>
            </a:extLst>
          </p:cNvPr>
          <p:cNvCxnSpPr>
            <a:cxnSpLocks/>
          </p:cNvCxnSpPr>
          <p:nvPr/>
        </p:nvCxnSpPr>
        <p:spPr>
          <a:xfrm>
            <a:off x="6080760" y="2809511"/>
            <a:ext cx="1996440" cy="193675"/>
          </a:xfrm>
          <a:prstGeom prst="bentConnector3">
            <a:avLst>
              <a:gd name="adj1" fmla="val 48791"/>
            </a:avLst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接點: 肘形 32">
            <a:extLst>
              <a:ext uri="{FF2B5EF4-FFF2-40B4-BE49-F238E27FC236}">
                <a16:creationId xmlns:a16="http://schemas.microsoft.com/office/drawing/2014/main" id="{412F19F0-4AE5-AC85-C921-41FF3DDF71A4}"/>
              </a:ext>
            </a:extLst>
          </p:cNvPr>
          <p:cNvCxnSpPr>
            <a:cxnSpLocks/>
          </p:cNvCxnSpPr>
          <p:nvPr/>
        </p:nvCxnSpPr>
        <p:spPr>
          <a:xfrm>
            <a:off x="8077200" y="3203667"/>
            <a:ext cx="2015490" cy="192948"/>
          </a:xfrm>
          <a:prstGeom prst="bentConnector3">
            <a:avLst>
              <a:gd name="adj1" fmla="val 48299"/>
            </a:avLst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06B0BE92-385E-E84D-2B2D-89AE4A58E63A}"/>
              </a:ext>
            </a:extLst>
          </p:cNvPr>
          <p:cNvCxnSpPr/>
          <p:nvPr/>
        </p:nvCxnSpPr>
        <p:spPr>
          <a:xfrm>
            <a:off x="4065905" y="2211705"/>
            <a:ext cx="0" cy="240665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95A25DF5-4043-A239-1DF9-7E6DB82EF503}"/>
              </a:ext>
            </a:extLst>
          </p:cNvPr>
          <p:cNvCxnSpPr>
            <a:cxnSpLocks/>
          </p:cNvCxnSpPr>
          <p:nvPr/>
        </p:nvCxnSpPr>
        <p:spPr>
          <a:xfrm>
            <a:off x="2071370" y="1743075"/>
            <a:ext cx="0" cy="315277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02EC9E9A-5C42-FCE8-C6B5-D9BA208B9404}"/>
              </a:ext>
            </a:extLst>
          </p:cNvPr>
          <p:cNvCxnSpPr/>
          <p:nvPr/>
        </p:nvCxnSpPr>
        <p:spPr>
          <a:xfrm>
            <a:off x="6054725" y="2599505"/>
            <a:ext cx="0" cy="240665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66265ADE-DD90-D0A8-AA7C-06A374FCF445}"/>
              </a:ext>
            </a:extLst>
          </p:cNvPr>
          <p:cNvCxnSpPr/>
          <p:nvPr/>
        </p:nvCxnSpPr>
        <p:spPr>
          <a:xfrm>
            <a:off x="8051165" y="2995566"/>
            <a:ext cx="0" cy="240665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接點: 肘形 39">
            <a:extLst>
              <a:ext uri="{FF2B5EF4-FFF2-40B4-BE49-F238E27FC236}">
                <a16:creationId xmlns:a16="http://schemas.microsoft.com/office/drawing/2014/main" id="{858F40A7-C965-C0CC-B4A7-977843A28FB7}"/>
              </a:ext>
            </a:extLst>
          </p:cNvPr>
          <p:cNvCxnSpPr>
            <a:cxnSpLocks/>
          </p:cNvCxnSpPr>
          <p:nvPr/>
        </p:nvCxnSpPr>
        <p:spPr>
          <a:xfrm>
            <a:off x="4093845" y="2161697"/>
            <a:ext cx="1990725" cy="198095"/>
          </a:xfrm>
          <a:prstGeom prst="bentConnector3">
            <a:avLst>
              <a:gd name="adj1" fmla="val 51531"/>
            </a:avLst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2E59F975-F7B6-FDDF-4D94-DD3B71431220}"/>
              </a:ext>
            </a:extLst>
          </p:cNvPr>
          <p:cNvCxnSpPr>
            <a:cxnSpLocks/>
          </p:cNvCxnSpPr>
          <p:nvPr/>
        </p:nvCxnSpPr>
        <p:spPr>
          <a:xfrm>
            <a:off x="6080760" y="2561386"/>
            <a:ext cx="2035175" cy="197349"/>
          </a:xfrm>
          <a:prstGeom prst="bentConnector3">
            <a:avLst>
              <a:gd name="adj1" fmla="val 50000"/>
            </a:avLst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接點: 肘形 45">
            <a:extLst>
              <a:ext uri="{FF2B5EF4-FFF2-40B4-BE49-F238E27FC236}">
                <a16:creationId xmlns:a16="http://schemas.microsoft.com/office/drawing/2014/main" id="{25345F2D-D7EF-69B4-DB17-D3FED9B7FF14}"/>
              </a:ext>
            </a:extLst>
          </p:cNvPr>
          <p:cNvCxnSpPr>
            <a:cxnSpLocks/>
          </p:cNvCxnSpPr>
          <p:nvPr/>
        </p:nvCxnSpPr>
        <p:spPr>
          <a:xfrm>
            <a:off x="8086089" y="2947001"/>
            <a:ext cx="2041285" cy="194812"/>
          </a:xfrm>
          <a:prstGeom prst="bentConnector3">
            <a:avLst>
              <a:gd name="adj1" fmla="val 50093"/>
            </a:avLst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接點: 肘形 46">
            <a:extLst>
              <a:ext uri="{FF2B5EF4-FFF2-40B4-BE49-F238E27FC236}">
                <a16:creationId xmlns:a16="http://schemas.microsoft.com/office/drawing/2014/main" id="{9EAB7669-7F93-50A0-5CFD-7D484F46C780}"/>
              </a:ext>
            </a:extLst>
          </p:cNvPr>
          <p:cNvCxnSpPr>
            <a:cxnSpLocks/>
          </p:cNvCxnSpPr>
          <p:nvPr/>
        </p:nvCxnSpPr>
        <p:spPr>
          <a:xfrm>
            <a:off x="2095500" y="1773207"/>
            <a:ext cx="2012951" cy="198468"/>
          </a:xfrm>
          <a:prstGeom prst="bentConnector3">
            <a:avLst>
              <a:gd name="adj1" fmla="val 51230"/>
            </a:avLst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9BB3C408-5624-631C-0BBA-7226F1C6B255}"/>
              </a:ext>
            </a:extLst>
          </p:cNvPr>
          <p:cNvCxnSpPr>
            <a:cxnSpLocks/>
          </p:cNvCxnSpPr>
          <p:nvPr/>
        </p:nvCxnSpPr>
        <p:spPr>
          <a:xfrm>
            <a:off x="4123055" y="1943100"/>
            <a:ext cx="0" cy="240621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2979D302-5669-569C-DF79-49694CC98E5C}"/>
              </a:ext>
            </a:extLst>
          </p:cNvPr>
          <p:cNvCxnSpPr>
            <a:cxnSpLocks/>
          </p:cNvCxnSpPr>
          <p:nvPr/>
        </p:nvCxnSpPr>
        <p:spPr>
          <a:xfrm>
            <a:off x="6108065" y="2332059"/>
            <a:ext cx="0" cy="240621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BE0F5DF4-3142-E86C-3742-4D8FA17FB308}"/>
              </a:ext>
            </a:extLst>
          </p:cNvPr>
          <p:cNvCxnSpPr>
            <a:cxnSpLocks/>
          </p:cNvCxnSpPr>
          <p:nvPr/>
        </p:nvCxnSpPr>
        <p:spPr>
          <a:xfrm>
            <a:off x="8110220" y="2731289"/>
            <a:ext cx="0" cy="240621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B57E8B70-D6FA-F211-0A4C-6F3CEE0EDBCF}"/>
              </a:ext>
            </a:extLst>
          </p:cNvPr>
          <p:cNvCxnSpPr>
            <a:cxnSpLocks/>
          </p:cNvCxnSpPr>
          <p:nvPr/>
        </p:nvCxnSpPr>
        <p:spPr>
          <a:xfrm>
            <a:off x="10103485" y="3113830"/>
            <a:ext cx="0" cy="311360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E52EB80E-CF9B-94E9-7CD9-62494871FDFC}"/>
              </a:ext>
            </a:extLst>
          </p:cNvPr>
          <p:cNvSpPr txBox="1"/>
          <p:nvPr/>
        </p:nvSpPr>
        <p:spPr>
          <a:xfrm>
            <a:off x="708659" y="3930409"/>
            <a:ext cx="114833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❶ </a:t>
            </a:r>
            <a:r>
              <a:rPr lang="en-US" altLang="zh-TW" sz="2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In-Domain Mastery (Diagonal)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Achieving near-perfect scores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capacity: Raw performance without reasoning overhead</a:t>
            </a:r>
          </a:p>
          <a:p>
            <a:r>
              <a:rPr lang="zh-TW" alt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❷ </a:t>
            </a:r>
            <a:r>
              <a:rPr lang="en-US" altLang="zh-TW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System-Wide Benchmark</a:t>
            </a:r>
            <a:endParaRPr lang="en-US" altLang="zh-TW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Max: Unconstrained medical feature extraction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D4D482E-1A7D-C050-71C2-000DFE4D2135}"/>
              </a:ext>
            </a:extLst>
          </p:cNvPr>
          <p:cNvSpPr/>
          <p:nvPr/>
        </p:nvSpPr>
        <p:spPr>
          <a:xfrm>
            <a:off x="10103485" y="3432811"/>
            <a:ext cx="1012190" cy="275093"/>
          </a:xfrm>
          <a:prstGeom prst="rect">
            <a:avLst/>
          </a:prstGeom>
          <a:solidFill>
            <a:srgbClr val="0070C0">
              <a:alpha val="25098"/>
            </a:srgbClr>
          </a:solidFill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FCC8ABDA-AA25-65DC-256C-3D30A7D55579}"/>
              </a:ext>
            </a:extLst>
          </p:cNvPr>
          <p:cNvSpPr txBox="1"/>
          <p:nvPr/>
        </p:nvSpPr>
        <p:spPr>
          <a:xfrm>
            <a:off x="1506869" y="1271581"/>
            <a:ext cx="56450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❶</a:t>
            </a:r>
            <a:endParaRPr lang="zh-TW" altLang="en-US" sz="3000" dirty="0"/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AC2479B3-6D26-1FCE-36C6-53BBC497240A}"/>
              </a:ext>
            </a:extLst>
          </p:cNvPr>
          <p:cNvSpPr txBox="1"/>
          <p:nvPr/>
        </p:nvSpPr>
        <p:spPr>
          <a:xfrm>
            <a:off x="11131627" y="3163082"/>
            <a:ext cx="9203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❷</a:t>
            </a:r>
            <a:endParaRPr lang="zh-TW" altLang="en-US" sz="30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C119477-33AD-F68E-6EA9-031146440913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07/17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475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72CB5-8808-F02A-8AD4-883A52FFE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79E0C56-2A9A-CB10-CB80-2B0C3FAA38A5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Cross-Strategy Performance Comparison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CABBDDB-CCC8-E316-D6D5-9C47BE9419BD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08/17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8C573EF-F9C2-7739-49DC-977A827D8876}"/>
                  </a:ext>
                </a:extLst>
              </p:cNvPr>
              <p:cNvSpPr txBox="1"/>
              <p:nvPr/>
            </p:nvSpPr>
            <p:spPr>
              <a:xfrm>
                <a:off x="731520" y="1371600"/>
                <a:ext cx="8168518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Architecture: Qwen2.5-VL-3B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No-Think RL</a:t>
                </a:r>
                <a:r>
                  <a:rPr lang="zh-TW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𝟕𝟐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𝟓𝟕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Performance Ceiling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feature-to-answer mapping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Think RL (</a:t>
                </a:r>
                <a14:m>
                  <m:oMath xmlns:m="http://schemas.openxmlformats.org/officeDocument/2006/math"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𝟕𝟏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𝟏𝟒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Hybrid Baseline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Rationalization occurs after the decision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Think-after RL (</a:t>
                </a:r>
                <a14:m>
                  <m:oMath xmlns:m="http://schemas.openxmlformats.org/officeDocument/2006/math"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𝟕𝟏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𝟔𝟐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Clinical Standard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Prioritizes "Thinking" before "Answering"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Technical Trade-off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Transparency Cost: Negligible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∼1.4</m:t>
                    </m:r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accuracy penalty</a:t>
                </a: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8C573EF-F9C2-7739-49DC-977A827D8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371600"/>
                <a:ext cx="8168518" cy="4524315"/>
              </a:xfrm>
              <a:prstGeom prst="rect">
                <a:avLst/>
              </a:prstGeom>
              <a:blipFill>
                <a:blip r:embed="rId3"/>
                <a:stretch>
                  <a:fillRect l="-1119" t="-1078" b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449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2794-51E9-62CF-C239-17EDE30B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96D7124-7B5E-9780-F361-0DF390858252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"Think-After" Wins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B41699A-7C77-0895-6364-150465811A82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09/17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DD2E7E6-5C03-DC3C-0EB7-7E739BC49F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3" t="1792" r="806" b="214"/>
          <a:stretch/>
        </p:blipFill>
        <p:spPr>
          <a:xfrm>
            <a:off x="2079110" y="3239214"/>
            <a:ext cx="8033780" cy="3171034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A3E1E89-C54B-1504-A004-DEE34CF32F2B}"/>
                  </a:ext>
                </a:extLst>
              </p:cNvPr>
              <p:cNvSpPr txBox="1"/>
              <p:nvPr/>
            </p:nvSpPr>
            <p:spPr>
              <a:xfrm>
                <a:off x="731520" y="1371600"/>
                <a:ext cx="1030525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 Convergence: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Think-After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Think in speed and reward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Optimization: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Decouples decision-making from rationalization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Less Interference: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Pre-answer reasoning can disrupt autoregressive generation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Medical Reliability: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Minimizes hallucination while preserving interpretability</a:t>
                </a: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A3E1E89-C54B-1504-A004-DEE34CF32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371600"/>
                <a:ext cx="10305257" cy="1569660"/>
              </a:xfrm>
              <a:prstGeom prst="rect">
                <a:avLst/>
              </a:prstGeom>
              <a:blipFill>
                <a:blip r:embed="rId4"/>
                <a:stretch>
                  <a:fillRect l="-769" t="-311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071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2794-51E9-62CF-C239-17EDE30B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96D7124-7B5E-9780-F361-0DF390858252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Analysis: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Anchor Modalities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B41699A-7C77-0895-6364-150465811A82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10/17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67AE8B6-80A8-B1C4-BA06-7CB14AB671FB}"/>
                  </a:ext>
                </a:extLst>
              </p:cNvPr>
              <p:cNvSpPr txBox="1"/>
              <p:nvPr/>
            </p:nvSpPr>
            <p:spPr>
              <a:xfrm>
                <a:off x="731520" y="1371600"/>
                <a:ext cx="7939994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High-Impact Data Sources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Training Leaders (Row Overall)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MRI (</a:t>
                </a:r>
                <a14:m>
                  <m:oMath xmlns:m="http://schemas.openxmlformats.org/officeDocument/2006/math"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𝟕𝟒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&amp; CT (</a:t>
                </a:r>
                <a14:m>
                  <m:oMath xmlns:m="http://schemas.openxmlformats.org/officeDocument/2006/math"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𝟕𝟐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Most robust feature sources for any RL strategy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Anatomical density drives cross-modality generalization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Testing Targets (Column Overall)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OCT (</a:t>
                </a:r>
                <a14:m>
                  <m:oMath xmlns:m="http://schemas.openxmlformats.org/officeDocument/2006/math"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𝟖𝟐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&amp; X-Ray (</a:t>
                </a:r>
                <a14:m>
                  <m:oMath xmlns:m="http://schemas.openxmlformats.org/officeDocument/2006/math"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𝟖𝟑</m:t>
                    </m:r>
                    <m:r>
                      <a:rPr lang="en-US" altLang="zh-TW" sz="24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Most "receivable" modalities for zero-shot models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Cross-Source Feature Consistency</a:t>
                </a: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67AE8B6-80A8-B1C4-BA06-7CB14AB67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371600"/>
                <a:ext cx="7939994" cy="3416320"/>
              </a:xfrm>
              <a:prstGeom prst="rect">
                <a:avLst/>
              </a:prstGeom>
              <a:blipFill>
                <a:blip r:embed="rId3"/>
                <a:stretch>
                  <a:fillRect l="-1152" t="-1429" b="-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969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2794-51E9-62CF-C239-17EDE30B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96D7124-7B5E-9780-F361-0DF390858252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Bottlenecks: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Gaps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B41699A-7C77-0895-6364-150465811A82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11/17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67AE8B6-80A8-B1C4-BA06-7CB14AB671FB}"/>
                  </a:ext>
                </a:extLst>
              </p:cNvPr>
              <p:cNvSpPr txBox="1"/>
              <p:nvPr/>
            </p:nvSpPr>
            <p:spPr>
              <a:xfrm>
                <a:off x="731520" y="1371600"/>
                <a:ext cx="9911688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Universal Challenges for VLM Reasoning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Ultrasound Paradox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100%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In-Domain (No-Think) vs.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~45%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Average Transfer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Persistent noise overfitting despite Reasoning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"Micro-to-Macro" Barrier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Domain Gap: Microscopy features fail to generalize to CT and MRI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Domain mismatch: Micro-cellular textures vs. macro-structural anatomy</a:t>
                </a: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E67AE8B6-80A8-B1C4-BA06-7CB14AB671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371600"/>
                <a:ext cx="9911688" cy="2677656"/>
              </a:xfrm>
              <a:prstGeom prst="rect">
                <a:avLst/>
              </a:prstGeom>
              <a:blipFill>
                <a:blip r:embed="rId3"/>
                <a:stretch>
                  <a:fillRect l="-923" t="-1822" b="-4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1498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2794-51E9-62CF-C239-17EDE30B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96D7124-7B5E-9780-F361-0DF390858252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Analysis: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B41699A-7C77-0895-6364-150465811A82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12/17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26767FD-55B2-A33F-A702-478D4411CD7B}"/>
              </a:ext>
            </a:extLst>
          </p:cNvPr>
          <p:cNvSpPr txBox="1"/>
          <p:nvPr/>
        </p:nvSpPr>
        <p:spPr>
          <a:xfrm>
            <a:off x="731519" y="5181600"/>
            <a:ext cx="99444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Traceable Logic: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 altLang="zh-TW" sz="2000" u="sng" dirty="0">
                <a:latin typeface="Consolas" panose="020B0609020204030204" pitchFamily="49" charset="0"/>
                <a:cs typeface="Times New Roman" panose="02020603050405020304" pitchFamily="18" charset="0"/>
              </a:rPr>
              <a:t>&lt;think&gt;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from visual features to diagnosis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Alignment: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 paths follow clinical standards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Correction: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RL helps the model refine its path through trial and error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D522A04-F552-E17A-1991-2B2576C44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358" y="1371600"/>
            <a:ext cx="7871283" cy="36139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062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2794-51E9-62CF-C239-17EDE30B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96D7124-7B5E-9780-F361-0DF390858252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Validation: 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Reader Study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B41699A-7C77-0895-6364-150465811A82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13/17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26767FD-55B2-A33F-A702-478D4411CD7B}"/>
                  </a:ext>
                </a:extLst>
              </p:cNvPr>
              <p:cNvSpPr txBox="1"/>
              <p:nvPr/>
            </p:nvSpPr>
            <p:spPr>
              <a:xfrm>
                <a:off x="731519" y="5043232"/>
                <a:ext cx="984504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400" b="1" dirty="0">
                    <a:solidFill>
                      <a:srgbClr val="E9713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❶</a:t>
                </a:r>
                <a:r>
                  <a:rPr lang="zh-TW" altLang="en-US" sz="2400" dirty="0">
                    <a:solidFill>
                      <a:srgbClr val="E9713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b="1" dirty="0">
                    <a:solidFill>
                      <a:srgbClr val="E9713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Factual Quality: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4.25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/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5.0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(Rated by medical experts)</a:t>
                </a:r>
              </a:p>
              <a:p>
                <a:r>
                  <a:rPr lang="zh-TW" altLang="en-US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❷ </a:t>
                </a:r>
                <a:r>
                  <a:rPr lang="en-US" altLang="zh-TW" sz="24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Logic Consistency: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93.3%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alignment between reasoning and answers</a:t>
                </a:r>
              </a:p>
              <a:p>
                <a:r>
                  <a:rPr lang="zh-TW" altLang="en-US" sz="2400" b="1" dirty="0"/>
                  <a:t>❸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Verdict: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Proves Med-R1 provides trustworthy, human-readable rationales</a:t>
                </a: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26767FD-55B2-A33F-A702-478D4411C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5043232"/>
                <a:ext cx="9845041" cy="1200329"/>
              </a:xfrm>
              <a:prstGeom prst="rect">
                <a:avLst/>
              </a:prstGeom>
              <a:blipFill>
                <a:blip r:embed="rId3"/>
                <a:stretch>
                  <a:fillRect l="-929" t="-4569" b="-106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AE56702F-8F76-21C0-9D64-AC059B448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9713" y="1371600"/>
            <a:ext cx="6012574" cy="33756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D8CCFABE-87B8-9903-17B9-DF870679DB7F}"/>
              </a:ext>
            </a:extLst>
          </p:cNvPr>
          <p:cNvSpPr txBox="1"/>
          <p:nvPr/>
        </p:nvSpPr>
        <p:spPr>
          <a:xfrm>
            <a:off x="5775960" y="3823931"/>
            <a:ext cx="525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E971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❶</a:t>
            </a:r>
            <a:endParaRPr lang="en-US" sz="20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0A7C3DD-0BCA-982A-9856-DD2241298099}"/>
              </a:ext>
            </a:extLst>
          </p:cNvPr>
          <p:cNvSpPr txBox="1"/>
          <p:nvPr/>
        </p:nvSpPr>
        <p:spPr>
          <a:xfrm>
            <a:off x="7052010" y="3823931"/>
            <a:ext cx="4677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❷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81656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2794-51E9-62CF-C239-17EDE30B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A96D7124-7B5E-9780-F361-0DF390858252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B41699A-7C77-0895-6364-150465811A82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14/17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4AB52BE-44EB-49FA-1FE4-425F7FAE5A6C}"/>
              </a:ext>
            </a:extLst>
          </p:cNvPr>
          <p:cNvSpPr txBox="1"/>
          <p:nvPr/>
        </p:nvSpPr>
        <p:spPr>
          <a:xfrm>
            <a:off x="731520" y="1371600"/>
            <a:ext cx="70198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Contributions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RL Framework</a:t>
            </a:r>
            <a:endParaRPr lang="en-US" altLang="zh-TW" sz="2400" i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Proves GRPO enables 3B models to surpass 72B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Paradigm Shift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Think-After decouples decision from reasoning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Leader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benchmark for cross-modality reasoning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63382A8-8A83-12DE-FCD6-25B2531955B8}"/>
              </a:ext>
            </a:extLst>
          </p:cNvPr>
          <p:cNvSpPr txBox="1"/>
          <p:nvPr/>
        </p:nvSpPr>
        <p:spPr>
          <a:xfrm>
            <a:off x="731520" y="4347210"/>
            <a:ext cx="740023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2D to 3D or Video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Volumetric CT and MRI and Ultrasound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Context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Incorporating patient history and EHR data</a:t>
            </a:r>
          </a:p>
        </p:txBody>
      </p:sp>
    </p:spTree>
    <p:extLst>
      <p:ext uri="{BB962C8B-B14F-4D97-AF65-F5344CB8AC3E}">
        <p14:creationId xmlns:p14="http://schemas.microsoft.com/office/powerpoint/2010/main" val="3673280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E8C00-D7BB-1BBB-4BF7-5D7F64332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2DC20569-03B0-2B04-F84F-2B245FDCF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614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arXiv:1802.05695</a:t>
            </a:r>
            <a:endParaRPr kumimoji="0" lang="zh-TW" altLang="zh-T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6B50965-5553-CAC4-DC1F-3E7C11C19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7992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arXiv:1802.05695</a:t>
            </a:r>
            <a:endParaRPr kumimoji="0" lang="zh-TW" altLang="zh-T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F9887C7-941C-EE10-8ACF-6038B7BEFD29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&amp; Limitations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EC4D9BE-6F41-8E7A-E41D-4956B09FCE0A}"/>
                  </a:ext>
                </a:extLst>
              </p:cNvPr>
              <p:cNvSpPr txBox="1"/>
              <p:nvPr/>
            </p:nvSpPr>
            <p:spPr>
              <a:xfrm>
                <a:off x="731520" y="1371600"/>
                <a:ext cx="9134168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Reasoning Quality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"More thinking"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"Better performance" in medical VQA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Unsupervised rationales can introduce noise under domain shift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Dimension Constraint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Currently frame-level (2D) only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Needs expansion to 3D Volumetric (CT, MRI) and Video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 Bottleneck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Scarcity of high-quality, expert-annotated CoT data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BEC4D9BE-6F41-8E7A-E41D-4956B09FC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371600"/>
                <a:ext cx="9134168" cy="3046988"/>
              </a:xfrm>
              <a:prstGeom prst="rect">
                <a:avLst/>
              </a:prstGeom>
              <a:blipFill>
                <a:blip r:embed="rId3"/>
                <a:stretch>
                  <a:fillRect l="-868" t="-1600" b="-3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7E0E0058-E23F-EA28-208F-CDDC24239443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15/17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194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E8C00-D7BB-1BBB-4BF7-5D7F64332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2DC20569-03B0-2B04-F84F-2B245FDCF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614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arXiv:1802.05695</a:t>
            </a:r>
            <a:endParaRPr kumimoji="0" lang="zh-TW" altLang="zh-T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6B50965-5553-CAC4-DC1F-3E7C11C19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7992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arXiv:1802.05695</a:t>
            </a:r>
            <a:endParaRPr kumimoji="0" lang="zh-TW" altLang="zh-T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F9887C7-941C-EE10-8ACF-6038B7BEFD29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Insights &amp; Critique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EC4D9BE-6F41-8E7A-E41D-4956B09FCE0A}"/>
              </a:ext>
            </a:extLst>
          </p:cNvPr>
          <p:cNvSpPr txBox="1"/>
          <p:nvPr/>
        </p:nvSpPr>
        <p:spPr>
          <a:xfrm>
            <a:off x="731520" y="1371600"/>
            <a:ext cx="114604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vs. Reasoning Gap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vs. Reasoning Gap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 does not always improve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Post-hoc Explanation Risk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Think-After: Prediction → Reasoning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zh-TW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may not reflect true reasoning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Limitation: </a:t>
            </a:r>
            <a:r>
              <a:rPr lang="en-US" altLang="zh-TW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OmniMedVQA</a:t>
            </a:r>
            <a:endParaRPr lang="en-US" altLang="zh-TW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MCQ-style VQA tasks focus on recognition rather than diagnosis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Direction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clinical tasks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patient context / EHR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E0E0058-E23F-EA28-208F-CDDC24239443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16/17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23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C2D0E-6787-8AF9-5678-BA7475B51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7D0720C5-C36D-B309-5C1B-BC16546DA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614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arXiv:1802.05695</a:t>
            </a:r>
            <a:endParaRPr kumimoji="0" lang="zh-TW" altLang="zh-T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5CDE780-D95C-9328-1A5E-6A65F6716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7992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TW" altLang="zh-TW" sz="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arXiv:1802.05695</a:t>
            </a:r>
            <a:endParaRPr kumimoji="0" lang="zh-TW" altLang="zh-TW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TW" altLang="zh-TW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TW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9B0F569-EC65-084F-F8C9-48AC2537A3A6}"/>
              </a:ext>
            </a:extLst>
          </p:cNvPr>
          <p:cNvSpPr txBox="1"/>
          <p:nvPr/>
        </p:nvSpPr>
        <p:spPr>
          <a:xfrm>
            <a:off x="411480" y="365760"/>
            <a:ext cx="1178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OmniMedVQA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Sample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2983526-9D51-8396-4D3D-F22D3A1A218F}"/>
              </a:ext>
            </a:extLst>
          </p:cNvPr>
          <p:cNvSpPr txBox="1"/>
          <p:nvPr/>
        </p:nvSpPr>
        <p:spPr>
          <a:xfrm>
            <a:off x="11257936" y="6457890"/>
            <a:ext cx="934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17/17</a:t>
            </a:r>
            <a:endParaRPr lang="zh-TW" altLang="en-US" sz="2000" dirty="0">
              <a:solidFill>
                <a:schemeClr val="bg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D2BF4C7-63FB-89E5-3506-8F791B068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470" y="1371600"/>
            <a:ext cx="6419059" cy="481459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509D86D-C6A9-9706-40B5-5E0C5DBAB134}"/>
              </a:ext>
            </a:extLst>
          </p:cNvPr>
          <p:cNvSpPr txBox="1"/>
          <p:nvPr/>
        </p:nvSpPr>
        <p:spPr>
          <a:xfrm>
            <a:off x="2886470" y="6252565"/>
            <a:ext cx="64190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Y. Hu, T. Li, Q. Lu, W. Shao, J. He, Y. Qiao, and P. Luo, “</a:t>
            </a:r>
            <a:r>
              <a:rPr lang="en-US" altLang="zh-TW" sz="1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OmniMedVQA</a:t>
            </a:r>
            <a:r>
              <a:rPr lang="en-US" altLang="zh-TW" sz="1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A New Large-Scale Comprehensive Evaluation Benchmark for Medical LVLM,” in </a:t>
            </a:r>
            <a:r>
              <a:rPr lang="en-US" altLang="zh-TW" sz="10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Proc. IEEE/CVF Conf. Computer Vision and Pattern Recognition (CVPR)</a:t>
            </a:r>
            <a:r>
              <a:rPr lang="en-US" altLang="zh-TW" sz="1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2024, pp. 22170–22183</a:t>
            </a:r>
            <a:endParaRPr lang="zh-TW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4318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2470</TotalTime>
  <Words>1068</Words>
  <Application>Microsoft Office PowerPoint</Application>
  <PresentationFormat>寬螢幕</PresentationFormat>
  <Paragraphs>208</Paragraphs>
  <Slides>17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Consolas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陳伯豪</dc:creator>
  <cp:lastModifiedBy>陳伯豪</cp:lastModifiedBy>
  <cp:revision>206</cp:revision>
  <dcterms:created xsi:type="dcterms:W3CDTF">2025-12-07T23:49:14Z</dcterms:created>
  <dcterms:modified xsi:type="dcterms:W3CDTF">2026-03-05T08:17:22Z</dcterms:modified>
</cp:coreProperties>
</file>