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4" r:id="rId2"/>
    <p:sldId id="257" r:id="rId3"/>
    <p:sldId id="258" r:id="rId4"/>
    <p:sldId id="262" r:id="rId5"/>
    <p:sldId id="275" r:id="rId6"/>
    <p:sldId id="272" r:id="rId7"/>
    <p:sldId id="271" r:id="rId8"/>
    <p:sldId id="263" r:id="rId9"/>
    <p:sldId id="260" r:id="rId10"/>
    <p:sldId id="269" r:id="rId11"/>
    <p:sldId id="273" r:id="rId12"/>
    <p:sldId id="268" r:id="rId13"/>
    <p:sldId id="266" r:id="rId14"/>
    <p:sldId id="265" r:id="rId15"/>
    <p:sldId id="267" r:id="rId16"/>
    <p:sldId id="274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0:22:42.1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0:22:44.08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E55D0-220B-4A41-BEF8-C1450E8876EA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61C56C-6821-47B8-BF26-B6938066A9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3702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ROI Warping provides more accurate regions which match objects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1C56C-6821-47B8-BF26-B6938066A94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609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B1E25-48C2-EB54-9641-E0B5ED6D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9A4387E-9DCB-9159-0309-FFBC4693D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3B6F0A-02B9-9BA6-55C9-88FA140B6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ROI Warping provides more accurate regions which match objects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68629B-1EDC-A5A0-2122-9223053C0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1C56C-6821-47B8-BF26-B6938066A94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263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EC95-6AA9-8BA2-4115-079F87CE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18BB8B-8D9D-32F2-F236-74988F2C8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CB242D-474A-0DC5-059E-28B386E81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ROI Warping provides more accurate regions which match objects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709E3D-E1AE-F070-3A75-4FCA10C03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1C56C-6821-47B8-BF26-B6938066A94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6131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81A39-027B-6BAD-7A4E-0C0F5C58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552D9E3-D437-766F-B741-B470D614F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590B519-9D08-65EF-47A4-0EE645F9D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ROI Warping provides more accurate regions which match objects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B41B98-3FFF-D4EA-93A0-38F197A81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61C56C-6821-47B8-BF26-B6938066A94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304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per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DF987E-385C-0130-EE22-2CD1F3262C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 altLang="zh-TW" dirty="0"/>
              <a:t>Theme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FD80A84-9C5C-2134-31ED-4A9F36D96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7"/>
            <a:ext cx="9144000" cy="1655762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Authors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F1B857-47A7-3FD1-76C0-B11600701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F9C72-3A44-430F-BAD8-BEECC2A0CF6B}" type="datetime1">
              <a:rPr lang="zh-TW" altLang="en-US" smtClean="0"/>
              <a:t>2026/8/26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CDA3B6-2069-B8DD-0A91-A4C453CB8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3B0065-1B64-8755-12F2-B3D96757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04E03E9-C83A-43F4-B5DF-B1A3125A14D7}" type="slidenum">
              <a:rPr lang="zh-TW" altLang="en-US" smtClean="0"/>
              <a:pPr/>
              <a:t>‹#›</a:t>
            </a:fld>
            <a:r>
              <a:rPr lang="en-US" altLang="zh-TW" dirty="0"/>
              <a:t>/15</a:t>
            </a:r>
            <a:endParaRPr lang="zh-TW" altLang="en-US" dirty="0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B6C8E009-14F4-D138-AB12-3C1ACAC58E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1" y="5278437"/>
            <a:ext cx="9143999" cy="677038"/>
          </a:xfrm>
        </p:spPr>
        <p:txBody>
          <a:bodyPr/>
          <a:lstStyle>
            <a:lvl1pPr algn="ctr">
              <a:buNone/>
              <a:defRPr sz="1800"/>
            </a:lvl1pPr>
          </a:lstStyle>
          <a:p>
            <a:pPr lvl="0"/>
            <a:r>
              <a:rPr lang="en-US" altLang="zh-TW" dirty="0"/>
              <a:t>Accepted</a:t>
            </a:r>
            <a:r>
              <a:rPr lang="zh-TW" altLang="en-US" dirty="0"/>
              <a:t> </a:t>
            </a:r>
            <a:r>
              <a:rPr lang="en-US" altLang="zh-TW" dirty="0"/>
              <a:t>Year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Number</a:t>
            </a:r>
            <a:endParaRPr lang="zh-TW" altLang="en-US" dirty="0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1086474E-6285-6FB7-2136-62BB33E1D62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0132" y="136525"/>
            <a:ext cx="3586843" cy="457241"/>
          </a:xfr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lang="en-US" altLang="zh-TW" dirty="0"/>
              <a:t>Citations: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1154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82017-9009-B2EA-CAC0-06CA7F679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000" b="0"/>
            </a:lvl1pPr>
          </a:lstStyle>
          <a:p>
            <a:r>
              <a:rPr lang="en-US" altLang="zh-TW" dirty="0"/>
              <a:t>Introduction: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A7B7A5-0AEF-169D-6BD9-8FCE5A029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925ABD-8F6D-6FA4-D9B9-5449F8E3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7C73-9C60-44A8-9963-F7B0F303136F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C2FB23-3A7E-E643-15AB-304C64EC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AA3609-1B5C-28C9-AC81-300703EE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‹#›</a:t>
            </a:fld>
            <a:r>
              <a:rPr lang="en-US" altLang="zh-TW" dirty="0"/>
              <a:t>/15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457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_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490FD9-9325-DFC1-6EFB-1151F6B66F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TW" dirty="0"/>
              <a:t>Method: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E5ACC47-67CE-E276-4998-DD0866B9F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8F4B0-6191-4C60-A178-1FD549EEF077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C59084-B176-AC03-A6CE-182FE1A6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A72714-11E4-246F-831A-73F17444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‹#›</a:t>
            </a:fld>
            <a:r>
              <a:rPr lang="en-US" altLang="zh-TW" dirty="0"/>
              <a:t>/15</a:t>
            </a: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0AFDC15C-60ED-69DD-1CB6-6DD339AC3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3939844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28902D59-4140-EACE-C531-CA38446CF0A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5765469"/>
            <a:ext cx="10515600" cy="411493"/>
          </a:xfr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 altLang="zh-TW" dirty="0"/>
              <a:t>Figure: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871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DBB1FC-3310-FD11-77E4-DBD19F719A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TW" dirty="0"/>
              <a:t>Results: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4A9A9CE-D4E1-848F-7B5F-B5715509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AB71-1FB0-4A07-9CCF-E4691E4D8D9F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0CFE5F8-1A72-6B53-F420-5003EEAC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6B6C27F-3B60-A477-3D9B-DE472A5C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‹#›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842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9ACCE7-43D4-D374-163F-33EDAB2842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TW" dirty="0"/>
              <a:t>Conclusions: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8BB42A4-954B-FAF8-9179-394597EC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E7989-3229-4893-95B8-FC31197A64FB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6115D98-48F7-196A-D9B0-0C954C4C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13868A-513B-A3BC-3A1C-4A00E2C0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‹#›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825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mit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9ACCE7-43D4-D374-163F-33EDAB2842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TW" dirty="0"/>
              <a:t>Limitations: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8BB42A4-954B-FAF8-9179-394597EC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85CDA-4536-4E8A-8545-378C0725D3C1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6115D98-48F7-196A-D9B0-0C954C4C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13868A-513B-A3BC-3A1C-4A00E2C0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‹#›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351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E44450-3CB0-1167-DA81-AC10A20650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TW" dirty="0" err="1"/>
              <a:t>Comparsion</a:t>
            </a:r>
            <a:r>
              <a:rPr lang="en-US" altLang="zh-TW" sz="4000" dirty="0"/>
              <a:t>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B0B019-D887-04DA-DD52-9131AA85C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38654B-678E-F64F-6B1B-B986F39A2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DDA678-6F91-4408-413F-510D4207B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E92F6-0340-4273-A9F5-7DFB7DDBE799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51F96D-33B9-9C6F-B006-7BDD1E496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4743A6-09C0-2780-55AF-487B70DE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‹#›</a:t>
            </a:fld>
            <a:r>
              <a:rPr lang="en-US" altLang="zh-TW" dirty="0"/>
              <a:t>/15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48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32007F-F1FD-736F-CAE4-8D250A04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7217D-D154-451E-B5B6-DCC86CCAB470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9E618D9-17CA-03DC-62F1-1707767C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90908B-1CE9-BCB9-1370-5B62956B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‹#›</a:t>
            </a:fld>
            <a:r>
              <a:rPr lang="en-US" altLang="zh-TW" dirty="0"/>
              <a:t>/15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519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F650DF-8F15-507F-08E9-43161C77C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31A018-C0CB-991D-82AD-6A71E00A5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BF4152-FE99-EB46-E2B3-194C384F76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18E1D-E339-4B54-AB9E-BEF943ED1737}" type="datetime1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1E589B-2D2E-5F0F-6ADB-8449E045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2BF94D-52BA-EC42-1797-5A35968A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fld id="{D04E03E9-C83A-43F4-B5DF-B1A3125A14D7}" type="slidenum">
              <a:rPr lang="zh-TW" altLang="en-US" smtClean="0"/>
              <a:pPr/>
              <a:t>‹#›</a:t>
            </a:fld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896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5" r:id="rId5"/>
    <p:sldLayoutId id="2147483666" r:id="rId6"/>
    <p:sldLayoutId id="2147483652" r:id="rId7"/>
    <p:sldLayoutId id="2147483655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CB2185-417E-1B9D-9C4E-C4AD83E869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Learning </a:t>
            </a:r>
            <a:r>
              <a:rPr lang="en-US" altLang="zh-TW" dirty="0" err="1"/>
              <a:t>RoI</a:t>
            </a:r>
            <a:r>
              <a:rPr lang="en-US" altLang="zh-TW" dirty="0"/>
              <a:t> Transformer for Oriented Object Detection in Aerial Images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CD7DF86-D3C5-814E-384E-24CDA564E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Jian Ding, Nan Xue, Yang Long, Gui-Song Xia∗, </a:t>
            </a:r>
            <a:r>
              <a:rPr lang="en-US" altLang="zh-TW" dirty="0" err="1"/>
              <a:t>Qikai</a:t>
            </a:r>
            <a:r>
              <a:rPr lang="en-US" altLang="zh-TW" dirty="0"/>
              <a:t> Lu</a:t>
            </a:r>
          </a:p>
          <a:p>
            <a:r>
              <a:rPr lang="en-US" altLang="zh-TW" dirty="0"/>
              <a:t>LIESMARS-CAPTAIN, Wuhan University, Wuhan, 430079, China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4C89FE-FE75-448A-0CAD-719CDDA4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1</a:t>
            </a:fld>
            <a:r>
              <a:rPr lang="en-US" altLang="zh-TW" dirty="0"/>
              <a:t>/15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C472905-7C39-0F81-70B5-856E55382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IEEE/CVF Conference on Computer Vision and Pattern Recognition (CVPR), 2019</a:t>
            </a:r>
          </a:p>
          <a:p>
            <a:r>
              <a:rPr lang="en-US" altLang="zh-TW" dirty="0"/>
              <a:t> DOI: 10.1109/CVPR.2019.00296.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9AAA12D-E50B-7D32-D8E7-94C32E51153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/>
              <a:t>Citations:</a:t>
            </a:r>
            <a:r>
              <a:rPr lang="zh-TW" altLang="en-US" sz="1800" dirty="0"/>
              <a:t> </a:t>
            </a:r>
            <a:r>
              <a:rPr lang="en-US" altLang="zh-TW" sz="1800" dirty="0"/>
              <a:t>1494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60981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F49C06-DBD4-3DAC-E3D2-22024590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Introduction: Horizontal </a:t>
            </a:r>
            <a:r>
              <a:rPr lang="en-US" altLang="zh-TW" dirty="0" err="1"/>
              <a:t>RoIs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80D17A-60FE-EDEB-1CEE-B5CFAC12C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Challenges: </a:t>
            </a:r>
            <a:r>
              <a:rPr lang="en-US" altLang="zh-TW" dirty="0"/>
              <a:t>Complex backgrounds, and arbitrary oriented objects.   </a:t>
            </a:r>
          </a:p>
          <a:p>
            <a:r>
              <a:rPr lang="en-US" altLang="zh-TW" b="1" dirty="0"/>
              <a:t>Limitations:</a:t>
            </a:r>
            <a:r>
              <a:rPr lang="en-US" altLang="zh-TW" dirty="0"/>
              <a:t> Causing severe feature misalignment for densely packed objects.   </a:t>
            </a:r>
          </a:p>
          <a:p>
            <a:r>
              <a:rPr lang="en-US" altLang="zh-TW" b="1" dirty="0"/>
              <a:t>Consequence:</a:t>
            </a:r>
            <a:r>
              <a:rPr lang="en-US" altLang="zh-TW" dirty="0"/>
              <a:t> A single </a:t>
            </a:r>
            <a:r>
              <a:rPr lang="en-US" altLang="zh-TW" dirty="0" err="1"/>
              <a:t>HRoI</a:t>
            </a:r>
            <a:r>
              <a:rPr lang="en-US" altLang="zh-TW" dirty="0"/>
              <a:t> often contains multiple objects, confusing classification and localization.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975E9B-A643-4E1E-0211-0CC3E2B4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t>2</a:t>
            </a:fld>
            <a:r>
              <a:rPr lang="en-US" altLang="zh-TW" dirty="0"/>
              <a:t>/15</a:t>
            </a:r>
            <a:endParaRPr lang="zh-TW" altLang="en-US" dirty="0"/>
          </a:p>
        </p:txBody>
      </p:sp>
      <p:pic>
        <p:nvPicPr>
          <p:cNvPr id="5" name="內容版面配置區 8">
            <a:extLst>
              <a:ext uri="{FF2B5EF4-FFF2-40B4-BE49-F238E27FC236}">
                <a16:creationId xmlns:a16="http://schemas.microsoft.com/office/drawing/2014/main" id="{0B80B881-2A35-3CAA-0810-DCBB96C6D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497"/>
          <a:stretch>
            <a:fillRect/>
          </a:stretch>
        </p:blipFill>
        <p:spPr>
          <a:xfrm>
            <a:off x="2982180" y="3804327"/>
            <a:ext cx="6227640" cy="1911120"/>
          </a:xfrm>
          <a:prstGeom prst="rect">
            <a:avLst/>
          </a:prstGeom>
        </p:spPr>
      </p:pic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F152F0B7-F435-003E-4AE6-2B229438E9C9}"/>
              </a:ext>
            </a:extLst>
          </p:cNvPr>
          <p:cNvSpPr txBox="1">
            <a:spLocks/>
          </p:cNvSpPr>
          <p:nvPr/>
        </p:nvSpPr>
        <p:spPr>
          <a:xfrm>
            <a:off x="2982180" y="5715447"/>
            <a:ext cx="6227640" cy="4114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/>
              <a:t>Figure 1. </a:t>
            </a:r>
            <a:r>
              <a:rPr lang="en-US" altLang="zh-TW" sz="1800" dirty="0"/>
              <a:t>An aerial image applied Horizontal ROI</a:t>
            </a: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55977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26E38F0-AB80-AD09-6AEF-42486876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Introduction:</a:t>
            </a:r>
            <a:r>
              <a:rPr lang="zh-TW" altLang="en-US" dirty="0"/>
              <a:t> </a:t>
            </a:r>
            <a:r>
              <a:rPr lang="en-US" altLang="zh-TW" dirty="0"/>
              <a:t>HROI</a:t>
            </a:r>
            <a:r>
              <a:rPr lang="zh-TW" altLang="en-US" dirty="0"/>
              <a:t> </a:t>
            </a:r>
            <a:r>
              <a:rPr lang="en-US" altLang="zh-TW" dirty="0" err="1"/>
              <a:t>v.s</a:t>
            </a:r>
            <a:r>
              <a:rPr lang="en-US" altLang="zh-TW" dirty="0"/>
              <a:t>.</a:t>
            </a:r>
            <a:r>
              <a:rPr lang="zh-TW" altLang="en-US" dirty="0"/>
              <a:t> </a:t>
            </a:r>
            <a:r>
              <a:rPr lang="en-US" altLang="zh-TW" dirty="0"/>
              <a:t>RROI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7CEB15-1846-DD94-9759-7013F079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t>3</a:t>
            </a:fld>
            <a:r>
              <a:rPr lang="en-US" altLang="zh-TW" dirty="0"/>
              <a:t>/15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111733FC-8D5A-1F48-5D4A-6893CC25A3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982180" y="1825625"/>
            <a:ext cx="6227640" cy="3940175"/>
          </a:xfrm>
          <a:prstGeom prst="rect">
            <a:avLst/>
          </a:prstGeom>
        </p:spPr>
      </p:pic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3ABED0DD-F4F6-BC3C-273A-05A23BF6BF4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82180" y="5765469"/>
            <a:ext cx="6227640" cy="411493"/>
          </a:xfrm>
        </p:spPr>
        <p:txBody>
          <a:bodyPr/>
          <a:lstStyle/>
          <a:p>
            <a:r>
              <a:rPr lang="en-US" altLang="zh-TW" b="1" dirty="0"/>
              <a:t>Figure 2. </a:t>
            </a:r>
            <a:r>
              <a:rPr lang="en-US" altLang="zh-TW" dirty="0"/>
              <a:t>Horizontal (top) </a:t>
            </a:r>
            <a:r>
              <a:rPr lang="en-US" altLang="zh-TW" dirty="0" err="1"/>
              <a:t>v.s</a:t>
            </a:r>
            <a:r>
              <a:rPr lang="en-US" altLang="zh-TW" dirty="0"/>
              <a:t>. Rotated </a:t>
            </a:r>
            <a:r>
              <a:rPr lang="en-US" altLang="zh-TW" dirty="0" err="1"/>
              <a:t>RoI</a:t>
            </a:r>
            <a:r>
              <a:rPr lang="en-US" altLang="zh-TW" dirty="0"/>
              <a:t> warping (bottom)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1359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4627-A386-B944-3517-7D368FBE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ECECE20-3505-560C-50B1-75264AD8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Method:</a:t>
            </a:r>
            <a:r>
              <a:rPr lang="zh-TW" altLang="en-US" dirty="0"/>
              <a:t> </a:t>
            </a:r>
            <a:r>
              <a:rPr lang="en-US" altLang="zh-TW" dirty="0" err="1"/>
              <a:t>RoI</a:t>
            </a:r>
            <a:r>
              <a:rPr lang="en-US" altLang="zh-TW" dirty="0"/>
              <a:t> Transformer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D688CB-0C24-2383-633E-4D3602F0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t>4</a:t>
            </a:fld>
            <a:r>
              <a:rPr lang="en-US" altLang="zh-TW" dirty="0"/>
              <a:t>/15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825A3E5-12D3-281A-0A19-6B36FAAA1FF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82180" y="5765800"/>
            <a:ext cx="6227640" cy="411493"/>
          </a:xfrm>
        </p:spPr>
        <p:txBody>
          <a:bodyPr/>
          <a:lstStyle/>
          <a:p>
            <a:pPr algn="ctr"/>
            <a:r>
              <a:rPr lang="en-US" altLang="zh-TW" b="1" dirty="0"/>
              <a:t>Figure 3. </a:t>
            </a:r>
            <a:r>
              <a:rPr lang="en-US" altLang="zh-TW" dirty="0"/>
              <a:t>The architecture of </a:t>
            </a:r>
            <a:r>
              <a:rPr lang="en-US" altLang="zh-TW" dirty="0" err="1"/>
              <a:t>RoI</a:t>
            </a:r>
            <a:r>
              <a:rPr lang="en-US" altLang="zh-TW" dirty="0"/>
              <a:t> Transformer.</a:t>
            </a:r>
            <a:endParaRPr lang="zh-TW" altLang="en-US" dirty="0"/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5323AC37-6CF7-40CB-B8E5-98F5DEBE29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092592" y="1825625"/>
            <a:ext cx="8006815" cy="394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0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BD64C-19B5-F009-CDAA-061A9FAF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E190A7C-5B1D-093C-96AE-270AD7E1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Method: Pipeline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1F1B9-9D1A-7EF5-6ABB-12D4C6A4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8543" y="6332563"/>
            <a:ext cx="2743200" cy="365125"/>
          </a:xfrm>
        </p:spPr>
        <p:txBody>
          <a:bodyPr/>
          <a:lstStyle/>
          <a:p>
            <a:fld id="{D04E03E9-C83A-43F4-B5DF-B1A3125A14D7}" type="slidenum">
              <a:rPr lang="zh-TW" altLang="en-US" smtClean="0"/>
              <a:t>5</a:t>
            </a:fld>
            <a:r>
              <a:rPr lang="en-US" altLang="zh-TW" dirty="0"/>
              <a:t>/15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3DBF24FB-0AC7-A152-53E4-7AC958BCEB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65749" y="6515125"/>
            <a:ext cx="3312914" cy="411493"/>
          </a:xfrm>
        </p:spPr>
        <p:txBody>
          <a:bodyPr>
            <a:normAutofit fontScale="92500"/>
          </a:bodyPr>
          <a:lstStyle/>
          <a:p>
            <a:pPr algn="ctr"/>
            <a:r>
              <a:rPr lang="en-US" altLang="zh-TW" sz="1400" b="1" dirty="0"/>
              <a:t>Figure 3. </a:t>
            </a:r>
            <a:r>
              <a:rPr lang="en-US" altLang="zh-TW" sz="1400" dirty="0"/>
              <a:t>The architecture of </a:t>
            </a:r>
            <a:r>
              <a:rPr lang="en-US" altLang="zh-TW" sz="1400" dirty="0" err="1"/>
              <a:t>RoI</a:t>
            </a:r>
            <a:r>
              <a:rPr lang="en-US" altLang="zh-TW" sz="1400" dirty="0"/>
              <a:t> Transformer.</a:t>
            </a:r>
            <a:endParaRPr lang="zh-TW" altLang="en-US" sz="1400" dirty="0"/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8A406696-9158-DDD4-7621-5D27482EE9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53640" y="5056011"/>
            <a:ext cx="2884719" cy="141957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82F3EC0-1FF2-E3BD-928D-86650CA717B4}"/>
              </a:ext>
            </a:extLst>
          </p:cNvPr>
          <p:cNvSpPr txBox="1"/>
          <p:nvPr/>
        </p:nvSpPr>
        <p:spPr>
          <a:xfrm>
            <a:off x="838200" y="1720840"/>
            <a:ext cx="108224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+mj-lt"/>
              </a:rPr>
              <a:t>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>
                <a:latin typeface="+mj-lt"/>
              </a:rPr>
              <a:t>Input:</a:t>
            </a:r>
            <a:r>
              <a:rPr lang="en-US" altLang="zh-TW" sz="2400" dirty="0">
                <a:latin typeface="+mj-lt"/>
              </a:rPr>
              <a:t> Image patch of 1024 × 1024 × 3.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>
                <a:latin typeface="+mj-lt"/>
              </a:rPr>
              <a:t>Backbone:</a:t>
            </a:r>
            <a:r>
              <a:rPr lang="en-US" altLang="zh-TW" sz="2400" dirty="0">
                <a:latin typeface="+mj-lt"/>
              </a:rPr>
              <a:t> ResNet-101 (optionally with FPN) produces the shared feature map.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>
                <a:latin typeface="+mj-lt"/>
              </a:rPr>
              <a:t>Light head: </a:t>
            </a:r>
            <a:r>
              <a:rPr lang="en-US" altLang="zh-TW" sz="2400" dirty="0">
                <a:latin typeface="+mj-lt"/>
              </a:rPr>
              <a:t>Large separable conv (k = 15, </a:t>
            </a:r>
            <a:r>
              <a:rPr lang="en-US" altLang="zh-TW" sz="2400" dirty="0" err="1">
                <a:latin typeface="+mj-lt"/>
              </a:rPr>
              <a:t>C_mid</a:t>
            </a:r>
            <a:r>
              <a:rPr lang="en-US" altLang="zh-TW" sz="2400" dirty="0">
                <a:latin typeface="+mj-lt"/>
              </a:rPr>
              <a:t> = 256) gives the thin feature </a:t>
            </a:r>
            <a:br>
              <a:rPr lang="en-US" altLang="zh-TW" sz="2400" dirty="0">
                <a:latin typeface="+mj-lt"/>
              </a:rPr>
            </a:br>
            <a:r>
              <a:rPr lang="en-US" altLang="zh-TW" sz="2400" dirty="0">
                <a:latin typeface="+mj-lt"/>
              </a:rPr>
              <a:t>D: H × W × 490.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>
                <a:latin typeface="+mj-lt"/>
              </a:rPr>
              <a:t>RPN: </a:t>
            </a:r>
            <a:r>
              <a:rPr lang="en-US" altLang="zh-TW" sz="2400" dirty="0">
                <a:latin typeface="+mj-lt"/>
              </a:rPr>
              <a:t>15 horizontal anchors, 6000 proposals → NMS → 800 </a:t>
            </a:r>
            <a:r>
              <a:rPr lang="en-US" altLang="zh-TW" sz="2400" dirty="0" err="1">
                <a:latin typeface="+mj-lt"/>
              </a:rPr>
              <a:t>HRoIs</a:t>
            </a:r>
            <a:r>
              <a:rPr lang="en-US" altLang="zh-TW" sz="2400" dirty="0">
                <a:latin typeface="+mj-lt"/>
              </a:rPr>
              <a:t> (x, y, w, h).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 err="1">
                <a:latin typeface="+mj-lt"/>
              </a:rPr>
              <a:t>RRoI</a:t>
            </a:r>
            <a:r>
              <a:rPr lang="en-US" altLang="zh-TW" sz="2400" b="1" dirty="0">
                <a:latin typeface="+mj-lt"/>
              </a:rPr>
              <a:t> Learner: </a:t>
            </a:r>
            <a:r>
              <a:rPr lang="en-US" altLang="zh-TW" sz="2400" dirty="0">
                <a:latin typeface="+mj-lt"/>
              </a:rPr>
              <a:t>PS </a:t>
            </a:r>
            <a:r>
              <a:rPr lang="en-US" altLang="zh-TW" sz="2400" dirty="0" err="1">
                <a:latin typeface="+mj-lt"/>
              </a:rPr>
              <a:t>RoI</a:t>
            </a:r>
            <a:r>
              <a:rPr lang="en-US" altLang="zh-TW" sz="2400" dirty="0">
                <a:latin typeface="+mj-lt"/>
              </a:rPr>
              <a:t> Align → FC(5) → box decoder → </a:t>
            </a:r>
            <a:r>
              <a:rPr lang="en-US" altLang="zh-TW" sz="2400" dirty="0" err="1">
                <a:latin typeface="+mj-lt"/>
              </a:rPr>
              <a:t>RRoI</a:t>
            </a:r>
            <a:r>
              <a:rPr lang="en-US" altLang="zh-TW" sz="2400" dirty="0">
                <a:latin typeface="+mj-lt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 err="1">
                <a:latin typeface="+mj-lt"/>
              </a:rPr>
              <a:t>RRoI</a:t>
            </a:r>
            <a:r>
              <a:rPr lang="en-US" altLang="zh-TW" sz="2400" b="1" dirty="0">
                <a:latin typeface="+mj-lt"/>
              </a:rPr>
              <a:t> Warping: </a:t>
            </a:r>
            <a:r>
              <a:rPr lang="en-US" altLang="zh-TW" sz="2400" dirty="0">
                <a:latin typeface="+mj-lt"/>
              </a:rPr>
              <a:t>RPS </a:t>
            </a:r>
            <a:r>
              <a:rPr lang="en-US" altLang="zh-TW" sz="2400" dirty="0" err="1">
                <a:latin typeface="+mj-lt"/>
              </a:rPr>
              <a:t>RoI</a:t>
            </a:r>
            <a:r>
              <a:rPr lang="en-US" altLang="zh-TW" sz="2400" dirty="0">
                <a:latin typeface="+mj-lt"/>
              </a:rPr>
              <a:t> Align outputs Y: 7 × 7 × 10.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b="1" dirty="0">
                <a:latin typeface="+mj-lt"/>
              </a:rPr>
              <a:t>Head: </a:t>
            </a:r>
            <a:r>
              <a:rPr lang="en-US" altLang="zh-TW" sz="2400" dirty="0">
                <a:latin typeface="+mj-lt"/>
              </a:rPr>
              <a:t>One 2048-d FC, then sibling FCs for classification and OBB regression.</a:t>
            </a:r>
          </a:p>
        </p:txBody>
      </p:sp>
    </p:spTree>
    <p:extLst>
      <p:ext uri="{BB962C8B-B14F-4D97-AF65-F5344CB8AC3E}">
        <p14:creationId xmlns:p14="http://schemas.microsoft.com/office/powerpoint/2010/main" val="296242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364AFF-49B8-D9E3-8D57-9E1086A4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Method: Relative Offset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DAE4407-9A60-ACB7-C283-2ECBDDA2F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9836" y="6356350"/>
            <a:ext cx="2743200" cy="365125"/>
          </a:xfrm>
        </p:spPr>
        <p:txBody>
          <a:bodyPr/>
          <a:lstStyle/>
          <a:p>
            <a:fld id="{D04E03E9-C83A-43F4-B5DF-B1A3125A14D7}" type="slidenum">
              <a:rPr lang="zh-TW" altLang="en-US" smtClean="0"/>
              <a:pPr/>
              <a:t>6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4027680-0F3A-31CA-BDCE-E0C2B6D7DF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799927" y="3287296"/>
            <a:ext cx="5735021" cy="2546680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F491F48-7A91-025D-8E37-811FBB23408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09638" y="5944857"/>
            <a:ext cx="10515600" cy="411493"/>
          </a:xfrm>
        </p:spPr>
        <p:txBody>
          <a:bodyPr/>
          <a:lstStyle/>
          <a:p>
            <a:pPr algn="ctr"/>
            <a:r>
              <a:rPr lang="en-US" altLang="zh-TW" b="1" dirty="0"/>
              <a:t>Figure 4. </a:t>
            </a:r>
            <a:r>
              <a:rPr lang="en-US" altLang="zh-TW" dirty="0"/>
              <a:t>An example explaining the relative offset.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AED42927-E9A5-CED9-2A2D-EA0A5888CA0A}"/>
                  </a:ext>
                </a:extLst>
              </p14:cNvPr>
              <p14:cNvContentPartPr/>
              <p14:nvPr/>
            </p14:nvContentPartPr>
            <p14:xfrm>
              <a:off x="3338447" y="6363742"/>
              <a:ext cx="360" cy="360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AED42927-E9A5-CED9-2A2D-EA0A5888CA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2327" y="635762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64211B2D-0F74-519B-5DDE-67F3A56361CF}"/>
              </a:ext>
            </a:extLst>
          </p:cNvPr>
          <p:cNvSpPr txBox="1"/>
          <p:nvPr/>
        </p:nvSpPr>
        <p:spPr>
          <a:xfrm>
            <a:off x="920538" y="1976086"/>
            <a:ext cx="94938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Problem: </a:t>
            </a:r>
            <a:r>
              <a:rPr lang="en-US" altLang="zh-TW" sz="2400" dirty="0"/>
              <a:t>A global-coordinate offset gives a different number for the same relative position at every rotation angle.</a:t>
            </a:r>
          </a:p>
          <a:p>
            <a:r>
              <a:rPr lang="en-US" altLang="zh-TW" sz="2400" b="1" dirty="0"/>
              <a:t>Solution: </a:t>
            </a:r>
            <a:r>
              <a:rPr lang="en-US" altLang="zh-TW" sz="2400" dirty="0"/>
              <a:t>Express the offset in the </a:t>
            </a:r>
            <a:r>
              <a:rPr lang="en-US" altLang="zh-TW" sz="2400" dirty="0" err="1"/>
              <a:t>RRoI's</a:t>
            </a:r>
            <a:r>
              <a:rPr lang="en-US" altLang="zh-TW" sz="2400" dirty="0"/>
              <a:t> own local frame</a:t>
            </a:r>
          </a:p>
        </p:txBody>
      </p:sp>
    </p:spTree>
    <p:extLst>
      <p:ext uri="{BB962C8B-B14F-4D97-AF65-F5344CB8AC3E}">
        <p14:creationId xmlns:p14="http://schemas.microsoft.com/office/powerpoint/2010/main" val="1105054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AAD8-D454-5F59-8B55-30A16332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87FD5B6-D379-3934-D9D9-46D79CF2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Method:</a:t>
            </a:r>
            <a:r>
              <a:rPr lang="zh-TW" altLang="en-US" dirty="0"/>
              <a:t> </a:t>
            </a:r>
            <a:r>
              <a:rPr lang="en-US" altLang="zh-TW" dirty="0" err="1"/>
              <a:t>RRoI</a:t>
            </a:r>
            <a:r>
              <a:rPr lang="en-US" altLang="zh-TW" dirty="0"/>
              <a:t> warping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442133-A07B-BB3B-67F5-A45CAD26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t>7</a:t>
            </a:fld>
            <a:r>
              <a:rPr lang="en-US" altLang="zh-TW" dirty="0"/>
              <a:t>/15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88102EBE-C954-2DC7-766F-B9A7973A5D1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382960" y="6446507"/>
            <a:ext cx="6227640" cy="411493"/>
          </a:xfrm>
        </p:spPr>
        <p:txBody>
          <a:bodyPr/>
          <a:lstStyle/>
          <a:p>
            <a:pPr algn="ctr"/>
            <a:r>
              <a:rPr lang="en-US" altLang="zh-TW" b="1" dirty="0"/>
              <a:t>Figure 5. </a:t>
            </a:r>
            <a:r>
              <a:rPr lang="en-US" altLang="zh-TW" dirty="0"/>
              <a:t>Rotated </a:t>
            </a:r>
            <a:r>
              <a:rPr lang="en-US" altLang="zh-TW" dirty="0" err="1"/>
              <a:t>RoI</a:t>
            </a:r>
            <a:r>
              <a:rPr lang="en-US" altLang="zh-TW" dirty="0"/>
              <a:t> warping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8DBE9F8-EBAE-A640-124E-80768E0E41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129765" y="4088540"/>
            <a:ext cx="4838867" cy="23214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F265E1C8-77D3-C42E-02DE-F796201C5A15}"/>
                  </a:ext>
                </a:extLst>
              </p14:cNvPr>
              <p14:cNvContentPartPr/>
              <p14:nvPr/>
            </p14:nvContentPartPr>
            <p14:xfrm>
              <a:off x="3829127" y="5989342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F265E1C8-77D3-C42E-02DE-F796201C5A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3007" y="598322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1CEC1347-4658-79D1-A6D7-4B82E62E09BD}"/>
              </a:ext>
            </a:extLst>
          </p:cNvPr>
          <p:cNvSpPr txBox="1"/>
          <p:nvPr/>
        </p:nvSpPr>
        <p:spPr>
          <a:xfrm>
            <a:off x="838200" y="1780216"/>
            <a:ext cx="94219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Process: </a:t>
            </a:r>
            <a:r>
              <a:rPr lang="en-US" altLang="zh-TW" sz="2400" dirty="0"/>
              <a:t>Split the </a:t>
            </a:r>
            <a:r>
              <a:rPr lang="en-US" altLang="zh-TW" sz="2400" dirty="0" err="1"/>
              <a:t>RRoI</a:t>
            </a:r>
            <a:r>
              <a:rPr lang="en-US" altLang="zh-TW" sz="2400" dirty="0"/>
              <a:t> into K × K bins in its own local frame, then rotate each sampling point back onto the feature map.</a:t>
            </a:r>
          </a:p>
          <a:p>
            <a:r>
              <a:rPr lang="en-US" altLang="zh-TW" sz="2400" b="1" dirty="0"/>
              <a:t>Interpolation: </a:t>
            </a:r>
            <a:r>
              <a:rPr lang="en-US" altLang="zh-TW" sz="2400" dirty="0"/>
              <a:t>Sample locations land on non-integer coordinates, so values come from bilinear interpolation — the whole step stays differentiable.</a:t>
            </a:r>
          </a:p>
          <a:p>
            <a:r>
              <a:rPr lang="en-US" altLang="zh-TW" sz="2400" b="1" dirty="0"/>
              <a:t>Position sensitive: </a:t>
            </a:r>
            <a:r>
              <a:rPr lang="en-US" altLang="zh-TW" sz="2400" dirty="0"/>
              <a:t>Output cell (</a:t>
            </a:r>
            <a:r>
              <a:rPr lang="zh-TW" altLang="en-US" sz="2400" dirty="0"/>
              <a:t>𝑖</a:t>
            </a:r>
            <a:r>
              <a:rPr lang="en-US" altLang="zh-TW" sz="2400" dirty="0"/>
              <a:t>,</a:t>
            </a:r>
            <a:r>
              <a:rPr lang="zh-TW" altLang="en-US" sz="2400" dirty="0"/>
              <a:t>𝑗</a:t>
            </a:r>
            <a:r>
              <a:rPr lang="en-US" altLang="zh-TW" sz="2400" dirty="0"/>
              <a:t>) reads only the matching channel (</a:t>
            </a:r>
            <a:r>
              <a:rPr lang="zh-TW" altLang="en-US" sz="2400" dirty="0"/>
              <a:t>𝑖</a:t>
            </a:r>
            <a:r>
              <a:rPr lang="en-US" altLang="zh-TW" sz="2400" dirty="0"/>
              <a:t>,</a:t>
            </a:r>
            <a:r>
              <a:rPr lang="zh-TW" altLang="en-US" sz="2400" dirty="0"/>
              <a:t>𝑗</a:t>
            </a:r>
            <a:r>
              <a:rPr lang="en-US" altLang="zh-TW" sz="2400" dirty="0"/>
              <a:t>) out of the K × K × C feature, inherited from R-FCN.</a:t>
            </a:r>
          </a:p>
        </p:txBody>
      </p:sp>
    </p:spTree>
    <p:extLst>
      <p:ext uri="{BB962C8B-B14F-4D97-AF65-F5344CB8AC3E}">
        <p14:creationId xmlns:p14="http://schemas.microsoft.com/office/powerpoint/2010/main" val="821339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1231-68B9-2FAD-A4D8-0BA500FF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0983A224-CB45-7CD4-4D75-901BAACF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Datasets: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85AAE471-7A73-CC35-FE27-AF687CC91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858122" cy="2175669"/>
          </a:xfrm>
        </p:spPr>
        <p:txBody>
          <a:bodyPr/>
          <a:lstStyle/>
          <a:p>
            <a:pPr algn="just"/>
            <a:r>
              <a:rPr lang="en-US" altLang="zh-TW" sz="2400" b="1" dirty="0"/>
              <a:t>DOTA:</a:t>
            </a:r>
          </a:p>
          <a:p>
            <a:pPr marL="0" indent="0">
              <a:buNone/>
            </a:pPr>
            <a:r>
              <a:rPr lang="en-US" altLang="zh-TW" sz="2400" dirty="0"/>
              <a:t>The largest aerial image dataset, containing 2,806 large images, 188,282 instances, 15 categories.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7586889-BF47-5B1B-A0C3-51CE599EA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001294"/>
            <a:ext cx="8705720" cy="4351338"/>
          </a:xfrm>
        </p:spPr>
        <p:txBody>
          <a:bodyPr/>
          <a:lstStyle/>
          <a:p>
            <a:r>
              <a:rPr lang="en-US" altLang="zh-TW" sz="2400" b="1" dirty="0"/>
              <a:t>HSRC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2016:</a:t>
            </a:r>
          </a:p>
          <a:p>
            <a:pPr marL="0" indent="0">
              <a:buNone/>
            </a:pPr>
            <a:r>
              <a:rPr lang="en-US" altLang="zh-TW" sz="2400" dirty="0"/>
              <a:t>Focused on ship detection, 1061 images and more than 20 categories of ships.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D2484F3-2F6B-0C42-BEBD-30851EE9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8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517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889188B5-2963-92CD-A2F6-C04186CD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Datasets:</a:t>
            </a:r>
            <a:r>
              <a:rPr lang="zh-TW" altLang="en-US" dirty="0"/>
              <a:t> </a:t>
            </a:r>
            <a:r>
              <a:rPr lang="en-US" altLang="zh-TW" dirty="0"/>
              <a:t>Preprocessing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B10A8680-1824-A5AB-91AB-260C67C6C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690688"/>
            <a:ext cx="10975111" cy="2770923"/>
          </a:xfrm>
        </p:spPr>
        <p:txBody>
          <a:bodyPr/>
          <a:lstStyle/>
          <a:p>
            <a:r>
              <a:rPr lang="en-US" altLang="zh-TW" sz="2400" b="1" dirty="0"/>
              <a:t>DOTA: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 Resized the images at scales</a:t>
            </a:r>
            <a:r>
              <a:rPr lang="zh-TW" altLang="en-US" sz="2400" dirty="0"/>
              <a:t> </a:t>
            </a:r>
            <a:r>
              <a:rPr lang="en-US" altLang="zh-TW" sz="2400" dirty="0"/>
              <a:t>1.0 &amp; 0.4 for training  and scales</a:t>
            </a:r>
            <a:r>
              <a:rPr lang="zh-TW" altLang="en-US" sz="2400" dirty="0"/>
              <a:t> </a:t>
            </a:r>
            <a:r>
              <a:rPr lang="en-US" altLang="zh-TW" sz="2400" dirty="0"/>
              <a:t>1.0 &amp; 0.5</a:t>
            </a:r>
            <a:r>
              <a:rPr lang="zh-TW" altLang="en-US" sz="2400" dirty="0"/>
              <a:t> </a:t>
            </a:r>
            <a:r>
              <a:rPr lang="en-US" altLang="zh-TW" sz="2400" dirty="0"/>
              <a:t>for</a:t>
            </a:r>
            <a:r>
              <a:rPr lang="zh-TW" altLang="en-US" sz="2400" dirty="0"/>
              <a:t> </a:t>
            </a:r>
            <a:r>
              <a:rPr lang="en-US" altLang="zh-TW" sz="2400" dirty="0"/>
              <a:t>testing.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 Crop a series of</a:t>
            </a:r>
            <a:r>
              <a:rPr lang="zh-TW" altLang="en-US" sz="2400" dirty="0"/>
              <a:t> </a:t>
            </a:r>
            <a:r>
              <a:rPr lang="en-US" altLang="zh-TW" sz="2400" dirty="0"/>
              <a:t>1024 × 1024 patches from the original images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 Rotation augmentation randomly</a:t>
            </a:r>
            <a:r>
              <a:rPr lang="zh-TW" altLang="en-US" sz="2400" dirty="0"/>
              <a:t> </a:t>
            </a:r>
            <a:r>
              <a:rPr lang="en-US" altLang="zh-TW" sz="2400" dirty="0"/>
              <a:t>from 4 angles (0, 90, 180, 270)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7D6D388A-7B9B-2EA6-88D2-9B0FFABF5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7" y="4085537"/>
            <a:ext cx="10729883" cy="4351338"/>
          </a:xfrm>
        </p:spPr>
        <p:txBody>
          <a:bodyPr/>
          <a:lstStyle/>
          <a:p>
            <a:r>
              <a:rPr lang="en-US" altLang="zh-TW" sz="2400" b="1" dirty="0"/>
              <a:t>HSRC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2016: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Applied horizontal flipping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resized to (S, M)</a:t>
            </a:r>
            <a:r>
              <a:rPr lang="zh-TW" altLang="en-US" sz="2400" dirty="0"/>
              <a:t> </a:t>
            </a:r>
            <a:r>
              <a:rPr lang="en-US" altLang="zh-TW" sz="2400" dirty="0"/>
              <a:t>=</a:t>
            </a:r>
            <a:r>
              <a:rPr lang="zh-TW" altLang="en-US" sz="2400" dirty="0"/>
              <a:t> </a:t>
            </a:r>
            <a:r>
              <a:rPr lang="en-US" altLang="zh-TW" sz="2400" dirty="0"/>
              <a:t>(512,</a:t>
            </a:r>
            <a:r>
              <a:rPr lang="zh-TW" altLang="en-US" sz="2400" dirty="0"/>
              <a:t> </a:t>
            </a:r>
            <a:r>
              <a:rPr lang="en-US" altLang="zh-TW" sz="2400" dirty="0"/>
              <a:t>800)</a:t>
            </a:r>
          </a:p>
          <a:p>
            <a:pPr marL="0" indent="0">
              <a:buNone/>
            </a:pPr>
            <a:r>
              <a:rPr lang="en-US" altLang="zh-TW" sz="2400" dirty="0"/>
              <a:t>S =</a:t>
            </a:r>
            <a:r>
              <a:rPr lang="zh-TW" altLang="en-US" sz="2400" dirty="0"/>
              <a:t> </a:t>
            </a:r>
            <a:r>
              <a:rPr lang="en-US" altLang="zh-TW" sz="2400" dirty="0"/>
              <a:t>short</a:t>
            </a:r>
            <a:r>
              <a:rPr lang="zh-TW" altLang="en-US" sz="2400" dirty="0"/>
              <a:t> </a:t>
            </a:r>
            <a:r>
              <a:rPr lang="en-US" altLang="zh-TW" sz="2400" dirty="0"/>
              <a:t>side</a:t>
            </a:r>
          </a:p>
          <a:p>
            <a:pPr marL="0" indent="0">
              <a:buNone/>
            </a:pPr>
            <a:r>
              <a:rPr lang="en-US" altLang="zh-TW" sz="2400" dirty="0"/>
              <a:t>M =</a:t>
            </a:r>
            <a:r>
              <a:rPr lang="zh-TW" altLang="en-US" sz="2400" dirty="0"/>
              <a:t> </a:t>
            </a:r>
            <a:r>
              <a:rPr lang="en-US" altLang="zh-TW" sz="2400" dirty="0"/>
              <a:t>maximum</a:t>
            </a:r>
            <a:r>
              <a:rPr lang="zh-TW" altLang="en-US" sz="2400" dirty="0"/>
              <a:t> </a:t>
            </a:r>
            <a:r>
              <a:rPr lang="en-US" altLang="zh-TW" sz="2400" dirty="0"/>
              <a:t>length</a:t>
            </a:r>
            <a:endParaRPr lang="zh-TW" altLang="en-US" sz="24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DD2C81F-9CA8-E9BA-3D47-DEE72C5A8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9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4712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B9F0-95DD-1B47-6120-3D4550BF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43BFE3-744C-6FCF-C720-192460C1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Results: HSRC2016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A70531E-7077-59B6-1F5D-0B0B58E2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10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6CD8DB7-2F04-62AF-27DC-271B14E25FA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4429183"/>
            <a:ext cx="10515600" cy="819438"/>
          </a:xfrm>
        </p:spPr>
        <p:txBody>
          <a:bodyPr>
            <a:noAutofit/>
          </a:bodyPr>
          <a:lstStyle/>
          <a:p>
            <a:pPr algn="ctr"/>
            <a:r>
              <a:rPr lang="en-US" altLang="zh-TW" b="1" dirty="0"/>
              <a:t>Table 1. </a:t>
            </a:r>
            <a:r>
              <a:rPr lang="en-US" altLang="zh-TW" dirty="0"/>
              <a:t>Comparisons with the state-of-the-art methods on HRSC2016.</a:t>
            </a:r>
            <a:endParaRPr lang="zh-TW" altLang="en-US" dirty="0"/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ADB26D15-E89A-9FB1-BA73-1F1CF1DB02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3450531"/>
            <a:ext cx="10515600" cy="69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7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43F73-D8A3-699F-3293-9EF10D6C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FBCB2-3709-E596-3AC9-26D15A95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Results: DOTA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B87ED24-FD7A-F875-087D-3152F335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11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9AA7DE8-A4F7-C372-533F-0DA86165335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765469"/>
            <a:ext cx="10515600" cy="819438"/>
          </a:xfrm>
        </p:spPr>
        <p:txBody>
          <a:bodyPr>
            <a:noAutofit/>
          </a:bodyPr>
          <a:lstStyle/>
          <a:p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7EF0AED-11B5-5A82-3B75-97BE045AFF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altLang="zh-TW" b="1" dirty="0">
                <a:latin typeface="+mj-lt"/>
              </a:rPr>
              <a:t>Baseline (Light-Head R-CNN OBB): </a:t>
            </a:r>
            <a:r>
              <a:rPr lang="en-US" altLang="zh-TW" dirty="0">
                <a:latin typeface="+mj-lt"/>
              </a:rPr>
              <a:t>A fast two-stage detector modified to predict oriented boxes.</a:t>
            </a:r>
          </a:p>
          <a:p>
            <a:pPr algn="just"/>
            <a:r>
              <a:rPr lang="zh-TW" altLang="zh-TW" b="1" dirty="0">
                <a:latin typeface="+mj-lt"/>
              </a:rPr>
              <a:t>Competitor (DPSRP)</a:t>
            </a:r>
            <a:r>
              <a:rPr lang="zh-TW" altLang="zh-TW" dirty="0">
                <a:latin typeface="+mj-lt"/>
              </a:rPr>
              <a:t>: Deformable PS RoI Pooling learns flexible spatial offsets to adapt geometric deformations. 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9806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3D45-F2E0-57BD-B514-521EC4F3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3C447-422A-4F78-968C-E30E54BF8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Results: DOTA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F0A205-52AC-934F-43C0-2F0B998B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12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1E7BBD-36D0-590B-EA48-4CF7DCB38EA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765469"/>
            <a:ext cx="10515600" cy="819438"/>
          </a:xfrm>
        </p:spPr>
        <p:txBody>
          <a:bodyPr>
            <a:noAutofit/>
          </a:bodyPr>
          <a:lstStyle/>
          <a:p>
            <a:pPr algn="ctr"/>
            <a:r>
              <a:rPr lang="en-US" altLang="zh-TW" b="1" dirty="0"/>
              <a:t>Table 2. </a:t>
            </a:r>
            <a:r>
              <a:rPr lang="en-US" altLang="zh-TW" dirty="0"/>
              <a:t>Comparisons with state-of-the-art detectors on DOTA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92F937C-1B7F-1242-4B75-42E1DF5327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1825294"/>
            <a:ext cx="7150397" cy="39401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29AE5B5-2AD4-5B05-B523-8BD0DC5C2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597" y="1824962"/>
            <a:ext cx="698216" cy="3940175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B804D55-1A92-F66F-8733-6C338F18B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774" y="1824961"/>
            <a:ext cx="615252" cy="394017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5F93F9D-A1B3-D854-DCBF-B24391C4E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026" y="1854603"/>
            <a:ext cx="1212971" cy="388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85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E75E2-F45A-A7E9-E39B-227E14E6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Results: DOTA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419A518-A050-9BA1-FC94-90077797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13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33FAAE5-9635-8F16-0EF3-AC8537CADD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2707737"/>
            <a:ext cx="10515600" cy="2175951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2B0C31B-D26B-E923-4D05-46E224170D0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210300"/>
            <a:ext cx="10515600" cy="819438"/>
          </a:xfrm>
        </p:spPr>
        <p:txBody>
          <a:bodyPr>
            <a:noAutofit/>
          </a:bodyPr>
          <a:lstStyle/>
          <a:p>
            <a:pPr algn="ctr"/>
            <a:r>
              <a:rPr lang="en-US" altLang="zh-TW" b="1" dirty="0"/>
              <a:t>Table 3. </a:t>
            </a:r>
            <a:r>
              <a:rPr lang="en-US" altLang="zh-TW" dirty="0"/>
              <a:t>Comparison of our </a:t>
            </a:r>
            <a:r>
              <a:rPr lang="en-US" altLang="zh-TW" dirty="0" err="1"/>
              <a:t>RoI</a:t>
            </a:r>
            <a:r>
              <a:rPr lang="en-US" altLang="zh-TW" dirty="0"/>
              <a:t> Transformer with deformable PS </a:t>
            </a:r>
            <a:r>
              <a:rPr lang="en-US" altLang="zh-TW" dirty="0" err="1"/>
              <a:t>RoI</a:t>
            </a:r>
            <a:r>
              <a:rPr lang="en-US" altLang="zh-TW" dirty="0"/>
              <a:t> pooling and Light-Head R-CNN OBB on accuracy, speed and memory.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7111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967AF-BDD0-E22C-A821-F0C1899DB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Results: DOTA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085D30-42DD-C74B-27C3-C513745A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t>14</a:t>
            </a:fld>
            <a:r>
              <a:rPr lang="en-US" altLang="zh-TW" dirty="0"/>
              <a:t>/15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58E99167-5478-FB30-8019-D7BC71A07E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2515612"/>
            <a:ext cx="10515600" cy="2560200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E37498-6E3E-5990-BBC4-269663C6398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352378"/>
            <a:ext cx="10515600" cy="727406"/>
          </a:xfrm>
        </p:spPr>
        <p:txBody>
          <a:bodyPr>
            <a:normAutofit/>
          </a:bodyPr>
          <a:lstStyle/>
          <a:p>
            <a:pPr algn="ctr"/>
            <a:r>
              <a:rPr lang="en-US" altLang="zh-TW" b="1" dirty="0"/>
              <a:t>Figure 4. </a:t>
            </a:r>
            <a:r>
              <a:rPr lang="en-US" altLang="zh-TW" dirty="0"/>
              <a:t>Visualization of detection on the scene where many densely packed instances exist.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8875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235EA-342A-1238-A5B7-E59084EE3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E06BAF-BEDE-70EA-9118-5896DC0DB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Ablation Study on DOTA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04B752-4E2B-149D-174B-362D0883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pPr/>
              <a:t>15</a:t>
            </a:fld>
            <a:r>
              <a:rPr lang="en-US" altLang="zh-TW" dirty="0"/>
              <a:t>/15</a:t>
            </a:r>
            <a:endParaRPr lang="zh-TW" altLang="en-US" dirty="0">
              <a:latin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C69949C-B842-7A14-280E-864DCEADE6A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765469"/>
            <a:ext cx="10515600" cy="819438"/>
          </a:xfrm>
        </p:spPr>
        <p:txBody>
          <a:bodyPr>
            <a:noAutofit/>
          </a:bodyPr>
          <a:lstStyle/>
          <a:p>
            <a:pPr algn="ctr"/>
            <a:r>
              <a:rPr lang="en-US" altLang="zh-TW" b="1" dirty="0"/>
              <a:t>Table 4. </a:t>
            </a:r>
            <a:r>
              <a:rPr lang="en-US" altLang="zh-TW" dirty="0"/>
              <a:t>Results of ablation studies. (Without FPN)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5D3495E3-D7FE-85FF-BC9C-F83211B348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3763546"/>
            <a:ext cx="10515600" cy="200192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326D23B-A222-F151-69B5-D310D7EFB813}"/>
              </a:ext>
            </a:extLst>
          </p:cNvPr>
          <p:cNvSpPr txBox="1"/>
          <p:nvPr/>
        </p:nvSpPr>
        <p:spPr>
          <a:xfrm>
            <a:off x="838200" y="1898446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Findings: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2400" dirty="0"/>
              <a:t>Plugging in the module alone gains 4.87 </a:t>
            </a:r>
            <a:r>
              <a:rPr lang="en-US" altLang="zh-TW" sz="2400" dirty="0" err="1"/>
              <a:t>mAP</a:t>
            </a:r>
            <a:r>
              <a:rPr lang="en-US" altLang="zh-TW" sz="2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2400" dirty="0"/>
              <a:t>A precise </a:t>
            </a:r>
            <a:r>
              <a:rPr lang="en-US" altLang="zh-TW" sz="2400" dirty="0" err="1"/>
              <a:t>RRoI</a:t>
            </a:r>
            <a:r>
              <a:rPr lang="en-US" altLang="zh-TW" sz="2400" dirty="0"/>
              <a:t> keeps almost no background, so mild enlargement adds 2.86 </a:t>
            </a:r>
            <a:r>
              <a:rPr lang="en-US" altLang="zh-TW" sz="2400" dirty="0" err="1"/>
              <a:t>mAP</a:t>
            </a:r>
            <a:r>
              <a:rPr lang="en-US" altLang="zh-TW" sz="2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2400" dirty="0"/>
              <a:t>Skipping NMS on </a:t>
            </a:r>
            <a:r>
              <a:rPr lang="en-US" altLang="zh-TW" sz="2400" dirty="0" err="1"/>
              <a:t>RRoIs</a:t>
            </a:r>
            <a:r>
              <a:rPr lang="en-US" altLang="zh-TW" sz="2400" dirty="0"/>
              <a:t> keeps more proposals and raises recall, adding 1.5 </a:t>
            </a:r>
            <a:r>
              <a:rPr lang="en-US" altLang="zh-TW" sz="2400" dirty="0" err="1"/>
              <a:t>mAP</a:t>
            </a:r>
            <a:r>
              <a:rPr lang="en-US" altLang="zh-TW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8074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9037-4248-43BF-4DC2-F04D835F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EC5EEA-C9AE-7B81-FEA7-D4625E24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1B6C94-1DE0-29C1-E1D7-1FD4E813C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Application Limit: </a:t>
            </a:r>
            <a:r>
              <a:rPr lang="en-US" altLang="zh-TW" dirty="0"/>
              <a:t>Fails in ambiguous scenes without global context </a:t>
            </a:r>
          </a:p>
          <a:p>
            <a:r>
              <a:rPr lang="en-US" altLang="zh-TW" b="1" dirty="0"/>
              <a:t>Future Work</a:t>
            </a:r>
            <a:r>
              <a:rPr lang="en-US" altLang="zh-TW" dirty="0"/>
              <a:t>: Integrate broader contextual learning networks to distinguish objects from confusing backgrounds.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5B1599-D086-87AF-0E83-CA103634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03E9-C83A-43F4-B5DF-B1A3125A14D7}" type="slidenum">
              <a:rPr lang="zh-TW" altLang="en-US" smtClean="0"/>
              <a:t>16</a:t>
            </a:fld>
            <a:r>
              <a:rPr lang="en-US" altLang="zh-TW" dirty="0"/>
              <a:t>/15</a:t>
            </a:r>
            <a:endParaRPr lang="zh-TW" altLang="en-US" dirty="0"/>
          </a:p>
        </p:txBody>
      </p:sp>
      <p:sp>
        <p:nvSpPr>
          <p:cNvPr id="6" name="內容版面配置區 6">
            <a:extLst>
              <a:ext uri="{FF2B5EF4-FFF2-40B4-BE49-F238E27FC236}">
                <a16:creationId xmlns:a16="http://schemas.microsoft.com/office/drawing/2014/main" id="{6C693742-0961-FEFE-339C-C8BC002D35A0}"/>
              </a:ext>
            </a:extLst>
          </p:cNvPr>
          <p:cNvSpPr txBox="1">
            <a:spLocks/>
          </p:cNvSpPr>
          <p:nvPr/>
        </p:nvSpPr>
        <p:spPr>
          <a:xfrm>
            <a:off x="2453674" y="5793880"/>
            <a:ext cx="7284649" cy="4114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1800" b="1" dirty="0"/>
              <a:t>Figure 6. </a:t>
            </a:r>
            <a:r>
              <a:rPr lang="en-US" altLang="zh-TW" sz="1800" dirty="0"/>
              <a:t>Failure cases. </a:t>
            </a:r>
            <a:endParaRPr lang="zh-TW" altLang="en-US" sz="1800" dirty="0"/>
          </a:p>
        </p:txBody>
      </p:sp>
      <p:pic>
        <p:nvPicPr>
          <p:cNvPr id="7" name="內容版面配置區 3">
            <a:extLst>
              <a:ext uri="{FF2B5EF4-FFF2-40B4-BE49-F238E27FC236}">
                <a16:creationId xmlns:a16="http://schemas.microsoft.com/office/drawing/2014/main" id="{6FD3A00B-7E5E-E646-2DCE-0E7E45FCD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675" y="3429000"/>
            <a:ext cx="7284650" cy="227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33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nin Paper Standard">
      <a:majorFont>
        <a:latin typeface="Times New Roman"/>
        <a:ea typeface="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811</Words>
  <Application>Microsoft Office PowerPoint</Application>
  <PresentationFormat>寬螢幕</PresentationFormat>
  <Paragraphs>94</Paragraphs>
  <Slides>16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Arial</vt:lpstr>
      <vt:lpstr>Times New Roman</vt:lpstr>
      <vt:lpstr>Office 佈景主題</vt:lpstr>
      <vt:lpstr>Learning RoI Transformer for Oriented Object Detection in Aerial Images</vt:lpstr>
      <vt:lpstr>Introduction: Horizontal RoIs</vt:lpstr>
      <vt:lpstr>Introduction: HROI v.s. RROI</vt:lpstr>
      <vt:lpstr>Method: RoI Transformer</vt:lpstr>
      <vt:lpstr>Method: Pipeline</vt:lpstr>
      <vt:lpstr>Method: Relative Offset</vt:lpstr>
      <vt:lpstr>Method: RRoI warping</vt:lpstr>
      <vt:lpstr>Datasets:</vt:lpstr>
      <vt:lpstr>Datasets: Preprocessing</vt:lpstr>
      <vt:lpstr>Results: HSRC2016</vt:lpstr>
      <vt:lpstr>Results: DOTA</vt:lpstr>
      <vt:lpstr>Results: DOTA</vt:lpstr>
      <vt:lpstr>Results: DOTA</vt:lpstr>
      <vt:lpstr>Results: DOTA</vt:lpstr>
      <vt:lpstr>Ablation Study on DOTA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吳杰恩</dc:creator>
  <cp:lastModifiedBy>吳杰恩</cp:lastModifiedBy>
  <cp:revision>27</cp:revision>
  <dcterms:created xsi:type="dcterms:W3CDTF">2026-08-02T04:57:57Z</dcterms:created>
  <dcterms:modified xsi:type="dcterms:W3CDTF">2026-08-26T12:08:52Z</dcterms:modified>
</cp:coreProperties>
</file>