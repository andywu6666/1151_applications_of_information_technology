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0"/>
  </p:notesMasterIdLst>
  <p:handoutMasterIdLst>
    <p:handoutMasterId r:id="rId51"/>
  </p:handoutMasterIdLst>
  <p:sldIdLst>
    <p:sldId id="256" r:id="rId5"/>
    <p:sldId id="257" r:id="rId6"/>
    <p:sldId id="258" r:id="rId7"/>
    <p:sldId id="259" r:id="rId8"/>
    <p:sldId id="260" r:id="rId9"/>
    <p:sldId id="298" r:id="rId10"/>
    <p:sldId id="261" r:id="rId11"/>
    <p:sldId id="262" r:id="rId12"/>
    <p:sldId id="263" r:id="rId13"/>
    <p:sldId id="299" r:id="rId14"/>
    <p:sldId id="265" r:id="rId15"/>
    <p:sldId id="300" r:id="rId16"/>
    <p:sldId id="267" r:id="rId17"/>
    <p:sldId id="268" r:id="rId18"/>
    <p:sldId id="269" r:id="rId19"/>
    <p:sldId id="301" r:id="rId20"/>
    <p:sldId id="272" r:id="rId21"/>
    <p:sldId id="273" r:id="rId22"/>
    <p:sldId id="274" r:id="rId23"/>
    <p:sldId id="302" r:id="rId24"/>
    <p:sldId id="275" r:id="rId25"/>
    <p:sldId id="276" r:id="rId26"/>
    <p:sldId id="277" r:id="rId27"/>
    <p:sldId id="278" r:id="rId28"/>
    <p:sldId id="303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7" r:id="rId37"/>
    <p:sldId id="286" r:id="rId38"/>
    <p:sldId id="304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03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727" y="4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C3607A73-916B-0989-C534-6B6FC0F091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50A4054-F238-9092-625B-7281B6A2D4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2437A-C820-4422-BE1F-AC04904273CF}" type="datetimeFigureOut">
              <a:rPr lang="zh-TW" altLang="en-US" smtClean="0"/>
              <a:t>2026/10/22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0EE15BC-FA1A-FDCF-2BE7-B64912760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8D8547-15D0-66FF-604C-0E20F6E547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3A81A3-6DD1-41A0-92C8-1885C885C5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27983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1265C-840D-436B-9CC7-A6F8BDAC4673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32443-3239-41A0-AE9D-E2E5FF03A9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4697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2479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830C-7E1D-CBAC-739D-A865FDA4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20B7EE-C230-02AE-092D-FFCC3AD9C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4C34B1F-1C70-E614-5CFB-36F926A4D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9149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809-121B-4E5A-BE62-53DF09ABEA69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F607-6055-4C11-A526-CC5DB9039C57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0EA04-394B-44A8-BE77-F9A7449D85A0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3DF27-1F47-481F-95B9-2AAEDF716FAC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C589-1FCC-4E26-8D20-38553CA4B844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C4B0B-2E05-4DF0-B1A9-4ADEEA96A231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2E7D-E627-4433-93D5-A38070E0AEBE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4F78-1642-4623-B6B9-B093B7B51865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C221-50F5-4C5C-882F-A624B403FD3E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46BA-972B-40DB-AD1C-EC07A56CC736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ED657-AF99-4E1D-A020-83DB03F41E18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D3B9B-A281-4620-87DC-118827A73737}" type="datetime1">
              <a:rPr lang="en-US" altLang="zh-TW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789920" cy="358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Index Terms: </a:t>
            </a:r>
            <a:r>
              <a:rPr lang="en-US" sz="1000" b="0" dirty="0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Computation and Language (cs.CL); Artificial Intelligence (cs.AI); Machine Learning (</a:t>
            </a:r>
            <a:r>
              <a:rPr lang="en-US" sz="1000" b="0" dirty="0" err="1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cs.LG</a:t>
            </a:r>
            <a:r>
              <a:rPr lang="en-US" sz="1000" b="0" dirty="0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)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1000" b="0" dirty="0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Citations:9620</a:t>
            </a:r>
            <a:endParaRPr sz="1000" b="0" dirty="0">
              <a:solidFill>
                <a:srgbClr val="000000"/>
              </a:solidFill>
              <a:latin typeface="Noto Serif TC Black" panose="02020200000000000000" pitchFamily="18" charset="-120"/>
              <a:ea typeface="Noto Serif TC Black" panose="020202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14748"/>
            <a:ext cx="10332720" cy="931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900" b="1" i="0" dirty="0" err="1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DeepSeekMath</a:t>
            </a:r>
            <a:r>
              <a:rPr sz="2900" b="1" i="0" dirty="0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: Pushing the Limits of Mathematical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2900" b="1" i="0" dirty="0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Reasoning in Open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04357"/>
            <a:ext cx="996696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Zhihong Shao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1,2∗†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, </a:t>
            </a:r>
            <a:r>
              <a:rPr lang="en-US" altLang="zh-TW" dirty="0" err="1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Peiyi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 Wang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1,3∗†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, </a:t>
            </a:r>
            <a:r>
              <a:rPr lang="en-US" altLang="zh-TW" dirty="0" err="1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Qihao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 Zhu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1,3∗†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, </a:t>
            </a:r>
            <a:r>
              <a:rPr lang="en-US" altLang="zh-TW" dirty="0" err="1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Runxin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 Xu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, </a:t>
            </a:r>
            <a:r>
              <a:rPr lang="en-US" altLang="zh-TW" dirty="0" err="1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Junxiao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 Song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</a:t>
            </a:r>
            <a:endParaRPr lang="en-US" altLang="zh-TW" dirty="0">
              <a:latin typeface="Noto Serif TC Black" panose="02020200000000000000" pitchFamily="18" charset="-120"/>
              <a:ea typeface="Noto Serif TC Black" panose="02020200000000000000" pitchFamily="18" charset="-120"/>
            </a:endParaRPr>
          </a:p>
          <a:p>
            <a:pPr algn="ctr"/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Xiao Bi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,  </a:t>
            </a:r>
            <a:r>
              <a:rPr lang="en-US" altLang="zh-TW" dirty="0" err="1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Haowei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 Zhang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 ,</a:t>
            </a:r>
            <a:r>
              <a:rPr lang="en-US" altLang="zh-TW" dirty="0" err="1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Mingchuan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 Zhang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, Y.K. Li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, Y. Wu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, Daya Guo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1∗</a:t>
            </a:r>
            <a:endParaRPr lang="en-US" altLang="zh-TW" dirty="0">
              <a:latin typeface="Noto Serif TC Black" panose="02020200000000000000" pitchFamily="18" charset="-120"/>
              <a:ea typeface="Noto Serif TC Black" panose="02020200000000000000" pitchFamily="18" charset="-120"/>
            </a:endParaRPr>
          </a:p>
          <a:p>
            <a:pPr algn="ctr"/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1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DeepSeek-AI, 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2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Tsinghua University, </a:t>
            </a:r>
            <a:r>
              <a:rPr lang="en-US" altLang="zh-TW" baseline="30000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3</a:t>
            </a:r>
            <a:r>
              <a:rPr lang="en-US" altLang="zh-TW" dirty="0">
                <a:latin typeface="Noto Serif TC Black" panose="02020200000000000000" pitchFamily="18" charset="-120"/>
                <a:ea typeface="Noto Serif TC Black" panose="02020200000000000000" pitchFamily="18" charset="-120"/>
              </a:rPr>
              <a:t>Peking University</a:t>
            </a:r>
            <a:endParaRPr sz="1400" b="0" i="0" dirty="0">
              <a:solidFill>
                <a:srgbClr val="000000"/>
              </a:solidFill>
              <a:latin typeface="Noto Serif TC Black" panose="02020200000000000000" pitchFamily="18" charset="-120"/>
              <a:ea typeface="Noto Serif TC Black" panose="020202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4069080"/>
            <a:ext cx="9784080" cy="711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1" i="0" dirty="0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arXiv:2402.03300v3 [cs.CL]  27 Apr 2024</a:t>
            </a:r>
            <a:endParaRPr lang="en-US" sz="1300" b="1" i="0" dirty="0">
              <a:solidFill>
                <a:srgbClr val="000000"/>
              </a:solidFill>
              <a:latin typeface="Noto Serif TC Black" panose="02020200000000000000" pitchFamily="18" charset="-120"/>
              <a:ea typeface="Noto Serif TC Black" panose="02020200000000000000" pitchFamily="18" charset="-120"/>
              <a:cs typeface="Arial" panose="020B0604020202020204" pitchFamily="34" charset="0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altLang="zh-TW" sz="1300" b="1" dirty="0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DeepSeek-AI 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1" dirty="0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Code:</a:t>
            </a:r>
            <a:r>
              <a:rPr lang="zh-TW" altLang="en-US" sz="1300" b="1" dirty="0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1300" b="1" dirty="0">
                <a:solidFill>
                  <a:srgbClr val="000000"/>
                </a:solidFill>
                <a:latin typeface="Noto Serif TC Black" panose="02020200000000000000" pitchFamily="18" charset="-120"/>
                <a:ea typeface="Noto Serif TC Black" panose="02020200000000000000" pitchFamily="18" charset="-120"/>
                <a:cs typeface="Arial" panose="020B0604020202020204" pitchFamily="34" charset="0"/>
              </a:rPr>
              <a:t>https://github.com/deepseek-ai/DeepSeek-Math</a:t>
            </a:r>
            <a:endParaRPr sz="1300" b="1" i="0" dirty="0">
              <a:solidFill>
                <a:srgbClr val="000000"/>
              </a:solidFill>
              <a:latin typeface="Noto Serif TC Black" panose="02020200000000000000" pitchFamily="18" charset="-120"/>
              <a:ea typeface="Noto Serif TC Black" panose="020202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E707B81D-C11E-4A9E-E5FE-2E43B2BC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1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Research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98448"/>
            <a:ext cx="5669280" cy="5669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550" b="1" dirty="0">
                <a:solidFill>
                  <a:srgbClr val="000000"/>
                </a:solidFill>
                <a:latin typeface="Georgia"/>
              </a:rPr>
              <a:t>• Mathematical reasoning: </a:t>
            </a:r>
            <a:r>
              <a:rPr sz="1550" dirty="0">
                <a:solidFill>
                  <a:srgbClr val="000000"/>
                </a:solidFill>
                <a:latin typeface="Georgia"/>
              </a:rPr>
              <a:t>requires structured, multi-step solutions rather than surface-level pattern matching.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75104"/>
            <a:ext cx="5669280" cy="8229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550" b="1" dirty="0">
                <a:solidFill>
                  <a:srgbClr val="000000"/>
                </a:solidFill>
                <a:latin typeface="Georgia"/>
              </a:rPr>
              <a:t>• Open-model gap: </a:t>
            </a:r>
            <a:r>
              <a:rPr sz="1550" dirty="0">
                <a:solidFill>
                  <a:srgbClr val="000000"/>
                </a:solidFill>
                <a:latin typeface="Georgia"/>
              </a:rPr>
              <a:t>strong systems such as GPT-4 and Gemini Ultra were not publicly available; open models trailed behind.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8668A4D-917E-A2D6-1419-EDC360D12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29024"/>
            <a:ext cx="6760205" cy="3570608"/>
          </a:xfrm>
          <a:prstGeom prst="rect">
            <a:avLst/>
          </a:prstGeom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7C4F184-9CBB-DB83-412D-DA7D35843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1.1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101851"/>
            <a:ext cx="5020056" cy="204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000000"/>
                </a:solidFill>
                <a:latin typeface="Georgia"/>
              </a:rPr>
              <a:t>Math Pre-Training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101851"/>
            <a:ext cx="5020056" cy="2040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000000"/>
                </a:solidFill>
                <a:latin typeface="Georgia"/>
              </a:rPr>
              <a:t>Exploration and Analysis of Reinforcement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713442"/>
            <a:ext cx="4892040" cy="724237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 dirty="0">
                <a:solidFill>
                  <a:srgbClr val="000000"/>
                </a:solidFill>
                <a:latin typeface="Georgia"/>
              </a:rPr>
              <a:t>• GRPO: </a:t>
            </a:r>
            <a:r>
              <a:rPr sz="1450" dirty="0">
                <a:solidFill>
                  <a:srgbClr val="000000"/>
                </a:solidFill>
                <a:latin typeface="Georgia"/>
              </a:rPr>
              <a:t>removes the separate value/critic model and uses relative scores of multiple outputs</a:t>
            </a:r>
            <a:r>
              <a:rPr lang="en-US" sz="1450" dirty="0">
                <a:solidFill>
                  <a:srgbClr val="000000"/>
                </a:solidFill>
                <a:latin typeface="Georgia"/>
              </a:rPr>
              <a:t>; reducing training resources compared to PPO</a:t>
            </a:r>
            <a:endParaRPr sz="14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36792" y="2688613"/>
            <a:ext cx="4892040" cy="49352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 dirty="0">
                <a:solidFill>
                  <a:srgbClr val="000000"/>
                </a:solidFill>
                <a:latin typeface="Georgia"/>
              </a:rPr>
              <a:t>• SFT-to-RL gains: </a:t>
            </a:r>
            <a:r>
              <a:rPr sz="1450" dirty="0">
                <a:solidFill>
                  <a:srgbClr val="000000"/>
                </a:solidFill>
                <a:latin typeface="Georgia"/>
              </a:rPr>
              <a:t>GSM8K improves 82.9% → 88.2%; MATH improves 46.8% → 51.7%.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3429000"/>
            <a:ext cx="4892040" cy="74028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 dirty="0">
                <a:solidFill>
                  <a:srgbClr val="000000"/>
                </a:solidFill>
                <a:latin typeface="Georgia"/>
              </a:rPr>
              <a:t>• Unified paradigm: </a:t>
            </a:r>
            <a:r>
              <a:rPr sz="1450" dirty="0">
                <a:solidFill>
                  <a:srgbClr val="000000"/>
                </a:solidFill>
                <a:latin typeface="Georgia"/>
              </a:rPr>
              <a:t>analyzes SFT, RFT, DPO, PPO and GRPO through data source, reward function and gradient coefficient.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B931BAC-C77B-D091-D2A4-0809ACDEBEEE}"/>
              </a:ext>
            </a:extLst>
          </p:cNvPr>
          <p:cNvSpPr txBox="1"/>
          <p:nvPr/>
        </p:nvSpPr>
        <p:spPr>
          <a:xfrm>
            <a:off x="850392" y="1713442"/>
            <a:ext cx="5300472" cy="3133871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 dirty="0">
                <a:solidFill>
                  <a:srgbClr val="000000"/>
                </a:solidFill>
                <a:latin typeface="Georgia"/>
              </a:rPr>
              <a:t>• </a:t>
            </a:r>
            <a:r>
              <a:rPr lang="en-US" sz="1450" b="1" dirty="0" err="1">
                <a:solidFill>
                  <a:srgbClr val="000000"/>
                </a:solidFill>
                <a:latin typeface="Georgia"/>
              </a:rPr>
              <a:t>DeepSeekMathCorpus</a:t>
            </a:r>
            <a:r>
              <a:rPr sz="1450" b="1" dirty="0">
                <a:solidFill>
                  <a:srgbClr val="000000"/>
                </a:solidFill>
                <a:latin typeface="Georgia"/>
              </a:rPr>
              <a:t>: </a:t>
            </a:r>
            <a:r>
              <a:rPr lang="en-US" sz="1450" dirty="0">
                <a:solidFill>
                  <a:srgbClr val="000000"/>
                </a:solidFill>
                <a:latin typeface="Georgia"/>
              </a:rPr>
              <a:t>a high-quality dataset of 120B tokens from web pages filtered for mathematical</a:t>
            </a:r>
          </a:p>
          <a:p>
            <a:pPr>
              <a:lnSpc>
                <a:spcPct val="108000"/>
              </a:lnSpc>
            </a:pPr>
            <a:r>
              <a:rPr lang="en-US" sz="1450" dirty="0">
                <a:solidFill>
                  <a:srgbClr val="000000"/>
                </a:solidFill>
                <a:latin typeface="Georgia"/>
              </a:rPr>
              <a:t>Content; 9 times the size of the recently released </a:t>
            </a:r>
            <a:r>
              <a:rPr lang="en-US" sz="1450" dirty="0" err="1">
                <a:solidFill>
                  <a:srgbClr val="000000"/>
                </a:solidFill>
                <a:latin typeface="Georgia"/>
              </a:rPr>
              <a:t>OpenWebMath</a:t>
            </a:r>
            <a:endParaRPr lang="en-US" sz="145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08000"/>
              </a:lnSpc>
            </a:pPr>
            <a:endParaRPr lang="en-US" sz="145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08000"/>
              </a:lnSpc>
            </a:pPr>
            <a:r>
              <a:rPr lang="en-US" altLang="zh-TW" sz="1450" b="1" dirty="0">
                <a:solidFill>
                  <a:srgbClr val="000000"/>
                </a:solidFill>
                <a:latin typeface="Georgia"/>
              </a:rPr>
              <a:t>• Competitive small model: </a:t>
            </a:r>
            <a:r>
              <a:rPr lang="en-US" altLang="zh-TW" sz="1450" dirty="0" err="1">
                <a:solidFill>
                  <a:srgbClr val="000000"/>
                </a:solidFill>
                <a:latin typeface="Georgia"/>
              </a:rPr>
              <a:t>DeepSeekMath</a:t>
            </a:r>
            <a:r>
              <a:rPr lang="en-US" altLang="zh-TW" sz="1450" dirty="0">
                <a:solidFill>
                  <a:srgbClr val="000000"/>
                </a:solidFill>
                <a:latin typeface="Georgia"/>
              </a:rPr>
              <a:t>-Base 7B reaches 36.2% on MATH, outperforming much larger prior systems such as Minerva 540B on this benchmark.</a:t>
            </a:r>
          </a:p>
          <a:p>
            <a:pPr>
              <a:lnSpc>
                <a:spcPct val="108000"/>
              </a:lnSpc>
            </a:pPr>
            <a:endParaRPr lang="en-US" sz="145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08000"/>
              </a:lnSpc>
            </a:pPr>
            <a:r>
              <a:rPr lang="en-US" altLang="zh-TW" sz="1450" b="1" dirty="0">
                <a:solidFill>
                  <a:srgbClr val="000000"/>
                </a:solidFill>
                <a:latin typeface="Georgia"/>
              </a:rPr>
              <a:t>• Code pre-training: </a:t>
            </a:r>
            <a:r>
              <a:rPr lang="en-US" altLang="zh-TW" sz="1450" dirty="0">
                <a:solidFill>
                  <a:srgbClr val="000000"/>
                </a:solidFill>
                <a:latin typeface="Georgia"/>
              </a:rPr>
              <a:t>starting from a code-trained model improves mathematical reasoning.</a:t>
            </a:r>
          </a:p>
          <a:p>
            <a:pPr>
              <a:lnSpc>
                <a:spcPct val="108000"/>
              </a:lnSpc>
            </a:pPr>
            <a:endParaRPr lang="en-US" sz="145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08000"/>
              </a:lnSpc>
            </a:pPr>
            <a:r>
              <a:rPr lang="en-US" altLang="zh-TW" sz="1450" b="1" dirty="0">
                <a:solidFill>
                  <a:srgbClr val="000000"/>
                </a:solidFill>
                <a:latin typeface="Georgia"/>
              </a:rPr>
              <a:t>• No notable improvements with training on </a:t>
            </a:r>
            <a:r>
              <a:rPr lang="en-US" altLang="zh-TW" sz="1450" b="1" dirty="0" err="1">
                <a:solidFill>
                  <a:srgbClr val="000000"/>
                </a:solidFill>
                <a:latin typeface="Georgia"/>
              </a:rPr>
              <a:t>arXiv</a:t>
            </a:r>
            <a:r>
              <a:rPr lang="en-US" altLang="zh-TW" sz="1450" b="1" dirty="0">
                <a:solidFill>
                  <a:srgbClr val="000000"/>
                </a:solidFill>
                <a:latin typeface="Georgia"/>
              </a:rPr>
              <a:t> papers in this paper</a:t>
            </a:r>
            <a:endParaRPr lang="en-US" altLang="zh-TW" sz="14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A7170F-16D3-2EB2-0CE7-C57CF775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1.2 Summary of Evaluations and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105604"/>
            <a:ext cx="2889504" cy="4808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500" b="1" i="0" u="sng" dirty="0">
                <a:solidFill>
                  <a:srgbClr val="000000"/>
                </a:solidFill>
                <a:latin typeface="Georgia"/>
              </a:rPr>
              <a:t>English and Chinese</a:t>
            </a:r>
            <a:r>
              <a:rPr lang="zh-TW" altLang="en-US" sz="1500" b="1" i="0" u="sng" dirty="0">
                <a:solidFill>
                  <a:srgbClr val="000000"/>
                </a:solidFill>
                <a:latin typeface="Georgia"/>
              </a:rPr>
              <a:t> </a:t>
            </a:r>
            <a:r>
              <a:rPr sz="1500" b="1" i="0" u="sng" dirty="0">
                <a:solidFill>
                  <a:srgbClr val="000000"/>
                </a:solidFill>
                <a:latin typeface="Georgia"/>
              </a:rPr>
              <a:t>Mathematical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98833"/>
            <a:ext cx="2889504" cy="192411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 dirty="0">
                <a:solidFill>
                  <a:srgbClr val="000000"/>
                </a:solidFill>
                <a:latin typeface="Georgia"/>
              </a:rPr>
              <a:t>GSM8K · MATH · SAT · OCW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 dirty="0">
                <a:solidFill>
                  <a:srgbClr val="000000"/>
                </a:solidFill>
                <a:latin typeface="Georgia"/>
              </a:rPr>
              <a:t>MMLU-STEM · CMATH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 dirty="0">
                <a:solidFill>
                  <a:srgbClr val="000000"/>
                </a:solidFill>
                <a:latin typeface="Georgia"/>
              </a:rPr>
              <a:t>Gaokao-</a:t>
            </a:r>
            <a:r>
              <a:rPr sz="1300" b="0" i="0" dirty="0" err="1">
                <a:solidFill>
                  <a:srgbClr val="000000"/>
                </a:solidFill>
                <a:latin typeface="Georgia"/>
              </a:rPr>
              <a:t>MathCloze</a:t>
            </a:r>
            <a:r>
              <a:rPr sz="1300" b="0" i="0" dirty="0">
                <a:solidFill>
                  <a:srgbClr val="000000"/>
                </a:solidFill>
                <a:latin typeface="Georgia"/>
              </a:rPr>
              <a:t> · Gaokao-</a:t>
            </a:r>
            <a:r>
              <a:rPr sz="1300" b="0" i="0" dirty="0" err="1">
                <a:solidFill>
                  <a:srgbClr val="000000"/>
                </a:solidFill>
                <a:latin typeface="Georgia"/>
              </a:rPr>
              <a:t>MathQA</a:t>
            </a:r>
            <a:endParaRPr lang="en-US" sz="1300" b="0" i="0" dirty="0">
              <a:solidFill>
                <a:srgbClr val="000000"/>
              </a:solidFill>
              <a:latin typeface="Georgia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endParaRPr lang="en-US" sz="1300" b="0" i="0" dirty="0">
              <a:solidFill>
                <a:srgbClr val="000000"/>
              </a:solidFill>
              <a:latin typeface="Georgia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evaluate models’ ability to generate self-contained text solutions without tool use, and also the ability to solve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problems using Python.</a:t>
            </a:r>
            <a:endParaRPr sz="1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36008" y="1230253"/>
            <a:ext cx="2889504" cy="2315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500" b="1" i="0" u="sng" dirty="0">
                <a:solidFill>
                  <a:srgbClr val="000000"/>
                </a:solidFill>
                <a:latin typeface="Georgia"/>
              </a:rPr>
              <a:t>Formal Mathematics:</a:t>
            </a:r>
            <a:endParaRPr sz="1500" b="1" i="0" u="sng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51248" y="2256541"/>
            <a:ext cx="2889504" cy="18087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evaluate </a:t>
            </a:r>
            <a:r>
              <a:rPr lang="en-US" sz="1300" b="0" i="0" dirty="0" err="1">
                <a:solidFill>
                  <a:srgbClr val="000000"/>
                </a:solidFill>
                <a:latin typeface="Georgia"/>
              </a:rPr>
              <a:t>DeepSeekMath</a:t>
            </a: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-Base using the informal-to-formal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theorem proving task from (Jiang et al., 2022) on miniF2F (Zheng et al., 2021) with Isabelle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(Wenzel et al., 2008) chosen to be the proof assistant; strong few-shot </a:t>
            </a:r>
            <a:r>
              <a:rPr lang="en-US" sz="1300" b="0" i="0" dirty="0" err="1">
                <a:solidFill>
                  <a:srgbClr val="000000"/>
                </a:solidFill>
                <a:latin typeface="Georgia"/>
              </a:rPr>
              <a:t>autoformalization</a:t>
            </a: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 performance</a:t>
            </a:r>
            <a:endParaRPr sz="1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72854" y="1104680"/>
            <a:ext cx="2889504" cy="730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500" b="1" i="0" u="sng" dirty="0">
                <a:solidFill>
                  <a:srgbClr val="000000"/>
                </a:solidFill>
                <a:latin typeface="Georgia"/>
              </a:rPr>
              <a:t>Natural Language Understanding, Reasoning, and Code:</a:t>
            </a:r>
            <a:endParaRPr sz="1500" b="1" i="0" u="sng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72854" y="2015536"/>
            <a:ext cx="2889504" cy="282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evaluate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0" i="0" dirty="0" err="1">
                <a:solidFill>
                  <a:srgbClr val="000000"/>
                </a:solidFill>
                <a:latin typeface="Georgia"/>
              </a:rPr>
              <a:t>DeepSeekMath</a:t>
            </a: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-Base on the Massive Multitask Language Understanding (MMLU)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Benchmark, BIG-Bench Hard (BBH)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dirty="0">
                <a:solidFill>
                  <a:srgbClr val="000000"/>
                </a:solidFill>
                <a:latin typeface="Georgia"/>
              </a:rPr>
              <a:t>f</a:t>
            </a: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or tasks that mostly require multi-step reasoning to solve ;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0" i="0" dirty="0" err="1">
                <a:solidFill>
                  <a:srgbClr val="000000"/>
                </a:solidFill>
                <a:latin typeface="Georgia"/>
              </a:rPr>
              <a:t>HumanEval</a:t>
            </a:r>
            <a:endParaRPr lang="en-US" sz="1300" b="0" i="0" dirty="0">
              <a:solidFill>
                <a:srgbClr val="000000"/>
              </a:solidFill>
              <a:latin typeface="Georgia"/>
            </a:endParaRP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(Chen et al., 2021) and MBPP (Austin et al., 2021) which are widely used to evaluate code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lang="en-US" sz="1300" b="0" i="0" dirty="0">
                <a:solidFill>
                  <a:srgbClr val="000000"/>
                </a:solidFill>
                <a:latin typeface="Georgia"/>
              </a:rPr>
              <a:t>language models.</a:t>
            </a:r>
            <a:endParaRPr sz="1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DE7EE1-EF74-1F45-9F3C-11A4222A6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2 Math Pre-Training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033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Design 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023360"/>
            <a:ext cx="1051560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500" b="1">
                <a:solidFill>
                  <a:srgbClr val="000000"/>
                </a:solidFill>
                <a:latin typeface="Georgia"/>
              </a:rPr>
              <a:t>• Data: </a:t>
            </a:r>
            <a:r>
              <a:rPr sz="1500">
                <a:solidFill>
                  <a:srgbClr val="000000"/>
                </a:solidFill>
                <a:latin typeface="Georgia"/>
              </a:rPr>
              <a:t>filter a large public web crawl into a high-quality multilingual math corpus.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443984"/>
            <a:ext cx="1051560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500" b="1" dirty="0">
                <a:solidFill>
                  <a:srgbClr val="000000"/>
                </a:solidFill>
                <a:latin typeface="Georgia"/>
              </a:rPr>
              <a:t>• Initialization: </a:t>
            </a:r>
            <a:r>
              <a:rPr sz="1500" dirty="0">
                <a:solidFill>
                  <a:srgbClr val="000000"/>
                </a:solidFill>
                <a:latin typeface="Georgia"/>
              </a:rPr>
              <a:t>use DeepSeek-Coder-Base-v1.5 7B rather than a general-purpose base model.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864608"/>
            <a:ext cx="1051560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500" b="1" dirty="0">
                <a:solidFill>
                  <a:srgbClr val="000000"/>
                </a:solidFill>
                <a:latin typeface="Georgia"/>
              </a:rPr>
              <a:t>• Optimization: </a:t>
            </a:r>
            <a:r>
              <a:rPr sz="1500" dirty="0">
                <a:solidFill>
                  <a:srgbClr val="000000"/>
                </a:solidFill>
                <a:latin typeface="Georgia"/>
              </a:rPr>
              <a:t>combine continued pre-training, math-specific supervised fine-tuning and group-relative RL.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The 120B-token DeepSeekMath Corpus is the math-specific data source; the 500B tokens refer to the full Base-model continuation mix.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1417320"/>
            <a:ext cx="10561320" cy="1993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20" b="1" dirty="0">
                <a:solidFill>
                  <a:srgbClr val="000000"/>
                </a:solidFill>
                <a:latin typeface="Georgia"/>
              </a:rPr>
              <a:t>1. Initialize: </a:t>
            </a:r>
            <a:r>
              <a:rPr sz="1520" dirty="0">
                <a:solidFill>
                  <a:srgbClr val="000000"/>
                </a:solidFill>
                <a:latin typeface="Georgia"/>
              </a:rPr>
              <a:t>DeepSeek-Coder-Base-v1.5 7B.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20" b="1" dirty="0">
                <a:solidFill>
                  <a:srgbClr val="000000"/>
                </a:solidFill>
                <a:latin typeface="Georgia"/>
              </a:rPr>
              <a:t>2. Build corpus: </a:t>
            </a:r>
            <a:r>
              <a:rPr sz="1520" dirty="0">
                <a:solidFill>
                  <a:srgbClr val="000000"/>
                </a:solidFill>
                <a:latin typeface="Georgia"/>
              </a:rPr>
              <a:t>120B math tokens collected from Common Crawl.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20" b="1" dirty="0">
                <a:solidFill>
                  <a:srgbClr val="000000"/>
                </a:solidFill>
                <a:latin typeface="Georgia"/>
              </a:rPr>
              <a:t>3. Continue pre-training: </a:t>
            </a:r>
            <a:r>
              <a:rPr sz="1520" dirty="0">
                <a:solidFill>
                  <a:srgbClr val="000000"/>
                </a:solidFill>
                <a:latin typeface="Georgia"/>
              </a:rPr>
              <a:t>500B-token mixed training run.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20" b="1" dirty="0">
                <a:solidFill>
                  <a:srgbClr val="000000"/>
                </a:solidFill>
                <a:latin typeface="Georgia"/>
              </a:rPr>
              <a:t>4. Instruction-tune: </a:t>
            </a:r>
            <a:r>
              <a:rPr sz="1520" dirty="0">
                <a:solidFill>
                  <a:srgbClr val="000000"/>
                </a:solidFill>
                <a:latin typeface="Georgia"/>
              </a:rPr>
              <a:t>776K math instruction examples.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20" b="1" dirty="0">
                <a:solidFill>
                  <a:srgbClr val="000000"/>
                </a:solidFill>
                <a:latin typeface="Georgia"/>
              </a:rPr>
              <a:t>5. Reinforcement learning: </a:t>
            </a:r>
            <a:r>
              <a:rPr sz="1520" dirty="0">
                <a:solidFill>
                  <a:srgbClr val="000000"/>
                </a:solidFill>
                <a:latin typeface="Georgia"/>
              </a:rPr>
              <a:t>GRPO produces </a:t>
            </a:r>
            <a:r>
              <a:rPr sz="1520" dirty="0" err="1">
                <a:solidFill>
                  <a:srgbClr val="000000"/>
                </a:solidFill>
                <a:latin typeface="Georgia"/>
              </a:rPr>
              <a:t>DeepSeekMath</a:t>
            </a:r>
            <a:r>
              <a:rPr sz="1520" dirty="0">
                <a:solidFill>
                  <a:srgbClr val="000000"/>
                </a:solidFill>
                <a:latin typeface="Georgia"/>
              </a:rPr>
              <a:t>-RL.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FCA2128-901D-C9CC-087C-4E138D68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52E8D-DF4F-295D-E5EA-9050B33B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04901B-BD34-AB06-F735-FB82CF0AEF17}"/>
              </a:ext>
            </a:extLst>
          </p:cNvPr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2 Math Pre-Training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00CFC25-66D8-53B0-7EB6-22B7A51B9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36" y="2532145"/>
            <a:ext cx="7712730" cy="3674025"/>
          </a:xfrm>
          <a:prstGeom prst="rect">
            <a:avLst/>
          </a:prstGeom>
        </p:spPr>
      </p:pic>
      <p:sp>
        <p:nvSpPr>
          <p:cNvPr id="7" name="TextBox 29">
            <a:extLst>
              <a:ext uri="{FF2B5EF4-FFF2-40B4-BE49-F238E27FC236}">
                <a16:creationId xmlns:a16="http://schemas.microsoft.com/office/drawing/2014/main" id="{225A6F5C-13F3-7DBA-5642-5E3D118A65E4}"/>
              </a:ext>
            </a:extLst>
          </p:cNvPr>
          <p:cNvSpPr txBox="1"/>
          <p:nvPr/>
        </p:nvSpPr>
        <p:spPr>
          <a:xfrm>
            <a:off x="502920" y="960120"/>
            <a:ext cx="10561320" cy="189705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lang="en-US" altLang="zh-TW" sz="1520" b="1" dirty="0">
                <a:solidFill>
                  <a:srgbClr val="000000"/>
                </a:solidFill>
                <a:latin typeface="Georgia"/>
              </a:rPr>
              <a:t>*Math seed</a:t>
            </a:r>
            <a:r>
              <a:rPr sz="1520" b="1" dirty="0">
                <a:solidFill>
                  <a:srgbClr val="000000"/>
                </a:solidFill>
                <a:latin typeface="Georgia"/>
              </a:rPr>
              <a:t>: </a:t>
            </a:r>
            <a:r>
              <a:rPr lang="en-US" sz="1520" dirty="0">
                <a:solidFill>
                  <a:srgbClr val="000000"/>
                </a:solidFill>
                <a:latin typeface="Georgia"/>
              </a:rPr>
              <a:t> </a:t>
            </a:r>
            <a:r>
              <a:rPr lang="en-US" sz="1520" dirty="0" err="1">
                <a:solidFill>
                  <a:srgbClr val="000000"/>
                </a:solidFill>
                <a:latin typeface="Georgia"/>
              </a:rPr>
              <a:t>OpenWebMath</a:t>
            </a:r>
            <a:r>
              <a:rPr lang="en-US" sz="1520" dirty="0">
                <a:solidFill>
                  <a:srgbClr val="000000"/>
                </a:solidFill>
                <a:latin typeface="Georgia"/>
              </a:rPr>
              <a:t>, , a collection of high-quality mathematical web text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lang="en-US" sz="1520" b="1" dirty="0">
                <a:solidFill>
                  <a:srgbClr val="000000"/>
                </a:solidFill>
                <a:latin typeface="Georgia"/>
              </a:rPr>
              <a:t>*Randomly select 500,000 data points from the seed corpus as positive training examples and another 500,000 web pages from Common Crawl as negative ones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lang="en-US" sz="1520" dirty="0">
                <a:solidFill>
                  <a:srgbClr val="000000"/>
                </a:solidFill>
                <a:latin typeface="Georgia"/>
              </a:rPr>
              <a:t>*use https://fasttext.cc employ an open-source library for training; configuring the vector dimension to 256, learning rate to 0.1, the maximum length of word n-gram to 3, the minimum number of word occurrences to 3, and the number </a:t>
            </a:r>
            <a:r>
              <a:rPr lang="en-US" sz="1520" dirty="0" err="1">
                <a:solidFill>
                  <a:srgbClr val="000000"/>
                </a:solidFill>
                <a:latin typeface="Georgia"/>
              </a:rPr>
              <a:t>oftraining</a:t>
            </a:r>
            <a:r>
              <a:rPr lang="en-US" sz="1520" dirty="0">
                <a:solidFill>
                  <a:srgbClr val="000000"/>
                </a:solidFill>
                <a:latin typeface="Georgia"/>
              </a:rPr>
              <a:t> epochs to 3; employ URL-based deduplication and near-deduplication techniques, resulting in 40B HTML web pages.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4BD371-9953-01AE-83FC-5DD5A2DD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1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2.1 Data Collection and Decontamination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60120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 u="sng">
                <a:solidFill>
                  <a:srgbClr val="000000"/>
                </a:solidFill>
                <a:latin typeface="Georgia"/>
              </a:rPr>
              <a:t>Iterative Common Crawl Mining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The fourth iteration adds little new content: nearly 98% of the final data had already been collected by iteration three.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389888"/>
            <a:ext cx="10469880" cy="42793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Georgia"/>
              </a:rPr>
              <a:t>1. Seed corpus: </a:t>
            </a:r>
            <a:r>
              <a:rPr sz="1500">
                <a:solidFill>
                  <a:srgbClr val="000000"/>
                </a:solidFill>
                <a:latin typeface="Georgia"/>
              </a:rPr>
              <a:t>OpenWebMath supplies the positive examples.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Georgia"/>
              </a:rPr>
              <a:t>2. Train classifier: </a:t>
            </a:r>
            <a:r>
              <a:rPr sz="1500">
                <a:solidFill>
                  <a:srgbClr val="000000"/>
                </a:solidFill>
                <a:latin typeface="Georgia"/>
              </a:rPr>
              <a:t>fastText uses 500K positive and 500K negative examples.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Georgia"/>
              </a:rPr>
              <a:t>3. Recall pages: </a:t>
            </a:r>
            <a:r>
              <a:rPr sz="1500">
                <a:solidFill>
                  <a:srgbClr val="000000"/>
                </a:solidFill>
                <a:latin typeface="Georgia"/>
              </a:rPr>
              <a:t>retrieve and deduplicate about 40B HTML pages.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Georgia"/>
              </a:rPr>
              <a:t>4. Rank and filter: </a:t>
            </a:r>
            <a:r>
              <a:rPr sz="1500">
                <a:solidFill>
                  <a:srgbClr val="000000"/>
                </a:solidFill>
                <a:latin typeface="Georgia"/>
              </a:rPr>
              <a:t>retain the top 40B tokens in the first iteration.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Georgia"/>
              </a:rPr>
              <a:t>5. Improve the seed: </a:t>
            </a:r>
            <a:r>
              <a:rPr sz="1500">
                <a:solidFill>
                  <a:srgbClr val="000000"/>
                </a:solidFill>
                <a:latin typeface="Georgia"/>
              </a:rPr>
              <a:t>find mathematical domains and annotate URL paths.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Georgia"/>
              </a:rPr>
              <a:t>6. Repeat: </a:t>
            </a:r>
            <a:r>
              <a:rPr sz="1500">
                <a:solidFill>
                  <a:srgbClr val="000000"/>
                </a:solidFill>
                <a:latin typeface="Georgia"/>
              </a:rPr>
              <a:t>after four iterations, the corpus contains 35.5M pages and 120B tokens.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B3E4E7-439D-6A5A-9789-703DB7AA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2.1 Data Collection and Decontamination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234440"/>
            <a:ext cx="30723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 u="sng">
                <a:solidFill>
                  <a:srgbClr val="000000"/>
                </a:solidFill>
                <a:latin typeface="Georgia"/>
              </a:rPr>
              <a:t>Classifier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28216"/>
            <a:ext cx="3072384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256-dimensional vectors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Learning rate 0.1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Word n-gram = 3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Min word occurrences = 3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3 training epochs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234440"/>
            <a:ext cx="30723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Deduplication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28216"/>
            <a:ext cx="3072384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URL-based deduplication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Near-duplicate removal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Reduced Common Crawl to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40B HTML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234440"/>
            <a:ext cx="307238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Iterative enrichment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728216"/>
            <a:ext cx="3072384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Domains with &gt;10% first-round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collection flagged as math-related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Human annotators label relevant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URL paths to expand the 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44368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Benchmark Decontamination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392424"/>
            <a:ext cx="4672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Main filtering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3630168"/>
            <a:ext cx="4599431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Cambria Math"/>
              </a:rPr>
              <a:t>Remove a text segment if it contains an exact matching 10-gram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Cambria Math"/>
              </a:rPr>
              <a:t>from an evaluation benchmark.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392424"/>
            <a:ext cx="4672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Short benchmark 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3630168"/>
            <a:ext cx="4599431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Cambria Math"/>
              </a:rPr>
              <a:t>If a benchmark text is shorter than 10 grams but has ≥ 3 grams,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Cambria Math"/>
              </a:rPr>
              <a:t>use exact matching to filter contaminated pages.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81728"/>
            <a:ext cx="1024128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Benchmarks protected: </a:t>
            </a:r>
            <a:r>
              <a:rPr sz="1420">
                <a:solidFill>
                  <a:srgbClr val="000000"/>
                </a:solidFill>
                <a:latin typeface="Georgia"/>
              </a:rPr>
              <a:t>GSM8K, MATH, CMATH and AGIEval.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38344"/>
            <a:ext cx="1024128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Purpose: </a:t>
            </a:r>
            <a:r>
              <a:rPr sz="1420">
                <a:solidFill>
                  <a:srgbClr val="000000"/>
                </a:solidFill>
                <a:latin typeface="Georgia"/>
              </a:rPr>
              <a:t>reduce evaluation leakage between pre-training pages and benchmark questions/answers.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64D37A-1C01-61B7-F991-F328460B9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50" b="1" i="0">
                <a:solidFill>
                  <a:srgbClr val="000000"/>
                </a:solidFill>
                <a:latin typeface="Georgia"/>
              </a:rPr>
              <a:t>2.2 Validating the Quality of the DeepSeekMath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4183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1" dirty="0">
                <a:solidFill>
                  <a:srgbClr val="000000"/>
                </a:solidFill>
                <a:latin typeface="Georgia"/>
              </a:rPr>
              <a:t>Downstream results of DeepSeek-LLM 1.3B trained on different math corpora (few-shot </a:t>
            </a:r>
            <a:r>
              <a:rPr sz="1200" b="0" i="1" dirty="0" err="1">
                <a:solidFill>
                  <a:srgbClr val="000000"/>
                </a:solidFill>
                <a:latin typeface="Georgia"/>
              </a:rPr>
              <a:t>CoT</a:t>
            </a:r>
            <a:r>
              <a:rPr sz="1200" b="0" i="1" dirty="0">
                <a:solidFill>
                  <a:srgbClr val="000000"/>
                </a:solidFill>
                <a:latin typeface="Georgia"/>
              </a:rPr>
              <a:t>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" y="4825522"/>
            <a:ext cx="10149840" cy="690061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380" dirty="0">
                <a:solidFill>
                  <a:srgbClr val="000000"/>
                </a:solidFill>
                <a:latin typeface="Georgia"/>
              </a:rPr>
              <a:t>separately train a model on each mathematical corpus for 150B tokens; experiments are conducted using the efficient and light-weight HAI-LLM (High-flyer, 2023) training framework. Following the training practice of DeepSeek LLMs, we use the </a:t>
            </a:r>
            <a:r>
              <a:rPr lang="en-US" sz="1380" dirty="0" err="1">
                <a:solidFill>
                  <a:srgbClr val="000000"/>
                </a:solidFill>
                <a:latin typeface="Georgia"/>
              </a:rPr>
              <a:t>AdamW</a:t>
            </a:r>
            <a:endParaRPr lang="en-US" sz="138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08000"/>
              </a:lnSpc>
            </a:pPr>
            <a:r>
              <a:rPr lang="en-US" sz="1380" dirty="0">
                <a:solidFill>
                  <a:srgbClr val="000000"/>
                </a:solidFill>
                <a:latin typeface="Georgia"/>
              </a:rPr>
              <a:t>optimizer (Loshchilov and Hutter, 2017) with 𝛽1 = 0.9, 𝛽2 = 0.95, and </a:t>
            </a:r>
            <a:r>
              <a:rPr lang="en-US" sz="1380" dirty="0" err="1">
                <a:solidFill>
                  <a:srgbClr val="000000"/>
                </a:solidFill>
                <a:latin typeface="Georgia"/>
              </a:rPr>
              <a:t>weight_decay</a:t>
            </a:r>
            <a:r>
              <a:rPr lang="en-US" sz="1380" dirty="0">
                <a:solidFill>
                  <a:srgbClr val="000000"/>
                </a:solidFill>
                <a:latin typeface="Georgia"/>
              </a:rPr>
              <a:t> = 0.1,</a:t>
            </a:r>
            <a:endParaRPr sz="1380" b="0" dirty="0">
              <a:solidFill>
                <a:srgbClr val="000000"/>
              </a:solidFill>
              <a:latin typeface="Georgia"/>
            </a:endParaRPr>
          </a:p>
        </p:txBody>
      </p:sp>
      <p:pic>
        <p:nvPicPr>
          <p:cNvPr id="84" name="圖片 83">
            <a:extLst>
              <a:ext uri="{FF2B5EF4-FFF2-40B4-BE49-F238E27FC236}">
                <a16:creationId xmlns:a16="http://schemas.microsoft.com/office/drawing/2014/main" id="{E2E0601C-B543-24C4-2100-00ED00AEF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463936"/>
            <a:ext cx="6478993" cy="249631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B0A2AA-F02B-C121-88D9-EA698C28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015D3-CC1C-23C3-DC8D-85F70DEF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028EB9-A518-764D-A216-CE4D15F6E3ED}"/>
              </a:ext>
            </a:extLst>
          </p:cNvPr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50" b="1" i="0">
                <a:solidFill>
                  <a:srgbClr val="000000"/>
                </a:solidFill>
                <a:latin typeface="Georgia"/>
              </a:rPr>
              <a:t>2.2 Validating the Quality of the DeepSeekMath Corpus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AB7FE-6041-4AA3-4FB7-83A449AA6639}"/>
              </a:ext>
            </a:extLst>
          </p:cNvPr>
          <p:cNvSpPr txBox="1"/>
          <p:nvPr/>
        </p:nvSpPr>
        <p:spPr>
          <a:xfrm>
            <a:off x="713232" y="941832"/>
            <a:ext cx="10789920" cy="185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en-US" sz="1200" b="0" dirty="0">
                <a:solidFill>
                  <a:srgbClr val="000000"/>
                </a:solidFill>
                <a:latin typeface="Georgia"/>
              </a:rPr>
              <a:t>8 BENCHMARKS</a:t>
            </a:r>
            <a:endParaRPr sz="1200" b="0" dirty="0">
              <a:solidFill>
                <a:srgbClr val="000000"/>
              </a:solidFill>
              <a:latin typeface="Georgia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E257B75-D1B2-E411-999C-5F34879E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6152"/>
            <a:ext cx="5734604" cy="5140198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CB3898-116E-B11F-FB0F-BDE7FEBA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61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50" b="1" i="0">
                <a:solidFill>
                  <a:srgbClr val="000000"/>
                </a:solidFill>
                <a:latin typeface="Georgia"/>
              </a:rPr>
              <a:t>2.3 Training and Evaluating DeepSeekMath-Base 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 u="sng">
                <a:solidFill>
                  <a:srgbClr val="000000"/>
                </a:solidFill>
                <a:latin typeface="Georgia"/>
              </a:rPr>
              <a:t>Continual Pre-Training Mixture · 500B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5863132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09928"/>
            <a:ext cx="58265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Georgia"/>
              </a:rPr>
              <a:t>56%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1812" y="1600200"/>
            <a:ext cx="418795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50607" y="1600200"/>
            <a:ext cx="1046988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68895" y="1709928"/>
            <a:ext cx="10104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Georgia"/>
              </a:rPr>
              <a:t>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7596" y="1600200"/>
            <a:ext cx="2093976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5883" y="1709928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Georgia"/>
              </a:rPr>
              <a:t>20%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91572" y="1600200"/>
            <a:ext cx="1046988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09859" y="1709928"/>
            <a:ext cx="10104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Georgia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45059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Georgia"/>
              </a:rPr>
              <a:t>DeepSeekMath Corpus (56%)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688" y="245059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Georgia"/>
              </a:rPr>
              <a:t>AlgebraicStack (4%)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8" y="245059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Georgia"/>
              </a:rPr>
              <a:t>arXiv (10%)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245059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Georgia"/>
              </a:rPr>
              <a:t>GitHub code (20%)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8" y="245059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 i="0">
                <a:solidFill>
                  <a:srgbClr val="000000"/>
                </a:solidFill>
                <a:latin typeface="Georgia"/>
              </a:rPr>
              <a:t>Natural language CC (10%)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246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Training 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703320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 u="sng">
                <a:solidFill>
                  <a:srgbClr val="000000"/>
                </a:solidFill>
                <a:latin typeface="Georgia"/>
              </a:rPr>
              <a:t>Initialization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050791"/>
            <a:ext cx="2020824" cy="6309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DeepSeek-Coder-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Base-v1.5 7B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7288" y="3703320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Token budget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7288" y="4050791"/>
            <a:ext cx="2020824" cy="6309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500B total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continual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3703320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Peak learning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4050791"/>
            <a:ext cx="2020824" cy="6309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Georgia"/>
              </a:rPr>
              <a:t>4.2 × 10⁻⁴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6488" y="3703320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Batch /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4050791"/>
            <a:ext cx="2020824" cy="6309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Georgia"/>
              </a:rPr>
              <a:t>10M tokens / 4K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074920"/>
            <a:ext cx="10332720" cy="49352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Objective: </a:t>
            </a:r>
            <a:r>
              <a:rPr sz="1450">
                <a:solidFill>
                  <a:srgbClr val="000000"/>
                </a:solidFill>
                <a:latin typeface="Georgia"/>
              </a:rPr>
              <a:t>continued pre-training on the mixture preserves code capability while increasing mathematical and general reasoning.</a:t>
            </a:r>
          </a:p>
        </p:txBody>
      </p:sp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229C0AAA-7DEF-A103-03D5-068147FA1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1D4F9-3743-410D-4EE4-991DE261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877272-F43F-27B2-CC3B-48ED5623ED90}"/>
              </a:ext>
            </a:extLst>
          </p:cNvPr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50" b="1" i="0">
                <a:solidFill>
                  <a:srgbClr val="000000"/>
                </a:solidFill>
                <a:latin typeface="Georgia"/>
              </a:rPr>
              <a:t>2.3 Training and Evaluating DeepSeekMath-Base 7B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8D9B2BC-A5BF-79C4-728E-6DCA5A26D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33" y="1311996"/>
            <a:ext cx="5589961" cy="297187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B6B2322-04CA-C45C-F37A-09698686D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11996"/>
            <a:ext cx="5742364" cy="2052011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EDFAE1D0-3AD7-2F6A-3F3A-BB5A2A14F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806255"/>
            <a:ext cx="5698820" cy="1975809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3E855A-2C78-1A18-7D90-250A3710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16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3 Supervised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 u="sng">
                <a:solidFill>
                  <a:srgbClr val="000000"/>
                </a:solidFill>
                <a:latin typeface="Georgia"/>
              </a:rPr>
              <a:t>From Base Model to Instruction-Following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5760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Three Solution Formats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7" y="4133087"/>
            <a:ext cx="29352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 u="sng">
                <a:solidFill>
                  <a:srgbClr val="000000"/>
                </a:solidFill>
                <a:latin typeface="Georgia"/>
              </a:rPr>
              <a:t>Chain-of-Thought (CoT)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7" y="4480560"/>
            <a:ext cx="2935224" cy="53949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Natural-language, step-by-step derivation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4133087"/>
            <a:ext cx="29352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Program-of-Thought (PoT)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4480560"/>
            <a:ext cx="2935224" cy="53949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Generate code to carry out computation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7" y="4133087"/>
            <a:ext cx="29352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 u="sng">
                <a:solidFill>
                  <a:srgbClr val="000000"/>
                </a:solidFill>
                <a:latin typeface="Georgia"/>
              </a:rPr>
              <a:t>Tool-Integrated Reasoning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7" y="4480560"/>
            <a:ext cx="2935224" cy="53949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Combine reasoning with external Python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SFT turns the strong base model into a model explicitly trained to respond to mathematical instructions.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1417320"/>
            <a:ext cx="10332720" cy="1737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20" b="1">
                <a:solidFill>
                  <a:srgbClr val="000000"/>
                </a:solidFill>
                <a:latin typeface="Georgia"/>
              </a:rPr>
              <a:t>1. Base model: </a:t>
            </a:r>
            <a:r>
              <a:rPr sz="1520">
                <a:solidFill>
                  <a:srgbClr val="000000"/>
                </a:solidFill>
                <a:latin typeface="Georgia"/>
              </a:rPr>
              <a:t>DeepSeekMath-Base 7B after continued pre-training.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20" b="1">
                <a:solidFill>
                  <a:srgbClr val="000000"/>
                </a:solidFill>
                <a:latin typeface="Georgia"/>
              </a:rPr>
              <a:t>2. SFT dataset: </a:t>
            </a:r>
            <a:r>
              <a:rPr sz="1520">
                <a:solidFill>
                  <a:srgbClr val="000000"/>
                </a:solidFill>
                <a:latin typeface="Georgia"/>
              </a:rPr>
              <a:t>776K curated mathematical instruction examples.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20" b="1">
                <a:solidFill>
                  <a:srgbClr val="000000"/>
                </a:solidFill>
                <a:latin typeface="Georgia"/>
              </a:rPr>
              <a:t>3. Fine-tuning: </a:t>
            </a:r>
            <a:r>
              <a:rPr sz="1520">
                <a:solidFill>
                  <a:srgbClr val="000000"/>
                </a:solidFill>
                <a:latin typeface="Georgia"/>
              </a:rPr>
              <a:t>supervised fine-tuning with a 4K context length.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20" b="1">
                <a:solidFill>
                  <a:srgbClr val="000000"/>
                </a:solidFill>
                <a:latin typeface="Georgia"/>
              </a:rPr>
              <a:t>4. Resulting model: </a:t>
            </a:r>
            <a:r>
              <a:rPr sz="1520">
                <a:solidFill>
                  <a:srgbClr val="000000"/>
                </a:solidFill>
                <a:latin typeface="Georgia"/>
              </a:rPr>
              <a:t>DeepSeekMath-Instruct 7B, supporting CoT, PoT and tool use.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670FF0-B531-CB5A-A931-8336A5B7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3.1 SFT Data 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325880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2000" b="1" i="0">
                <a:solidFill>
                  <a:srgbClr val="000000"/>
                </a:solidFill>
                <a:latin typeface="Georgia"/>
              </a:rPr>
              <a:t>776K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73352"/>
            <a:ext cx="2020824" cy="56692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Total instruction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325880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1673352"/>
            <a:ext cx="2020824" cy="56692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GSM8K, MATH, MathInstruct, Lila-OOD subsets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7608" y="1325880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Chinese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1673352"/>
            <a:ext cx="2020824" cy="56692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K–12 questions across 76 sub-topics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1325880"/>
            <a:ext cx="24780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Solution diversity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1673352"/>
            <a:ext cx="2478024" cy="56692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CoT, PoT and tool-integrated solutions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83464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Dataset Construction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82112"/>
            <a:ext cx="10515600" cy="49352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English: </a:t>
            </a:r>
            <a:r>
              <a:rPr sz="1450">
                <a:solidFill>
                  <a:srgbClr val="000000"/>
                </a:solidFill>
                <a:latin typeface="Georgia"/>
              </a:rPr>
              <a:t>GSM8K and MATH are annotated with tool-integrated solutions; a subset of MathInstruct and Lila-OOD supplies CoT/PoT-style reasoning.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67074"/>
            <a:ext cx="1051560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Mathematics coverage: </a:t>
            </a:r>
            <a:r>
              <a:rPr sz="1450">
                <a:solidFill>
                  <a:srgbClr val="000000"/>
                </a:solidFill>
                <a:latin typeface="Georgia"/>
              </a:rPr>
              <a:t>algebra, probability, number theory, calculus and geometry.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9410"/>
            <a:ext cx="10515600" cy="49352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Chinese: </a:t>
            </a:r>
            <a:r>
              <a:rPr sz="1450">
                <a:solidFill>
                  <a:srgbClr val="000000"/>
                </a:solidFill>
                <a:latin typeface="Georgia"/>
              </a:rPr>
              <a:t>K–12 math problems include both CoT and tool-integrated solution formats, covering 76 sub-topics such as linear equations.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54372"/>
            <a:ext cx="1051560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Training packaging: </a:t>
            </a:r>
            <a:r>
              <a:rPr sz="1450">
                <a:solidFill>
                  <a:srgbClr val="000000"/>
                </a:solidFill>
                <a:latin typeface="Georgia"/>
              </a:rPr>
              <a:t>examples are randomly concatenated to a maximum context length of 4K tokens.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F4DA14-34A3-9394-D6FE-5F161C6F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50" b="1" i="0">
                <a:solidFill>
                  <a:srgbClr val="000000"/>
                </a:solidFill>
                <a:latin typeface="Georgia"/>
              </a:rPr>
              <a:t>3.2 Training and Evaluating DeepSeekMath-Instruct 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Instruction-Tuning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463040"/>
            <a:ext cx="21122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 u="sng">
                <a:solidFill>
                  <a:srgbClr val="000000"/>
                </a:solidFill>
                <a:latin typeface="Georgia"/>
              </a:rPr>
              <a:t>Base checkpoint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810512"/>
            <a:ext cx="2112263" cy="6766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DeepSeekMath-Base 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1463040"/>
            <a:ext cx="21122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Training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810512"/>
            <a:ext cx="2112263" cy="6766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Georgia"/>
              </a:rPr>
              <a:t>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21122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Batch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10512"/>
            <a:ext cx="2112263" cy="6766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Georgia"/>
              </a:rPr>
              <a:t>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463040"/>
            <a:ext cx="21122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Learning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1810512"/>
            <a:ext cx="2112263" cy="6766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Georgia"/>
              </a:rPr>
              <a:t>5 × 10⁻⁵ (constant)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Evaluation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47872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Benchmarks: </a:t>
            </a:r>
            <a:r>
              <a:rPr sz="1450">
                <a:solidFill>
                  <a:srgbClr val="000000"/>
                </a:solidFill>
                <a:latin typeface="Georgia"/>
              </a:rPr>
              <a:t>GSM8K and MATH (English), MGSM-zh and CMATH (Chinese).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41063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No-tool setting: </a:t>
            </a:r>
            <a:r>
              <a:rPr sz="1450">
                <a:solidFill>
                  <a:srgbClr val="000000"/>
                </a:solidFill>
                <a:latin typeface="Georgia"/>
              </a:rPr>
              <a:t>generate self-contained solutions using step-by-step reasoning.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34255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Tool-use setting: </a:t>
            </a:r>
            <a:r>
              <a:rPr sz="1450">
                <a:solidFill>
                  <a:srgbClr val="000000"/>
                </a:solidFill>
                <a:latin typeface="Georgia"/>
              </a:rPr>
              <a:t>allow Python execution / program-based reasoning.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27447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Sampling: </a:t>
            </a:r>
            <a:r>
              <a:rPr sz="1450">
                <a:solidFill>
                  <a:srgbClr val="000000"/>
                </a:solidFill>
                <a:latin typeface="Georgia"/>
              </a:rPr>
              <a:t>paper reports top-1 and majority-vote results; majority voting uses 32 candidates in the reported tables.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5F1703-0A98-A952-8EFB-4D93CFE7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3AA0C-C081-ED1B-2DCB-BD86469D3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AF8D07-5307-A4C4-345A-5E6039E9FD63}"/>
              </a:ext>
            </a:extLst>
          </p:cNvPr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50" b="1" i="0">
                <a:solidFill>
                  <a:srgbClr val="000000"/>
                </a:solidFill>
                <a:latin typeface="Georgia"/>
              </a:rPr>
              <a:t>3.2 Training and Evaluating DeepSeekMath-Instruct 7B</a:t>
            </a:r>
          </a:p>
        </p:txBody>
      </p:sp>
      <p:sp>
        <p:nvSpPr>
          <p:cNvPr id="7" name="TextBox 78">
            <a:extLst>
              <a:ext uri="{FF2B5EF4-FFF2-40B4-BE49-F238E27FC236}">
                <a16:creationId xmlns:a16="http://schemas.microsoft.com/office/drawing/2014/main" id="{8281D151-7DF4-8906-3870-3689C09D63BC}"/>
              </a:ext>
            </a:extLst>
          </p:cNvPr>
          <p:cNvSpPr txBox="1"/>
          <p:nvPr/>
        </p:nvSpPr>
        <p:spPr>
          <a:xfrm>
            <a:off x="7356062" y="1957184"/>
            <a:ext cx="2265404" cy="23391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 dirty="0">
                <a:solidFill>
                  <a:srgbClr val="000000"/>
                </a:solidFill>
                <a:latin typeface="Georgia"/>
              </a:rPr>
              <a:t>Interpretation</a:t>
            </a:r>
          </a:p>
        </p:txBody>
      </p:sp>
      <p:sp>
        <p:nvSpPr>
          <p:cNvPr id="13" name="TextBox 79">
            <a:extLst>
              <a:ext uri="{FF2B5EF4-FFF2-40B4-BE49-F238E27FC236}">
                <a16:creationId xmlns:a16="http://schemas.microsoft.com/office/drawing/2014/main" id="{E72539C8-7343-E56A-E121-CA3E83369708}"/>
              </a:ext>
            </a:extLst>
          </p:cNvPr>
          <p:cNvSpPr txBox="1"/>
          <p:nvPr/>
        </p:nvSpPr>
        <p:spPr>
          <a:xfrm>
            <a:off x="7356062" y="2565352"/>
            <a:ext cx="4452692" cy="46724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00" b="1" dirty="0">
                <a:solidFill>
                  <a:srgbClr val="000000"/>
                </a:solidFill>
                <a:latin typeface="Georgia"/>
              </a:rPr>
              <a:t>• MATH: </a:t>
            </a:r>
            <a:r>
              <a:rPr sz="1400" dirty="0" err="1">
                <a:solidFill>
                  <a:srgbClr val="000000"/>
                </a:solidFill>
                <a:latin typeface="Georgia"/>
              </a:rPr>
              <a:t>DeepSeekMath</a:t>
            </a:r>
            <a:r>
              <a:rPr sz="1400" dirty="0">
                <a:solidFill>
                  <a:srgbClr val="000000"/>
                </a:solidFill>
                <a:latin typeface="Georgia"/>
              </a:rPr>
              <a:t>-Instruct reaches 57.4% when Python-assisted reasoning is allowed.</a:t>
            </a:r>
          </a:p>
        </p:txBody>
      </p:sp>
      <p:sp>
        <p:nvSpPr>
          <p:cNvPr id="24" name="TextBox 80">
            <a:extLst>
              <a:ext uri="{FF2B5EF4-FFF2-40B4-BE49-F238E27FC236}">
                <a16:creationId xmlns:a16="http://schemas.microsoft.com/office/drawing/2014/main" id="{7B836EFF-4500-3197-3A62-29D55F5E3483}"/>
              </a:ext>
            </a:extLst>
          </p:cNvPr>
          <p:cNvSpPr txBox="1"/>
          <p:nvPr/>
        </p:nvSpPr>
        <p:spPr>
          <a:xfrm>
            <a:off x="7356062" y="3523809"/>
            <a:ext cx="4452692" cy="69993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00" b="1" dirty="0">
                <a:solidFill>
                  <a:srgbClr val="000000"/>
                </a:solidFill>
                <a:latin typeface="Georgia"/>
              </a:rPr>
              <a:t>• Relative scale: </a:t>
            </a:r>
            <a:r>
              <a:rPr sz="1400" dirty="0">
                <a:solidFill>
                  <a:srgbClr val="000000"/>
                </a:solidFill>
                <a:latin typeface="Georgia"/>
              </a:rPr>
              <a:t>it is competitive with much larger open models, though tool-integrated results are protocol-dependent.</a:t>
            </a:r>
          </a:p>
        </p:txBody>
      </p:sp>
      <p:sp>
        <p:nvSpPr>
          <p:cNvPr id="26" name="TextBox 81">
            <a:extLst>
              <a:ext uri="{FF2B5EF4-FFF2-40B4-BE49-F238E27FC236}">
                <a16:creationId xmlns:a16="http://schemas.microsoft.com/office/drawing/2014/main" id="{A661EF88-58A5-E2FB-2AB3-097D7858035C}"/>
              </a:ext>
            </a:extLst>
          </p:cNvPr>
          <p:cNvSpPr txBox="1"/>
          <p:nvPr/>
        </p:nvSpPr>
        <p:spPr>
          <a:xfrm>
            <a:off x="7356062" y="4536208"/>
            <a:ext cx="4452692" cy="69993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00" b="1" dirty="0">
                <a:solidFill>
                  <a:srgbClr val="000000"/>
                </a:solidFill>
                <a:latin typeface="Georgia"/>
              </a:rPr>
              <a:t>• Role of tools: </a:t>
            </a:r>
            <a:r>
              <a:rPr sz="1400" dirty="0">
                <a:solidFill>
                  <a:srgbClr val="000000"/>
                </a:solidFill>
                <a:latin typeface="Georgia"/>
              </a:rPr>
              <a:t>program execution can handle arithmetic reliably, complementing the model’s natural-language plan.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786BA0-3EC4-0AE3-96D7-E8B287AE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37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4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RL Fine-Tuning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42900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Training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767328"/>
            <a:ext cx="10515600" cy="32918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Starting model: </a:t>
            </a:r>
            <a:r>
              <a:rPr sz="1450">
                <a:solidFill>
                  <a:srgbClr val="000000"/>
                </a:solidFill>
                <a:latin typeface="Georgia"/>
              </a:rPr>
              <a:t>DeepSeekMath-Instruct 7B.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23944"/>
            <a:ext cx="10515600" cy="4754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RL data: </a:t>
            </a:r>
            <a:r>
              <a:rPr sz="1450">
                <a:solidFill>
                  <a:srgbClr val="000000"/>
                </a:solidFill>
                <a:latin typeface="Georgia"/>
              </a:rPr>
              <a:t>chain-of-thought-format questions related to GSM8K and MATH, selected from the SFT data (~144K questions).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645152"/>
            <a:ext cx="10515600" cy="4754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Research purpose: </a:t>
            </a:r>
            <a:r>
              <a:rPr sz="1450">
                <a:solidFill>
                  <a:srgbClr val="000000"/>
                </a:solidFill>
                <a:latin typeface="Georgia"/>
              </a:rPr>
              <a:t>test whether reinforcement learning improves the already strong instruction-tuned model, including out-of-domain benchmarks.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66360"/>
            <a:ext cx="10515600" cy="49377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Core design: </a:t>
            </a:r>
            <a:r>
              <a:rPr sz="1450">
                <a:solidFill>
                  <a:srgbClr val="000000"/>
                </a:solidFill>
                <a:latin typeface="Georgia"/>
              </a:rPr>
              <a:t>sample several answers to the same question and compare their rewards, instead of training a separate critic model.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The selected RL data is intentionally narrower than the complete SFT dataset; this makes the generalization effect measurable.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1353312"/>
            <a:ext cx="10561320" cy="187451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Georgia"/>
              </a:rPr>
              <a:t>1. Prompts: </a:t>
            </a:r>
            <a:r>
              <a:rPr sz="1500">
                <a:solidFill>
                  <a:srgbClr val="000000"/>
                </a:solidFill>
                <a:latin typeface="Georgia"/>
              </a:rPr>
              <a:t>start from GSM8K and MATH chain-of-thought questions.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Georgia"/>
              </a:rPr>
              <a:t>2. Sample group: </a:t>
            </a:r>
            <a:r>
              <a:rPr sz="1500">
                <a:solidFill>
                  <a:srgbClr val="000000"/>
                </a:solidFill>
                <a:latin typeface="Georgia"/>
              </a:rPr>
              <a:t>draw G candidate outputs from the old policy.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Georgia"/>
              </a:rPr>
              <a:t>3. Score: </a:t>
            </a:r>
            <a:r>
              <a:rPr sz="1500">
                <a:solidFill>
                  <a:srgbClr val="000000"/>
                </a:solidFill>
                <a:latin typeface="Georgia"/>
              </a:rPr>
              <a:t>assign each output a reward.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Georgia"/>
              </a:rPr>
              <a:t>4. Compute advantage: </a:t>
            </a:r>
            <a:r>
              <a:rPr sz="1500">
                <a:solidFill>
                  <a:srgbClr val="000000"/>
                </a:solidFill>
                <a:latin typeface="Georgia"/>
              </a:rPr>
              <a:t>normalize rewards within the group.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Georgia"/>
              </a:rPr>
              <a:t>5. Update policy: </a:t>
            </a:r>
            <a:r>
              <a:rPr sz="1500">
                <a:solidFill>
                  <a:srgbClr val="000000"/>
                </a:solidFill>
                <a:latin typeface="Georgia"/>
              </a:rPr>
              <a:t>optimize the GRPO objective with KL regularization.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0AF5B6-3B74-B93C-0063-06094BAF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4.1 Group Relative Policy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PPO: Actor–Critic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3317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GRPO: Group-Relative Setup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1353312"/>
            <a:ext cx="10469880" cy="7772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20">
                <a:solidFill>
                  <a:srgbClr val="000000"/>
                </a:solidFill>
                <a:latin typeface="Georgia"/>
              </a:rPr>
              <a:t>• </a:t>
            </a:r>
            <a:r>
              <a:rPr sz="1520" b="1">
                <a:solidFill>
                  <a:srgbClr val="000000"/>
                </a:solidFill>
                <a:latin typeface="Georgia"/>
              </a:rPr>
              <a:t>PPO components: </a:t>
            </a:r>
            <a:r>
              <a:rPr sz="1520">
                <a:solidFill>
                  <a:srgbClr val="000000"/>
                </a:solidFill>
                <a:latin typeface="Georgia"/>
              </a:rPr>
              <a:t>question q, policy πθ, reward model rφ, and a separate value model Vψ.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2697480"/>
            <a:ext cx="10469880" cy="9326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Georgia"/>
              </a:rPr>
              <a:t>• </a:t>
            </a:r>
            <a:r>
              <a:rPr sz="1500" b="1">
                <a:solidFill>
                  <a:srgbClr val="000000"/>
                </a:solidFill>
                <a:latin typeface="Georgia"/>
              </a:rPr>
              <a:t>GRPO setup: </a:t>
            </a:r>
            <a:r>
              <a:rPr sz="1500">
                <a:solidFill>
                  <a:srgbClr val="000000"/>
                </a:solidFill>
                <a:latin typeface="Georgia"/>
              </a:rPr>
              <a:t>sample G outputs for each question and normalize their reward scores to obtain Â.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Georgia"/>
              </a:rPr>
              <a:t>• </a:t>
            </a:r>
            <a:r>
              <a:rPr sz="1500" b="1">
                <a:solidFill>
                  <a:srgbClr val="000000"/>
                </a:solidFill>
                <a:latin typeface="Georgia"/>
              </a:rPr>
              <a:t>Key difference: </a:t>
            </a:r>
            <a:r>
              <a:rPr sz="1500">
                <a:solidFill>
                  <a:srgbClr val="000000"/>
                </a:solidFill>
                <a:latin typeface="Georgia"/>
              </a:rPr>
              <a:t>GRPO does not require a separate value/critic model.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977639"/>
            <a:ext cx="10469880" cy="16916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80">
                <a:solidFill>
                  <a:srgbClr val="000000"/>
                </a:solidFill>
                <a:latin typeface="Georgia"/>
              </a:rPr>
              <a:t>• </a:t>
            </a:r>
            <a:r>
              <a:rPr sz="1480" b="1">
                <a:solidFill>
                  <a:srgbClr val="000000"/>
                </a:solidFill>
                <a:latin typeface="Georgia"/>
              </a:rPr>
              <a:t>Memory saving: </a:t>
            </a:r>
            <a:r>
              <a:rPr sz="1480">
                <a:solidFill>
                  <a:srgbClr val="000000"/>
                </a:solidFill>
                <a:latin typeface="Georgia"/>
              </a:rPr>
              <a:t>PPO often needs an extra value model comparable in size to the policy.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80">
                <a:solidFill>
                  <a:srgbClr val="000000"/>
                </a:solidFill>
                <a:latin typeface="Georgia"/>
              </a:rPr>
              <a:t>• </a:t>
            </a:r>
            <a:r>
              <a:rPr sz="1480" b="1">
                <a:solidFill>
                  <a:srgbClr val="000000"/>
                </a:solidFill>
                <a:latin typeface="Georgia"/>
              </a:rPr>
              <a:t>Relative baseline: </a:t>
            </a:r>
            <a:r>
              <a:rPr sz="1480">
                <a:solidFill>
                  <a:srgbClr val="000000"/>
                </a:solidFill>
                <a:latin typeface="Georgia"/>
              </a:rPr>
              <a:t>GRPO compares rewards among outputs for the same question.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80">
                <a:solidFill>
                  <a:srgbClr val="000000"/>
                </a:solidFill>
                <a:latin typeface="Georgia"/>
              </a:rPr>
              <a:t>• </a:t>
            </a:r>
            <a:r>
              <a:rPr sz="1480" b="1">
                <a:solidFill>
                  <a:srgbClr val="000000"/>
                </a:solidFill>
                <a:latin typeface="Georgia"/>
              </a:rPr>
              <a:t>Regularization: </a:t>
            </a:r>
            <a:r>
              <a:rPr sz="1480">
                <a:solidFill>
                  <a:srgbClr val="000000"/>
                </a:solidFill>
                <a:latin typeface="Georgia"/>
              </a:rPr>
              <a:t>KL divergence keeps the trained policy closer to the reference model.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F818CD-4184-2BFC-312A-B5A4EF7F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4.1.1 From PPO to GRPO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Equation (1) · PPO Clipped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353312"/>
            <a:ext cx="104333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23544" y="1620062"/>
                <a:ext cx="10360152" cy="856388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:endParaRPr lang="en-US" altLang="zh-TW" sz="1600" b="0" i="0" dirty="0">
                  <a:solidFill>
                    <a:srgbClr val="000000"/>
                  </a:solidFill>
                  <a:latin typeface="Cambria Math"/>
                </a:endParaRPr>
              </a:p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𝒥</m:t>
                        </m:r>
                      </m:e>
                      <m:sub>
                        <m:r>
                          <a:rPr lang="zh-TW" alt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𝑃𝑃𝑂</m:t>
                        </m:r>
                      </m:sub>
                    </m:sSub>
                    <m:d>
                      <m:dPr>
                        <m:ctrlPr>
                          <a:rPr lang="zh-TW" alt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TW" sz="1600" i="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1600" i="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TW" sz="1600" i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lang="en-US" altLang="zh-TW" sz="1600" i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altLang="zh-TW" sz="1600" i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altLang="zh-TW" sz="1600" i="0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d>
                    <m:f>
                      <m:fPr>
                        <m:ctrlPr>
                          <a:rPr lang="en-US" altLang="zh-TW" sz="1600" i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i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600" i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d>
                          <m:dPr>
                            <m:begChr m:val="|"/>
                            <m:endChr m:val="|"/>
                            <m:ctrlP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d>
                      </m:sup>
                      <m:e>
                        <m:func>
                          <m:funcPr>
                            <m:ctrlPr>
                              <a:rPr lang="en-US" altLang="zh-TW" sz="1600" i="0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600" i="0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TW" altLang="en-US" sz="1600" i="1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600" i="1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zh-TW" altLang="en-US" sz="1600" i="1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TW" altLang="en-US" sz="1600" i="1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𝑜</m:t>
                                            </m:r>
                                          </m:e>
                                          <m:sub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zh-TW" sz="1600" i="0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zh-TW" altLang="en-US" sz="1600" i="1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n-US" altLang="zh-TW" sz="1600" i="0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𝑜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600" i="0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&lt;</m:t>
                                            </m:r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TW" altLang="en-US" sz="1600" i="1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600" i="1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𝑜𝑙𝑑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TW" altLang="en-US" sz="1600" i="1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𝑜</m:t>
                                            </m:r>
                                          </m:e>
                                          <m:sub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zh-TW" sz="1600" i="0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zh-TW" altLang="en-US" sz="1600" i="1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n-US" altLang="zh-TW" sz="1600" i="0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𝑜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600" i="0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&lt;</m:t>
                                            </m:r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sSub>
                                  <m:sSubPr>
                                    <m:ctrlP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1600" i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600" i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clip</m:t>
                                </m:r>
                                <m:d>
                                  <m:dPr>
                                    <m:ctrlPr>
                                      <a:rPr lang="en-US" altLang="zh-TW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TW" altLang="en-US" sz="1600" i="1" dirty="0" err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𝑜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1600" i="0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|</m:t>
                                            </m:r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  <m:r>
                                              <a:rPr lang="en-US" altLang="zh-TW" sz="1600" i="0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𝑜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600" i="0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&lt;</m:t>
                                                </m:r>
                                                <m: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𝑜𝑙𝑑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𝑜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1600" i="0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|</m:t>
                                            </m:r>
                                            <m:r>
                                              <a:rPr lang="zh-TW" altLang="en-US" sz="1600" i="1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  <m:r>
                                              <a:rPr lang="en-US" altLang="zh-TW" sz="1600" i="0" dirty="0" err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𝑜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600" i="0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&lt;</m:t>
                                                </m:r>
                                                <m:r>
                                                  <a:rPr lang="zh-TW" altLang="en-US" sz="1600" i="1" dirty="0" err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den>
                                    </m:f>
                                    <m:r>
                                      <a:rPr lang="en-US" altLang="zh-TW" sz="1600" i="0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,1−</m:t>
                                    </m:r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r>
                                      <a:rPr lang="en-US" altLang="zh-TW" sz="1600" i="0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,1+</m:t>
                                    </m:r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Cambria Math"/>
                  </a:rPr>
                  <a:t>,     (1)</a:t>
                </a:r>
                <a:endParaRPr sz="160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544" y="1620062"/>
                <a:ext cx="10360152" cy="8563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281928" y="2907792"/>
            <a:ext cx="4672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 dirty="0">
                <a:solidFill>
                  <a:srgbClr val="000000"/>
                </a:solidFill>
                <a:latin typeface="Georgia"/>
              </a:rPr>
              <a:t>Equation (2) · Per-token KL penalty in PPO 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1" y="3064967"/>
            <a:ext cx="5614417" cy="252825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00" b="1" dirty="0">
                <a:solidFill>
                  <a:srgbClr val="000000"/>
                </a:solidFill>
                <a:latin typeface="Georgia"/>
              </a:rPr>
              <a:t>• </a:t>
            </a:r>
            <a:r>
              <a:rPr sz="1400" b="1" dirty="0" err="1">
                <a:solidFill>
                  <a:srgbClr val="000000"/>
                </a:solidFill>
                <a:latin typeface="Georgia"/>
              </a:rPr>
              <a:t>A_t</a:t>
            </a:r>
            <a:r>
              <a:rPr sz="1400" b="1" dirty="0">
                <a:solidFill>
                  <a:srgbClr val="000000"/>
                </a:solidFill>
                <a:latin typeface="Georgia"/>
              </a:rPr>
              <a:t>: </a:t>
            </a:r>
            <a:r>
              <a:rPr sz="1400" dirty="0">
                <a:solidFill>
                  <a:srgbClr val="000000"/>
                </a:solidFill>
                <a:latin typeface="Georgia"/>
              </a:rPr>
              <a:t>advantage estimated with Generalized Advantage Estimation (GAE) and a learned value function</a:t>
            </a:r>
            <a:r>
              <a:rPr lang="en-US" sz="14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zh-TW" altLang="en-US" dirty="0"/>
              <a:t>𝑉𝜓</a:t>
            </a:r>
            <a:r>
              <a:rPr lang="en-US" altLang="zh-TW" dirty="0"/>
              <a:t>.</a:t>
            </a:r>
            <a:r>
              <a:rPr sz="1400" dirty="0">
                <a:solidFill>
                  <a:srgbClr val="000000"/>
                </a:solidFill>
                <a:latin typeface="Georgia"/>
              </a:rPr>
              <a:t>.</a:t>
            </a:r>
            <a:endParaRPr lang="en-US" sz="14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08000"/>
              </a:lnSpc>
            </a:pPr>
            <a:endParaRPr lang="en-US" sz="14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08000"/>
              </a:lnSpc>
            </a:pPr>
            <a:r>
              <a:rPr lang="en-US" altLang="zh-TW" sz="1400" b="1" dirty="0">
                <a:solidFill>
                  <a:srgbClr val="000000"/>
                </a:solidFill>
                <a:latin typeface="Georgia"/>
              </a:rPr>
              <a:t>• ε: </a:t>
            </a:r>
            <a:r>
              <a:rPr lang="en-US" altLang="zh-TW" sz="1400" dirty="0">
                <a:solidFill>
                  <a:srgbClr val="000000"/>
                </a:solidFill>
                <a:latin typeface="Georgia"/>
              </a:rPr>
              <a:t>clipping hyperparameter that limits excessively large policy updates.</a:t>
            </a:r>
          </a:p>
          <a:p>
            <a:pPr>
              <a:lnSpc>
                <a:spcPct val="108000"/>
              </a:lnSpc>
            </a:pPr>
            <a:endParaRPr lang="en-US" altLang="zh-TW" sz="14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08000"/>
              </a:lnSpc>
            </a:pPr>
            <a:r>
              <a:rPr lang="zh-TW" altLang="en-US" dirty="0"/>
              <a:t>𝜋𝜃 </a:t>
            </a:r>
            <a:r>
              <a:rPr lang="en-US" altLang="zh-TW" dirty="0"/>
              <a:t>and </a:t>
            </a:r>
            <a:r>
              <a:rPr lang="zh-TW" altLang="en-US" dirty="0"/>
              <a:t>𝜋𝜃𝑜𝑙𝑑 </a:t>
            </a:r>
            <a:r>
              <a:rPr lang="en-US" altLang="zh-TW" dirty="0"/>
              <a:t>are the current and old policy models</a:t>
            </a:r>
            <a:endParaRPr lang="en-US" altLang="zh-TW" sz="1400" dirty="0">
              <a:solidFill>
                <a:srgbClr val="000000"/>
              </a:solidFill>
              <a:latin typeface="Georgia"/>
            </a:endParaRPr>
          </a:p>
          <a:p>
            <a:pPr>
              <a:lnSpc>
                <a:spcPct val="108000"/>
              </a:lnSpc>
            </a:pPr>
            <a:r>
              <a:rPr lang="en-US" altLang="zh-TW" dirty="0"/>
              <a:t>q,</a:t>
            </a:r>
            <a:r>
              <a:rPr lang="zh-TW" altLang="en-US" dirty="0"/>
              <a:t>𝑜 </a:t>
            </a:r>
            <a:r>
              <a:rPr lang="en-US" altLang="zh-TW" dirty="0"/>
              <a:t>are questions and outputs</a:t>
            </a:r>
          </a:p>
          <a:p>
            <a:pPr>
              <a:lnSpc>
                <a:spcPct val="100000"/>
              </a:lnSpc>
            </a:pPr>
            <a:r>
              <a:rPr lang="en-US" altLang="zh-TW" sz="1400" dirty="0">
                <a:solidFill>
                  <a:srgbClr val="000000"/>
                </a:solidFill>
                <a:latin typeface="Georgia"/>
              </a:rPr>
              <a:t>~</a:t>
            </a:r>
            <a:r>
              <a:rPr lang="zh-TW" altLang="en-US" sz="1400" dirty="0">
                <a:solidFill>
                  <a:srgbClr val="000000"/>
                </a:solidFill>
                <a:latin typeface="Georgia"/>
              </a:rPr>
              <a:t> </a:t>
            </a:r>
            <a:r>
              <a:rPr lang="en-US" altLang="zh-TW" sz="1400" dirty="0">
                <a:solidFill>
                  <a:srgbClr val="000000"/>
                </a:solidFill>
                <a:latin typeface="Georgia"/>
              </a:rPr>
              <a:t>means Distributed as</a:t>
            </a:r>
          </a:p>
          <a:p>
            <a:pPr>
              <a:lnSpc>
                <a:spcPct val="108000"/>
              </a:lnSpc>
            </a:pPr>
            <a:endParaRPr sz="14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The PPO formulation uses a learned value function; GRPO replaces this baseline with group-relative rewards.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C348B90-ED3A-75A1-9F44-7279AE682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611411"/>
            <a:ext cx="5045661" cy="2737829"/>
          </a:xfrm>
          <a:prstGeom prst="rect">
            <a:avLst/>
          </a:prstGeom>
        </p:spPr>
      </p:pic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43905DD9-271C-CA54-CB41-3A667794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F9042-DC20-A3A0-FCA0-CF1B8952A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3A293E-39A9-B129-A8A8-736E61E0A71E}"/>
              </a:ext>
            </a:extLst>
          </p:cNvPr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4.1.1 From PPO to GRPO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0DBFD3-22BC-00C0-40BE-22BE53B78322}"/>
              </a:ext>
            </a:extLst>
          </p:cNvPr>
          <p:cNvSpPr txBox="1"/>
          <p:nvPr/>
        </p:nvSpPr>
        <p:spPr>
          <a:xfrm>
            <a:off x="749808" y="2052343"/>
            <a:ext cx="4672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 dirty="0">
                <a:solidFill>
                  <a:srgbClr val="000000"/>
                </a:solidFill>
                <a:latin typeface="Georgia"/>
              </a:rPr>
              <a:t>Equation (2) · Per-token KL penalty in PPO reward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97AA53-4DD8-C12D-CCF5-3A0629307A5D}"/>
                  </a:ext>
                </a:extLst>
              </p:cNvPr>
              <p:cNvSpPr txBox="1"/>
              <p:nvPr/>
            </p:nvSpPr>
            <p:spPr>
              <a:xfrm>
                <a:off x="786384" y="2306809"/>
                <a:ext cx="4599431" cy="442044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1600" i="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d>
                      <m:dPr>
                        <m:ctrlP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600" i="1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TW" sz="1600" i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TW" sz="1600" i="0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TW" sz="1600" i="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sz="1600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func>
                      <m:funcPr>
                        <m:ctrlPr>
                          <a:rPr lang="en-US" altLang="zh-TW" sz="1600" i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1600" i="0" dirty="0" err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zh-TW" altLang="en-US" sz="1600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1600" i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TW" sz="1600" i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altLang="zh-TW" sz="1600" i="0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1600" i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zh-TW" altLang="en-US" sz="1600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TW" sz="1600" i="0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altLang="zh-TW" sz="1600" i="0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zh-TW" altLang="en-US" sz="1600" i="1" dirty="0" err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  <m:r>
                      <a:rPr lang="en-US" altLang="zh-TW" sz="1600" i="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1600" i="1" dirty="0" err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1600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1600" i="1" dirty="0">
                    <a:solidFill>
                      <a:srgbClr val="000000"/>
                    </a:solidFill>
                    <a:latin typeface="Georgia"/>
                  </a:rPr>
                  <a:t>   </a:t>
                </a:r>
                <a:r>
                  <a:rPr lang="en-US" altLang="zh-TW" sz="1600" dirty="0">
                    <a:solidFill>
                      <a:srgbClr val="000000"/>
                    </a:solidFill>
                    <a:latin typeface="Georgia"/>
                  </a:rPr>
                  <a:t>(2)</a:t>
                </a:r>
                <a:endParaRPr sz="1600" b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97AA53-4DD8-C12D-CCF5-3A0629307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" y="2306809"/>
                <a:ext cx="4599431" cy="442044"/>
              </a:xfrm>
              <a:prstGeom prst="rect">
                <a:avLst/>
              </a:prstGeom>
              <a:blipFill>
                <a:blip r:embed="rId2"/>
                <a:stretch>
                  <a:fillRect b="-109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BDB32A2-D055-D418-AB15-936FE4DE86C9}"/>
              </a:ext>
            </a:extLst>
          </p:cNvPr>
          <p:cNvSpPr txBox="1"/>
          <p:nvPr/>
        </p:nvSpPr>
        <p:spPr>
          <a:xfrm>
            <a:off x="868680" y="3822192"/>
            <a:ext cx="10287000" cy="805157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endParaRPr lang="en-US" sz="1400" dirty="0">
              <a:solidFill>
                <a:srgbClr val="000000"/>
              </a:solidFill>
              <a:latin typeface="Georgia"/>
            </a:endParaRPr>
          </a:p>
          <a:p>
            <a:r>
              <a:rPr lang="zh-TW" altLang="en-US" dirty="0"/>
              <a:t>𝑟𝜑 </a:t>
            </a:r>
            <a:r>
              <a:rPr lang="en-US" altLang="zh-TW" dirty="0"/>
              <a:t>is the reward model, </a:t>
            </a:r>
            <a:r>
              <a:rPr lang="zh-TW" altLang="en-US" dirty="0"/>
              <a:t>𝜋𝑟𝑒𝑓 </a:t>
            </a:r>
            <a:r>
              <a:rPr lang="en-US" altLang="zh-TW" dirty="0"/>
              <a:t>is the reference model, which is usually the initial SFT model,</a:t>
            </a:r>
          </a:p>
          <a:p>
            <a:r>
              <a:rPr lang="en-US" altLang="zh-TW" dirty="0"/>
              <a:t>and </a:t>
            </a:r>
            <a:r>
              <a:rPr lang="zh-TW" altLang="en-US" dirty="0"/>
              <a:t>𝛽 </a:t>
            </a:r>
            <a:r>
              <a:rPr lang="en-US" altLang="zh-TW" dirty="0"/>
              <a:t>is the coefficient of the KL penalty.</a:t>
            </a:r>
            <a:endParaRPr sz="14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D085BC-F5DE-ACEA-6335-6F194EB7E6F1}"/>
              </a:ext>
            </a:extLst>
          </p:cNvPr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The PPO formulation uses a learned value function; GRPO replaces this baseline with group-relative rewards.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26703C-6204-9B09-1DBE-02595468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36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4.1.1 From PPO to GRPO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Equation (3) · GRPO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380744"/>
            <a:ext cx="104333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23544" y="1842781"/>
                <a:ext cx="11155680" cy="1087605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altLang="zh-TW" sz="1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e>
                            <m:sub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𝐺𝑅𝑃𝑂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altLang="zh-TW" sz="1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altLang="zh-TW" sz="1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bSup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𝑜𝑙𝑑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e>
                        <m:e>
                          <m:r>
                            <m:rPr>
                              <m:aln/>
                            </m:rPr>
                            <a:rPr lang="en-US" altLang="zh-TW" sz="1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altLang="zh-TW" sz="1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 </m:t>
                          </m:r>
                          <m:f>
                            <m:fPr>
                              <m:ctrlP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16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𝑜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|</m:t>
                                                  </m:r>
                                                  <m: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  <m: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𝑜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,&lt;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𝑜𝑙𝑑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𝑜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|</m:t>
                                                  </m:r>
                                                  <m: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  <m: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𝑜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,&lt;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den>
                                          </m:f>
                                          <m:sSub>
                                            <m:sSubPr>
                                              <m:ctrlP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ˆ"/>
                                                  <m:ctrlP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TW" sz="1600" i="0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clip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𝜋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sub>
                                                  </m:sSub>
                                                  <m:d>
                                                    <m:dPr>
                                                      <m:ctrlP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𝑜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|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𝑞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𝑜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,&lt;</m:t>
                                                          </m:r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𝜋</m:t>
                                                      </m:r>
                                                    </m:e>
                                                    <m:sub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𝜃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𝑜𝑙𝑑</m:t>
                                                          </m:r>
                                                        </m:sub>
                                                      </m:sSub>
                                                    </m:sub>
                                                  </m:sSub>
                                                  <m:d>
                                                    <m:dPr>
                                                      <m:ctrlP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𝑜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|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𝑞</m:t>
                                                      </m:r>
                                                      <m:r>
                                                        <a:rPr lang="en-US" altLang="zh-TW" sz="1600" i="1" dirty="0" smtClea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𝑜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,&lt;</m:t>
                                                          </m:r>
                                                          <m:r>
                                                            <a:rPr lang="en-US" altLang="zh-TW" sz="1600" i="1" dirty="0" smtClea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𝑡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den>
                                              </m:f>
                                              <m: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,1−</m:t>
                                              </m:r>
                                              <m: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  <m: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,1+</m:t>
                                              </m:r>
                                              <m: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</m:d>
                                          <m:sSub>
                                            <m:sSubPr>
                                              <m:ctrlP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ˆ"/>
                                                  <m:ctrlP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zh-TW" sz="1600" i="1" dirty="0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1600" i="1" dirty="0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  <m: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𝔻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𝐾𝐿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altLang="zh-TW" sz="160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TW" sz="16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 (3)</m:t>
                              </m:r>
                            </m:e>
                          </m:nary>
                        </m:e>
                      </m:eqArr>
                    </m:oMath>
                  </m:oMathPara>
                </a14:m>
                <a:endParaRPr sz="160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544" y="1842781"/>
                <a:ext cx="11155680" cy="10876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86384" y="361188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What Changes from PPO?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4069079"/>
            <a:ext cx="29352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50" b="1" i="0" u="sng">
                <a:solidFill>
                  <a:srgbClr val="000000"/>
                </a:solidFill>
                <a:latin typeface="Georgia"/>
              </a:rPr>
              <a:t>Sample a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4416552"/>
            <a:ext cx="2935224" cy="5120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G outputs for the same question 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4069079"/>
            <a:ext cx="29352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50" b="1" i="0">
                <a:solidFill>
                  <a:srgbClr val="000000"/>
                </a:solidFill>
                <a:latin typeface="Georgia"/>
              </a:rPr>
              <a:t>Group-relative advantage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4416552"/>
            <a:ext cx="2935224" cy="5120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Âᵢ,ₜ depends on reward relative to siblings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4069079"/>
            <a:ext cx="29352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50" b="1" i="0">
                <a:solidFill>
                  <a:srgbClr val="000000"/>
                </a:solidFill>
                <a:latin typeface="Georgia"/>
              </a:rPr>
              <a:t>No critic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7" y="4416552"/>
            <a:ext cx="2935224" cy="51206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Less auxiliary model memory and computation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ρᵢ,ₜ is the policy ratio for token t of sampled output i. Exact objective is written compactly for readability.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63737E8-B76D-2DA1-FAD0-61667F56C650}"/>
                  </a:ext>
                </a:extLst>
              </p:cNvPr>
              <p:cNvSpPr txBox="1"/>
              <p:nvPr/>
            </p:nvSpPr>
            <p:spPr>
              <a:xfrm>
                <a:off x="1473200" y="5174343"/>
                <a:ext cx="9598910" cy="6811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/>
                  <a:t>𝜀 </a:t>
                </a:r>
                <a:r>
                  <a:rPr lang="en-US" altLang="zh-TW" dirty="0"/>
                  <a:t>and </a:t>
                </a:r>
                <a:r>
                  <a:rPr lang="zh-TW" altLang="en-US" dirty="0"/>
                  <a:t>𝛽 </a:t>
                </a:r>
                <a:r>
                  <a:rPr lang="en-US" altLang="zh-TW" dirty="0"/>
                  <a:t>are hyper-parameters,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altLang="zh-TW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the advantage calculated based on relative</a:t>
                </a:r>
              </a:p>
              <a:p>
                <a:r>
                  <a:rPr lang="en-US" altLang="zh-TW" dirty="0"/>
                  <a:t>rewards of the outputs inside each group only, which will be detailed in the following subsections.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63737E8-B76D-2DA1-FAD0-61667F56C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200" y="5174343"/>
                <a:ext cx="9598910" cy="681149"/>
              </a:xfrm>
              <a:prstGeom prst="rect">
                <a:avLst/>
              </a:prstGeom>
              <a:blipFill>
                <a:blip r:embed="rId3"/>
                <a:stretch>
                  <a:fillRect l="-572" t="-5357" r="-127" b="-133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6FBA52-B333-F675-D82F-D3F68BDC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 dirty="0">
                <a:solidFill>
                  <a:srgbClr val="000000"/>
                </a:solidFill>
                <a:latin typeface="Georgia"/>
              </a:rPr>
              <a:t>4.1.1 From PPO to GRPO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 u="sng">
                <a:solidFill>
                  <a:srgbClr val="000000"/>
                </a:solidFill>
                <a:latin typeface="Georgia"/>
              </a:rPr>
              <a:t>Equation (4) · Unbiased KL-Divergence Estimator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499616"/>
            <a:ext cx="10296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(4)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87552" y="1844784"/>
                <a:ext cx="10222992" cy="653833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TW" altLang="en-US" sz="16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6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𝔻</m:t>
                          </m:r>
                        </m:e>
                        <m:sub>
                          <m:r>
                            <a:rPr lang="zh-TW" altLang="en-US" sz="1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TW" sz="16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  <m:sSub>
                            <m:sSubPr>
                              <m:ctrlP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e>
                      </m:d>
                      <m:r>
                        <a:rPr lang="en-US" altLang="zh-TW" sz="1600" i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i="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1600" i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600" i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i="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,&lt;</m:t>
                                  </m:r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i="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1600" i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zh-TW" altLang="en-US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600" i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600" i="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,&lt;</m:t>
                                  </m:r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TW" sz="1600" i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TW" sz="16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6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TW" sz="1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600" i="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TW" sz="1600" i="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altLang="zh-TW" sz="1600" i="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600" i="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,&lt;</m:t>
                                      </m:r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600" i="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TW" sz="1600" i="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zh-TW" altLang="en-US" sz="1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altLang="zh-TW" sz="1600" i="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600" i="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,&lt;</m:t>
                                      </m:r>
                                      <m:r>
                                        <a:rPr lang="zh-TW" altLang="en-US" sz="16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altLang="zh-TW" sz="1600" i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en-US" altLang="zh-TW" sz="1600" b="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(4)</m:t>
                      </m:r>
                    </m:oMath>
                  </m:oMathPara>
                </a14:m>
                <a:endParaRPr sz="160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552" y="1844784"/>
                <a:ext cx="10222992" cy="6538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04672" y="3246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Role of KL Regularization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11880"/>
            <a:ext cx="1046988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Reference policy: </a:t>
            </a:r>
            <a:r>
              <a:rPr sz="1450">
                <a:solidFill>
                  <a:srgbClr val="000000"/>
                </a:solidFill>
                <a:latin typeface="Georgia"/>
              </a:rPr>
              <a:t>usually the initial SFT model, π_ref.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86784"/>
            <a:ext cx="1046988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In PPO: </a:t>
            </a:r>
            <a:r>
              <a:rPr sz="1450">
                <a:solidFill>
                  <a:srgbClr val="000000"/>
                </a:solidFill>
                <a:latin typeface="Georgia"/>
              </a:rPr>
              <a:t>the KL term is incorporated into the reward at each token.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61688"/>
            <a:ext cx="10469880" cy="49352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In GRPO: </a:t>
            </a:r>
            <a:r>
              <a:rPr sz="1450">
                <a:solidFill>
                  <a:srgbClr val="000000"/>
                </a:solidFill>
                <a:latin typeface="Georgia"/>
              </a:rPr>
              <a:t>the KL divergence is added directly to the optimization objective, keeping the group-relative advantage calculation separate.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919218"/>
            <a:ext cx="1046988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Estimator: </a:t>
            </a:r>
            <a:r>
              <a:rPr sz="1450">
                <a:solidFill>
                  <a:srgbClr val="000000"/>
                </a:solidFill>
                <a:latin typeface="Georgia"/>
              </a:rPr>
              <a:t>the paper uses this positive unbiased estimator (Schulman, 2020).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FA01DB-61D5-7F0B-6813-BFBD7B1D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3396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 dirty="0">
                <a:solidFill>
                  <a:srgbClr val="000000"/>
                </a:solidFill>
                <a:latin typeface="Georgia"/>
              </a:rPr>
              <a:t>4.1.2 </a:t>
            </a:r>
            <a:r>
              <a:rPr lang="en-US" sz="2700" b="1" i="0" dirty="0">
                <a:solidFill>
                  <a:srgbClr val="000000"/>
                </a:solidFill>
                <a:latin typeface="Georgia"/>
              </a:rPr>
              <a:t>                                                                           </a:t>
            </a:r>
            <a:r>
              <a:rPr lang="en-US" sz="2700" b="1" dirty="0">
                <a:solidFill>
                  <a:srgbClr val="000000"/>
                </a:solidFill>
                <a:latin typeface="Georgia"/>
              </a:rPr>
              <a:t>4.1.3</a:t>
            </a:r>
            <a:endParaRPr sz="2700" b="1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Group-Level Reward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408176"/>
            <a:ext cx="4718304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en-US" sz="1000" b="0" i="1" dirty="0">
                <a:solidFill>
                  <a:srgbClr val="000000"/>
                </a:solidFill>
                <a:latin typeface="Georgia"/>
              </a:rPr>
              <a:t>Outcome Supervision RL with GRPO</a:t>
            </a:r>
            <a:endParaRPr sz="1000" b="0" i="1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" y="1727845"/>
            <a:ext cx="4645152" cy="54938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endParaRPr sz="1600" b="0" i="0" dirty="0">
              <a:solidFill>
                <a:srgbClr val="000000"/>
              </a:solidFill>
              <a:latin typeface="Cambria Math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0" i="0" dirty="0" err="1">
                <a:solidFill>
                  <a:srgbClr val="000000"/>
                </a:solidFill>
                <a:latin typeface="Cambria Math"/>
              </a:rPr>
              <a:t>Â_i,t</a:t>
            </a:r>
            <a:r>
              <a:rPr sz="1600" b="0" i="0" dirty="0">
                <a:solidFill>
                  <a:srgbClr val="000000"/>
                </a:solidFill>
                <a:latin typeface="Cambria Math"/>
              </a:rPr>
              <a:t> = r̃_</a:t>
            </a:r>
            <a:r>
              <a:rPr sz="1600" b="0" i="0" dirty="0" err="1">
                <a:solidFill>
                  <a:srgbClr val="000000"/>
                </a:solidFill>
                <a:latin typeface="Cambria Math"/>
              </a:rPr>
              <a:t>i</a:t>
            </a:r>
            <a:r>
              <a:rPr sz="1600" b="0" i="0" dirty="0">
                <a:solidFill>
                  <a:srgbClr val="000000"/>
                </a:solidFill>
                <a:latin typeface="Cambria Math"/>
              </a:rPr>
              <a:t>  for every token t in output </a:t>
            </a:r>
            <a:r>
              <a:rPr sz="1600" b="0" i="0" dirty="0" err="1">
                <a:solidFill>
                  <a:srgbClr val="000000"/>
                </a:solidFill>
                <a:latin typeface="Cambria Math"/>
              </a:rPr>
              <a:t>o_i</a:t>
            </a:r>
            <a:endParaRPr sz="1600" b="0" i="0" dirty="0">
              <a:solidFill>
                <a:srgbClr val="000000"/>
              </a:solidFill>
              <a:latin typeface="Cambria Math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3127248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Procedure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74720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30" b="1">
                <a:solidFill>
                  <a:srgbClr val="000000"/>
                </a:solidFill>
                <a:latin typeface="Georgia"/>
              </a:rPr>
              <a:t>• 1. Sample: </a:t>
            </a:r>
            <a:r>
              <a:rPr sz="1430">
                <a:solidFill>
                  <a:srgbClr val="000000"/>
                </a:solidFill>
                <a:latin typeface="Georgia"/>
              </a:rPr>
              <a:t>for a question q, draw G candidate outputs from the old policy.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58768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30" b="1">
                <a:solidFill>
                  <a:srgbClr val="000000"/>
                </a:solidFill>
                <a:latin typeface="Georgia"/>
              </a:rPr>
              <a:t>• 2. Score: </a:t>
            </a:r>
            <a:r>
              <a:rPr sz="1430">
                <a:solidFill>
                  <a:srgbClr val="000000"/>
                </a:solidFill>
                <a:latin typeface="Georgia"/>
              </a:rPr>
              <a:t>the reward model assigns one scalar reward to each completed output.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42816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30" b="1">
                <a:solidFill>
                  <a:srgbClr val="000000"/>
                </a:solidFill>
                <a:latin typeface="Georgia"/>
              </a:rPr>
              <a:t>• 3. Normalize: </a:t>
            </a:r>
            <a:r>
              <a:rPr sz="1430">
                <a:solidFill>
                  <a:srgbClr val="000000"/>
                </a:solidFill>
                <a:latin typeface="Georgia"/>
              </a:rPr>
              <a:t>subtract the group mean and divide by the group standard deviation.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26864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30" b="1">
                <a:solidFill>
                  <a:srgbClr val="000000"/>
                </a:solidFill>
                <a:latin typeface="Georgia"/>
              </a:rPr>
              <a:t>• 4. Broadcast: </a:t>
            </a:r>
            <a:r>
              <a:rPr sz="1430">
                <a:solidFill>
                  <a:srgbClr val="000000"/>
                </a:solidFill>
                <a:latin typeface="Georgia"/>
              </a:rPr>
              <a:t>use the normalized result as the advantage for all tokens in that output, then maximize Equation (3).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Outcome supervision provides feedback at the end of each output rather than at each reasoning step.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2CB2184-6F74-71B4-F49D-8EB39779B7BC}"/>
                  </a:ext>
                </a:extLst>
              </p:cNvPr>
              <p:cNvSpPr txBox="1"/>
              <p:nvPr/>
            </p:nvSpPr>
            <p:spPr>
              <a:xfrm>
                <a:off x="2031623" y="2523055"/>
                <a:ext cx="2520434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i="0">
                              <a:latin typeface="Cambria Math" panose="02040503050406030204" pitchFamily="18" charset="0"/>
                            </a:rPr>
                            <m:t>mean</m:t>
                          </m:r>
                          <m:d>
                            <m:d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</m:d>
                        </m:num>
                        <m:den>
                          <m:r>
                            <m:rPr>
                              <m:nor/>
                            </m:rPr>
                            <a:rPr lang="en-US" altLang="zh-TW" b="0" i="0">
                              <a:latin typeface="Cambria Math" panose="02040503050406030204" pitchFamily="18" charset="0"/>
                            </a:rPr>
                            <m:t>std</m:t>
                          </m:r>
                          <m:d>
                            <m:d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</m:d>
                        </m:den>
                      </m:f>
                      <m:r>
                        <a:rPr lang="en-US" altLang="zh-TW" b="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2CB2184-6F74-71B4-F49D-8EB39779B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623" y="2523055"/>
                <a:ext cx="2520434" cy="576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AD37669-A738-663D-7FE4-B0E2F902DF63}"/>
                  </a:ext>
                </a:extLst>
              </p:cNvPr>
              <p:cNvSpPr txBox="1"/>
              <p:nvPr/>
            </p:nvSpPr>
            <p:spPr>
              <a:xfrm>
                <a:off x="7859486" y="3103334"/>
                <a:ext cx="3265125" cy="651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𝑖𝑛𝑑𝑒𝑥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𝑖𝑛𝑑𝑒𝑥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TW" i="0">
                              <a:latin typeface="Cambria Math" panose="02040503050406030204" pitchFamily="18" charset="0"/>
                            </a:rPr>
                            <m:t>mean</m:t>
                          </m:r>
                          <m:d>
                            <m:d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</m:d>
                        </m:num>
                        <m:den>
                          <m:r>
                            <m:rPr>
                              <m:nor/>
                            </m:rPr>
                            <a:rPr lang="en-US" altLang="zh-TW" b="0" i="0">
                              <a:latin typeface="Cambria Math" panose="02040503050406030204" pitchFamily="18" charset="0"/>
                            </a:rPr>
                            <m:t>std</m:t>
                          </m:r>
                          <m:d>
                            <m:d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</m:d>
                        </m:den>
                      </m:f>
                      <m:r>
                        <a:rPr lang="en-US" altLang="zh-TW" b="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AD37669-A738-663D-7FE4-B0E2F902D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86" y="3103334"/>
                <a:ext cx="3265125" cy="651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3EFC971-9AC4-8368-39BB-7AB0FF7AE911}"/>
                  </a:ext>
                </a:extLst>
              </p:cNvPr>
              <p:cNvSpPr txBox="1"/>
              <p:nvPr/>
            </p:nvSpPr>
            <p:spPr>
              <a:xfrm>
                <a:off x="8274150" y="5202279"/>
                <a:ext cx="2435795" cy="704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𝑖𝑛𝑑𝑒𝑥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𝑖𝑛𝑑𝑒𝑥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3EFC971-9AC4-8368-39BB-7AB0FF7AE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150" y="5202279"/>
                <a:ext cx="2435795" cy="7047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CB3B748E-188B-C112-93E4-09F6AA31A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4B7EFD55-C79A-D294-F67F-F67911AC1887}"/>
              </a:ext>
            </a:extLst>
          </p:cNvPr>
          <p:cNvSpPr txBox="1"/>
          <p:nvPr/>
        </p:nvSpPr>
        <p:spPr>
          <a:xfrm>
            <a:off x="7859486" y="1485345"/>
            <a:ext cx="4718304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en-US" sz="1000" b="0" i="1" dirty="0">
                <a:solidFill>
                  <a:srgbClr val="000000"/>
                </a:solidFill>
                <a:latin typeface="Georgia"/>
              </a:rPr>
              <a:t>Process Supervision RL with GRPO</a:t>
            </a:r>
            <a:endParaRPr sz="1000" b="0" i="1" dirty="0">
              <a:solidFill>
                <a:srgbClr val="000000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4.1.3 Process Supervision RL with GRPO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Step-Level Reward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408176"/>
            <a:ext cx="5266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Process-supervision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645920"/>
            <a:ext cx="5193792" cy="71323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50" b="0" i="0">
                <a:solidFill>
                  <a:srgbClr val="000000"/>
                </a:solidFill>
                <a:latin typeface="Cambria Math"/>
              </a:rPr>
              <a:t>r̃_i,index(j) = [ r_i,index(j) − mean(R) ] / std(R)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50" b="0" i="0">
                <a:solidFill>
                  <a:srgbClr val="000000"/>
                </a:solidFill>
                <a:latin typeface="Cambria Math"/>
              </a:rPr>
              <a:t>Â_i,t = Σ_{index(j) ≥ t} r̃_i,index(j)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960120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>
                <a:solidFill>
                  <a:srgbClr val="000000"/>
                </a:solidFill>
                <a:latin typeface="Georgia"/>
              </a:rPr>
              <a:t>Where Rewards Enter the Reasoning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1508760"/>
            <a:ext cx="83210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000000"/>
                </a:solidFill>
                <a:latin typeface="Georgia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1856232"/>
            <a:ext cx="832103" cy="35661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Georgia"/>
              </a:rPr>
              <a:t>reward rᵢ¹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5" y="1508760"/>
            <a:ext cx="83210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000000"/>
                </a:solidFill>
                <a:latin typeface="Georgia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5" y="1856232"/>
            <a:ext cx="832103" cy="35661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Georgia"/>
              </a:rPr>
              <a:t>reward rᵢ²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1508760"/>
            <a:ext cx="83210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000000"/>
                </a:solidFill>
                <a:latin typeface="Georgia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1856232"/>
            <a:ext cx="832103" cy="35661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Georgia"/>
              </a:rPr>
              <a:t>reward rᵢ³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1591" y="1508760"/>
            <a:ext cx="83210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000000"/>
                </a:solidFill>
                <a:latin typeface="Georgia"/>
              </a:rPr>
              <a:t>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1591" y="1856232"/>
            <a:ext cx="832103" cy="35661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50" b="0" i="0">
                <a:solidFill>
                  <a:srgbClr val="000000"/>
                </a:solidFill>
                <a:latin typeface="Georgia"/>
              </a:rPr>
              <a:t>reward rᵢᴷ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97180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Difference from Outcome Supervision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310128"/>
            <a:ext cx="1042416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Outcome supervision: </a:t>
            </a:r>
            <a:r>
              <a:rPr sz="1420">
                <a:solidFill>
                  <a:srgbClr val="000000"/>
                </a:solidFill>
                <a:latin typeface="Georgia"/>
              </a:rPr>
              <a:t>one reward at the end; every token in that answer receives the same normalized advantage.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13048"/>
            <a:ext cx="10424160" cy="4754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Process supervision: </a:t>
            </a:r>
            <a:r>
              <a:rPr sz="1420">
                <a:solidFill>
                  <a:srgbClr val="000000"/>
                </a:solidFill>
                <a:latin typeface="Georgia"/>
              </a:rPr>
              <a:t>a process reward model scores each reasoning step; each token receives the sum of normalized rewards from the current and following steps.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334256"/>
            <a:ext cx="1042416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Motivation: </a:t>
            </a:r>
            <a:r>
              <a:rPr sz="1420">
                <a:solidFill>
                  <a:srgbClr val="000000"/>
                </a:solidFill>
                <a:latin typeface="Georgia"/>
              </a:rPr>
              <a:t>fine-grained feedback may be more informative for complex multi-step mathematics.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91456"/>
            <a:ext cx="10424160" cy="4754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Optimization: </a:t>
            </a:r>
            <a:r>
              <a:rPr sz="1420">
                <a:solidFill>
                  <a:srgbClr val="000000"/>
                </a:solidFill>
                <a:latin typeface="Georgia"/>
              </a:rPr>
              <a:t>both variants maximize the same GRPO objective in Equation (3); the advantage construction differs.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05AB0C-C9E7-1ADF-9E63-CFB820B3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B6113-CBF9-32E6-6721-5BBEB215D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B957C6-A924-0B14-DC22-5F5EA9441422}"/>
              </a:ext>
            </a:extLst>
          </p:cNvPr>
          <p:cNvSpPr txBox="1"/>
          <p:nvPr/>
        </p:nvSpPr>
        <p:spPr>
          <a:xfrm>
            <a:off x="502920" y="228600"/>
            <a:ext cx="11155680" cy="4647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 dirty="0">
                <a:solidFill>
                  <a:srgbClr val="000000"/>
                </a:solidFill>
                <a:latin typeface="Georgia"/>
              </a:rPr>
              <a:t>4.1.</a:t>
            </a:r>
            <a:r>
              <a:rPr lang="en-US" sz="2900" b="1" i="0" dirty="0">
                <a:solidFill>
                  <a:srgbClr val="000000"/>
                </a:solidFill>
                <a:latin typeface="Georgia"/>
              </a:rPr>
              <a:t>4</a:t>
            </a:r>
            <a:r>
              <a:rPr sz="2900" b="1" i="0" dirty="0">
                <a:solidFill>
                  <a:srgbClr val="000000"/>
                </a:solidFill>
                <a:latin typeface="Georgia"/>
              </a:rPr>
              <a:t> 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AFFC263-B3F2-9EA0-4E23-8B3AF77E3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63" y="1115725"/>
            <a:ext cx="9731893" cy="4575282"/>
          </a:xfrm>
          <a:prstGeom prst="rect">
            <a:avLst/>
          </a:prstGeom>
        </p:spPr>
      </p:pic>
      <p:sp>
        <p:nvSpPr>
          <p:cNvPr id="21" name="投影片編號版面配置區 20">
            <a:extLst>
              <a:ext uri="{FF2B5EF4-FFF2-40B4-BE49-F238E27FC236}">
                <a16:creationId xmlns:a16="http://schemas.microsoft.com/office/drawing/2014/main" id="{20FE3A93-A4FF-3DAC-9B7A-018E65B14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20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4.1.4 Iterative RL with GRPO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106527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80" b="1" i="0">
                <a:solidFill>
                  <a:srgbClr val="000000"/>
                </a:solidFill>
                <a:latin typeface="Georgia"/>
              </a:rPr>
              <a:t>Algorithm 1 · Iterative Group Relative Policy 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1353312"/>
            <a:ext cx="10469880" cy="22677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000000"/>
                </a:solidFill>
                <a:latin typeface="Georgia"/>
              </a:rPr>
              <a:t>1. Initialize policy: </a:t>
            </a:r>
            <a:r>
              <a:rPr sz="1450">
                <a:solidFill>
                  <a:srgbClr val="000000"/>
                </a:solidFill>
                <a:latin typeface="Georgia"/>
              </a:rPr>
              <a:t>πθ ← πθ_init.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000000"/>
                </a:solidFill>
                <a:latin typeface="Georgia"/>
              </a:rPr>
              <a:t>2. Set reference: </a:t>
            </a:r>
            <a:r>
              <a:rPr sz="1450">
                <a:solidFill>
                  <a:srgbClr val="000000"/>
                </a:solidFill>
                <a:latin typeface="Georgia"/>
              </a:rPr>
              <a:t>π_ref ← current πθ.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000000"/>
                </a:solidFill>
                <a:latin typeface="Georgia"/>
              </a:rPr>
              <a:t>3. Sample outputs: </a:t>
            </a:r>
            <a:r>
              <a:rPr sz="1450">
                <a:solidFill>
                  <a:srgbClr val="000000"/>
                </a:solidFill>
                <a:latin typeface="Georgia"/>
              </a:rPr>
              <a:t>draw G outputs per prompt.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000000"/>
                </a:solidFill>
                <a:latin typeface="Georgia"/>
              </a:rPr>
              <a:t>4. Score and normalize: </a:t>
            </a:r>
            <a:r>
              <a:rPr sz="1450">
                <a:solidFill>
                  <a:srgbClr val="000000"/>
                </a:solidFill>
                <a:latin typeface="Georgia"/>
              </a:rPr>
              <a:t>convert rewards into group advantages.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000000"/>
                </a:solidFill>
                <a:latin typeface="Georgia"/>
              </a:rPr>
              <a:t>5. Update policy: </a:t>
            </a:r>
            <a:r>
              <a:rPr sz="1450">
                <a:solidFill>
                  <a:srgbClr val="000000"/>
                </a:solidFill>
                <a:latin typeface="Georgia"/>
              </a:rPr>
              <a:t>maximize Equation (3).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000000"/>
                </a:solidFill>
                <a:latin typeface="Georgia"/>
              </a:rPr>
              <a:t>6. Refresh reward model: </a:t>
            </a:r>
            <a:r>
              <a:rPr sz="1450">
                <a:solidFill>
                  <a:srgbClr val="000000"/>
                </a:solidFill>
                <a:latin typeface="Georgia"/>
              </a:rPr>
              <a:t>use new samples together with replay data.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767328"/>
            <a:ext cx="10469880" cy="1645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>
                <a:solidFill>
                  <a:srgbClr val="000000"/>
                </a:solidFill>
                <a:latin typeface="Georgia"/>
              </a:rPr>
              <a:t>• </a:t>
            </a:r>
            <a:r>
              <a:rPr sz="1450" b="1">
                <a:solidFill>
                  <a:srgbClr val="000000"/>
                </a:solidFill>
                <a:latin typeface="Georgia"/>
              </a:rPr>
              <a:t>Replay mechanism: </a:t>
            </a:r>
            <a:r>
              <a:rPr sz="1450">
                <a:solidFill>
                  <a:srgbClr val="000000"/>
                </a:solidFill>
                <a:latin typeface="Georgia"/>
              </a:rPr>
              <a:t>retain 10% of historical reward-model data during continuous reward-model training.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>
                <a:solidFill>
                  <a:srgbClr val="000000"/>
                </a:solidFill>
                <a:latin typeface="Georgia"/>
              </a:rPr>
              <a:t>• </a:t>
            </a:r>
            <a:r>
              <a:rPr sz="1450" b="1">
                <a:solidFill>
                  <a:srgbClr val="000000"/>
                </a:solidFill>
                <a:latin typeface="Georgia"/>
              </a:rPr>
              <a:t>Iteration benefit: </a:t>
            </a:r>
            <a:r>
              <a:rPr sz="1450">
                <a:solidFill>
                  <a:srgbClr val="000000"/>
                </a:solidFill>
                <a:latin typeface="Georgia"/>
              </a:rPr>
              <a:t>update the reward model to supervise the current policy as it changes.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50">
                <a:solidFill>
                  <a:srgbClr val="000000"/>
                </a:solidFill>
                <a:latin typeface="Georgia"/>
              </a:rPr>
              <a:t>• </a:t>
            </a:r>
            <a:r>
              <a:rPr sz="1450" b="1">
                <a:solidFill>
                  <a:srgbClr val="000000"/>
                </a:solidFill>
                <a:latin typeface="Georgia"/>
              </a:rPr>
              <a:t>Paper experiment: </a:t>
            </a:r>
            <a:r>
              <a:rPr sz="1450">
                <a:solidFill>
                  <a:srgbClr val="000000"/>
                </a:solidFill>
                <a:latin typeface="Georgia"/>
              </a:rPr>
              <a:t>two RL iterations were tested, with a substantial gain in the first iteration.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B67D69-D5DE-5B65-D370-E0F038E1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4.2 Training and Evaluating DeepSeekMath-RL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 u="sng">
                <a:solidFill>
                  <a:srgbClr val="000000"/>
                </a:solidFill>
                <a:latin typeface="Georgia"/>
              </a:rPr>
              <a:t>Reinforcement-Learning Training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444752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Policy initialization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2020824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DeepSeekMath-Instruct 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1444752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000000"/>
                </a:solidFill>
                <a:latin typeface="Georgia"/>
              </a:rPr>
              <a:t>RL training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792224"/>
            <a:ext cx="2020824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~144K CoT questions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from GSM8K + 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444752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000000"/>
                </a:solidFill>
                <a:latin typeface="Georgia"/>
              </a:rPr>
              <a:t>Reward model LR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792224"/>
            <a:ext cx="2020824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Georgia"/>
              </a:rPr>
              <a:t>2 × 10⁻⁵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444752"/>
            <a:ext cx="20208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000000"/>
                </a:solidFill>
                <a:latin typeface="Georgia"/>
              </a:rPr>
              <a:t>Policy LR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792224"/>
            <a:ext cx="2020824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Georgia"/>
              </a:rPr>
              <a:t>1 × 10⁻⁶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8036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GRPO Hyperparameters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" y="3383280"/>
            <a:ext cx="22037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KL coefficient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" y="3730752"/>
            <a:ext cx="2203704" cy="40233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Georgia"/>
              </a:rPr>
              <a:t>β = 0.04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48" y="3383280"/>
            <a:ext cx="22037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000000"/>
                </a:solidFill>
                <a:latin typeface="Georgia"/>
              </a:rPr>
              <a:t>Samples /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48" y="3730752"/>
            <a:ext cx="2203704" cy="40233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Georgia"/>
              </a:rPr>
              <a:t>G = 64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3383280"/>
            <a:ext cx="22037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000000"/>
                </a:solidFill>
                <a:latin typeface="Georgia"/>
              </a:rPr>
              <a:t>Maximum length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3730752"/>
            <a:ext cx="2203704" cy="40233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Georgia"/>
              </a:rPr>
              <a:t>1,024 tokens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2328" y="3383280"/>
            <a:ext cx="160934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000000"/>
                </a:solidFill>
                <a:latin typeface="Georgia"/>
              </a:rPr>
              <a:t>Batch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3730752"/>
            <a:ext cx="1609344" cy="40233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Georgia"/>
              </a:rPr>
              <a:t>1,024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709160"/>
            <a:ext cx="10241280" cy="4754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000000"/>
                </a:solidFill>
                <a:latin typeface="Georgia"/>
              </a:rPr>
              <a:t>• Data restriction: </a:t>
            </a:r>
            <a:r>
              <a:rPr sz="1400">
                <a:solidFill>
                  <a:srgbClr val="000000"/>
                </a:solidFill>
                <a:latin typeface="Georgia"/>
              </a:rPr>
              <a:t>only CoT-format SFT questions from GSM8K and MATH are used in RL; other SFT questions are excluded.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239512"/>
            <a:ext cx="10241280" cy="4754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000000"/>
                </a:solidFill>
                <a:latin typeface="Georgia"/>
              </a:rPr>
              <a:t>• Evaluation: </a:t>
            </a:r>
            <a:r>
              <a:rPr sz="1400">
                <a:solidFill>
                  <a:srgbClr val="000000"/>
                </a:solidFill>
                <a:latin typeface="Georgia"/>
              </a:rPr>
              <a:t>GSM8K and MATH are treated as in-domain; other mathematical benchmarks measure transfer to out-of-domain tasks.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Hyperparameters transcribed from Section 4.2 of the paper.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BDA2E8-AF59-9BB2-CF71-3ABDC041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4.2 Training and Evaluating DeepSeekMath-RL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55080" y="1267691"/>
            <a:ext cx="2791749" cy="23391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Main Finding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91656" y="1587731"/>
            <a:ext cx="5487231" cy="473719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Broad improvement: </a:t>
            </a:r>
            <a:r>
              <a:rPr sz="1420">
                <a:solidFill>
                  <a:srgbClr val="000000"/>
                </a:solidFill>
                <a:latin typeface="Georgia"/>
              </a:rPr>
              <a:t>RL trained on GSM8K/MATH CoT data improves all four benchmarks shown.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3213" y="2197421"/>
            <a:ext cx="5487231" cy="70974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 dirty="0">
                <a:solidFill>
                  <a:srgbClr val="000000"/>
                </a:solidFill>
                <a:latin typeface="Georgia"/>
              </a:rPr>
              <a:t>• Beyond training data: </a:t>
            </a:r>
            <a:r>
              <a:rPr sz="1420" dirty="0">
                <a:solidFill>
                  <a:srgbClr val="000000"/>
                </a:solidFill>
                <a:latin typeface="Georgia"/>
              </a:rPr>
              <a:t>Chinese benchmarks and tool-integrated tasks also improve even though they are not all directly supervised in RL.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55080" y="3043138"/>
            <a:ext cx="5487231" cy="4846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 dirty="0">
                <a:solidFill>
                  <a:srgbClr val="000000"/>
                </a:solidFill>
                <a:latin typeface="Georgia"/>
              </a:rPr>
              <a:t>• Paper claim: </a:t>
            </a:r>
            <a:r>
              <a:rPr sz="1420" dirty="0" err="1">
                <a:solidFill>
                  <a:srgbClr val="000000"/>
                </a:solidFill>
                <a:latin typeface="Georgia"/>
              </a:rPr>
              <a:t>DeepSeekMath</a:t>
            </a:r>
            <a:r>
              <a:rPr sz="1420" dirty="0">
                <a:solidFill>
                  <a:srgbClr val="000000"/>
                </a:solidFill>
                <a:latin typeface="Georgia"/>
              </a:rPr>
              <a:t>-RL 7B exceeds 50% top-1 accuracy on competition-level MATH without external tools or voting.</a:t>
            </a:r>
          </a:p>
        </p:txBody>
      </p:sp>
      <p:sp>
        <p:nvSpPr>
          <p:cNvPr id="93" name="投影片編號版面配置區 92">
            <a:extLst>
              <a:ext uri="{FF2B5EF4-FFF2-40B4-BE49-F238E27FC236}">
                <a16:creationId xmlns:a16="http://schemas.microsoft.com/office/drawing/2014/main" id="{95B53F25-49C9-B2A9-A97E-10219DC6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pic>
        <p:nvPicPr>
          <p:cNvPr id="95" name="圖片 94">
            <a:extLst>
              <a:ext uri="{FF2B5EF4-FFF2-40B4-BE49-F238E27FC236}">
                <a16:creationId xmlns:a16="http://schemas.microsoft.com/office/drawing/2014/main" id="{A7AF550C-1C07-60FD-6B4C-67C5858D7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7" y="696378"/>
            <a:ext cx="4437729" cy="602509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5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Discussion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572768"/>
            <a:ext cx="30266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 u="sng">
                <a:solidFill>
                  <a:srgbClr val="000000"/>
                </a:solidFill>
                <a:latin typeface="Georgia"/>
              </a:rPr>
              <a:t>5.1 Lessons Learnt in Pre-Training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1920240"/>
            <a:ext cx="3026663" cy="72237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Code training; arXiv data; corpus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572768"/>
            <a:ext cx="30266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5.2 Insights of Reinforcement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20240"/>
            <a:ext cx="3026663" cy="72237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Unified view of RL methods; why RL helps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7" y="1572768"/>
            <a:ext cx="30266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6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7" y="1920240"/>
            <a:ext cx="3026663" cy="72237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Data scale + SFT + GRPO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Questions the Discussion Addresses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1037844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Pre-training: </a:t>
            </a:r>
            <a:r>
              <a:rPr sz="1450">
                <a:solidFill>
                  <a:srgbClr val="000000"/>
                </a:solidFill>
                <a:latin typeface="Georgia"/>
              </a:rPr>
              <a:t>does code training help math? Do arXiv papers provide useful math-training signal?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68496"/>
            <a:ext cx="1037844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Reinforcement learning: </a:t>
            </a:r>
            <a:r>
              <a:rPr sz="1450">
                <a:solidFill>
                  <a:srgbClr val="000000"/>
                </a:solidFill>
                <a:latin typeface="Georgia"/>
              </a:rPr>
              <a:t>is the gain caused by better fundamental capability, more robust output distributions, or both?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52544"/>
            <a:ext cx="1037844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Unified analysis: </a:t>
            </a:r>
            <a:r>
              <a:rPr sz="1450">
                <a:solidFill>
                  <a:srgbClr val="000000"/>
                </a:solidFill>
                <a:latin typeface="Georgia"/>
              </a:rPr>
              <a:t>how do the data source, reward function and gradient coefficient differ across SFT, RFT, DPO, PPO and GRPO?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37844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Future direction: </a:t>
            </a:r>
            <a:r>
              <a:rPr sz="1450">
                <a:solidFill>
                  <a:srgbClr val="000000"/>
                </a:solidFill>
                <a:latin typeface="Georgia"/>
              </a:rPr>
              <a:t>how can data, algorithms and reward models make RL more effective?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2CF8B8-4FC1-5AA2-F6A9-6302CD78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5.1 Lessons Learnt in Pre-Training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106527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80" b="1" i="0">
                <a:solidFill>
                  <a:srgbClr val="000000"/>
                </a:solidFill>
                <a:latin typeface="Georgia"/>
              </a:rPr>
              <a:t>Code and Math Training Recipes · DeepSeek-LLM 1.3B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470916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Takeaways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60" y="5029200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60" b="1">
                <a:solidFill>
                  <a:srgbClr val="000000"/>
                </a:solidFill>
                <a:latin typeface="Georgia"/>
              </a:rPr>
              <a:t>• Code first, then math: </a:t>
            </a:r>
            <a:r>
              <a:rPr sz="1360">
                <a:solidFill>
                  <a:srgbClr val="000000"/>
                </a:solidFill>
                <a:latin typeface="Georgia"/>
              </a:rPr>
              <a:t>best no-tool mathematical scores among the listed training recipes.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" y="5376672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60" b="1">
                <a:solidFill>
                  <a:srgbClr val="000000"/>
                </a:solidFill>
                <a:latin typeface="Georgia"/>
              </a:rPr>
              <a:t>• Mixed code + math: </a:t>
            </a:r>
            <a:r>
              <a:rPr sz="1360">
                <a:solidFill>
                  <a:srgbClr val="000000"/>
                </a:solidFill>
                <a:latin typeface="Georgia"/>
              </a:rPr>
              <a:t>performs best for the shown Python-assisted scores.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5724144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20" b="1">
                <a:solidFill>
                  <a:srgbClr val="000000"/>
                </a:solidFill>
                <a:latin typeface="Georgia"/>
              </a:rPr>
              <a:t>• Training order matters: </a:t>
            </a:r>
            <a:r>
              <a:rPr sz="1320" b="0">
                <a:solidFill>
                  <a:srgbClr val="000000"/>
                </a:solidFill>
                <a:latin typeface="Georgia"/>
              </a:rPr>
              <a:t>token count alone does not explain performance.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C64E24B-E26E-520C-C4D0-2CDC0F4DA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332703"/>
            <a:ext cx="6327886" cy="3304183"/>
          </a:xfrm>
          <a:prstGeom prst="rect">
            <a:avLst/>
          </a:prstGeom>
        </p:spPr>
      </p:pic>
      <p:sp>
        <p:nvSpPr>
          <p:cNvPr id="83" name="文字方塊 82">
            <a:extLst>
              <a:ext uri="{FF2B5EF4-FFF2-40B4-BE49-F238E27FC236}">
                <a16:creationId xmlns:a16="http://schemas.microsoft.com/office/drawing/2014/main" id="{C17C9533-8D50-0F50-13E9-F69A26130273}"/>
              </a:ext>
            </a:extLst>
          </p:cNvPr>
          <p:cNvSpPr txBox="1"/>
          <p:nvPr/>
        </p:nvSpPr>
        <p:spPr>
          <a:xfrm>
            <a:off x="7588332" y="1992497"/>
            <a:ext cx="42412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training settings outlined in Section 2.2.1.</a:t>
            </a:r>
          </a:p>
          <a:p>
            <a:r>
              <a:rPr lang="en-US" altLang="zh-TW" dirty="0"/>
              <a:t>use an 89B-token dataset from </a:t>
            </a:r>
          </a:p>
          <a:p>
            <a:r>
              <a:rPr lang="en-US" altLang="zh-TW" dirty="0"/>
              <a:t>the second iteration of</a:t>
            </a:r>
          </a:p>
          <a:p>
            <a:r>
              <a:rPr lang="en-US" altLang="zh-TW" dirty="0"/>
              <a:t>the data collection process</a:t>
            </a:r>
            <a:endParaRPr lang="zh-TW" altLang="en-US" dirty="0"/>
          </a:p>
        </p:txBody>
      </p:sp>
      <p:sp>
        <p:nvSpPr>
          <p:cNvPr id="85" name="投影片編號版面配置區 84">
            <a:extLst>
              <a:ext uri="{FF2B5EF4-FFF2-40B4-BE49-F238E27FC236}">
                <a16:creationId xmlns:a16="http://schemas.microsoft.com/office/drawing/2014/main" id="{25018759-E0A8-EBF6-2A2E-3719680F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50" b="1" i="0">
                <a:solidFill>
                  <a:srgbClr val="000000"/>
                </a:solidFill>
                <a:latin typeface="Georgia"/>
              </a:rPr>
              <a:t>5.1.1 Code Training Benefits Mathematical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 u="sng">
                <a:solidFill>
                  <a:srgbClr val="000000"/>
                </a:solidFill>
                <a:latin typeface="Georgia"/>
              </a:rPr>
              <a:t>General Reasoning and Coding · Table 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" y="452628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Interpretation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5166360"/>
            <a:ext cx="1033272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20" b="1">
                <a:solidFill>
                  <a:srgbClr val="000000"/>
                </a:solidFill>
                <a:latin typeface="Georgia"/>
              </a:rPr>
              <a:t>• Coding capability: </a:t>
            </a:r>
            <a:r>
              <a:rPr sz="1320" b="0">
                <a:solidFill>
                  <a:srgbClr val="000000"/>
                </a:solidFill>
                <a:latin typeface="Georgia"/>
              </a:rPr>
              <a:t>code + math mixing improves HumanEval and MBPP.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5541264"/>
            <a:ext cx="1033272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20" b="1">
                <a:solidFill>
                  <a:srgbClr val="000000"/>
                </a:solidFill>
                <a:latin typeface="Georgia"/>
              </a:rPr>
              <a:t>• Broader effect: </a:t>
            </a:r>
            <a:r>
              <a:rPr sz="1320" b="0">
                <a:solidFill>
                  <a:srgbClr val="000000"/>
                </a:solidFill>
                <a:latin typeface="Georgia"/>
              </a:rPr>
              <a:t>math training can also benefit general reasoning and language tasks.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FAFA525-F0C2-BFA2-06B4-E7BE7E0BD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80744"/>
            <a:ext cx="4817055" cy="261264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42156842-0E5B-BC1F-0D8C-B972C0F4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6149"/>
            <a:ext cx="4887814" cy="1600242"/>
          </a:xfrm>
          <a:prstGeom prst="rect">
            <a:avLst/>
          </a:prstGeom>
        </p:spPr>
      </p:pic>
      <p:sp>
        <p:nvSpPr>
          <p:cNvPr id="74" name="投影片編號版面配置區 73">
            <a:extLst>
              <a:ext uri="{FF2B5EF4-FFF2-40B4-BE49-F238E27FC236}">
                <a16:creationId xmlns:a16="http://schemas.microsoft.com/office/drawing/2014/main" id="{FC39DD9A-3A85-5117-FC6C-688D9F8F2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950" b="1" i="0">
                <a:solidFill>
                  <a:srgbClr val="000000"/>
                </a:solidFill>
                <a:latin typeface="Georgia"/>
              </a:rPr>
              <a:t>5.1.2 ArXiv Papers Seem Ineffective in Improving Mathematical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 u="sng">
                <a:solidFill>
                  <a:srgbClr val="000000"/>
                </a:solidFill>
                <a:latin typeface="Georgia"/>
              </a:rPr>
              <a:t>Formal-Proving Evaluation · miniF2F (Isabelle)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1444752"/>
            <a:ext cx="30266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Data sources tested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1792224"/>
            <a:ext cx="3026663" cy="13167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MathPile: 8.9B tokens, &gt;85% arXiv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ArXiv-RedPajama: 28B tokens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Full arXiv LaTeX after cleaning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79476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Authors’ Interpretation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096512"/>
            <a:ext cx="10378440" cy="40233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10" b="1">
                <a:solidFill>
                  <a:srgbClr val="000000"/>
                </a:solidFill>
                <a:latin typeface="Georgia"/>
              </a:rPr>
              <a:t>• No consistent gain: </a:t>
            </a:r>
            <a:r>
              <a:rPr sz="1410">
                <a:solidFill>
                  <a:srgbClr val="000000"/>
                </a:solidFill>
                <a:latin typeface="Georgia"/>
              </a:rPr>
              <a:t>arXiv-only corpora show no notable improvement and can reduce mathematical-reasoning scores.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544568"/>
            <a:ext cx="10378440" cy="4754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10" b="1">
                <a:solidFill>
                  <a:srgbClr val="000000"/>
                </a:solidFill>
                <a:latin typeface="Georgia"/>
              </a:rPr>
              <a:t>• Possible nuance: </a:t>
            </a:r>
            <a:r>
              <a:rPr sz="1410">
                <a:solidFill>
                  <a:srgbClr val="000000"/>
                </a:solidFill>
                <a:latin typeface="Georgia"/>
              </a:rPr>
              <a:t>the paper notes that future work should test arXiv when mixed with other data, for informal-to-formal theorem proving, and at larger model scales.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065776"/>
            <a:ext cx="10378440" cy="4754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10" b="1">
                <a:solidFill>
                  <a:srgbClr val="000000"/>
                </a:solidFill>
                <a:latin typeface="Georgia"/>
              </a:rPr>
              <a:t>• Do not overgeneralize: </a:t>
            </a:r>
            <a:r>
              <a:rPr sz="1410">
                <a:solidFill>
                  <a:srgbClr val="000000"/>
                </a:solidFill>
                <a:latin typeface="Georgia"/>
              </a:rPr>
              <a:t>the result concerns the corpora and experimental settings tested here, not a claim that every arXiv document is useless.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8A110E1-EF20-33B9-1EDA-87AE70F1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39878"/>
            <a:ext cx="6952802" cy="1605658"/>
          </a:xfrm>
          <a:prstGeom prst="rect">
            <a:avLst/>
          </a:prstGeom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A963F0A-175A-93E8-3291-B73966C6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647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 dirty="0">
                <a:solidFill>
                  <a:srgbClr val="000000"/>
                </a:solidFill>
                <a:latin typeface="Georgia"/>
              </a:rPr>
              <a:t>5.2.1 Towards a Unified Paradigm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Equation (5) · General Gradient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408176"/>
            <a:ext cx="102504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87552" y="1784833"/>
                <a:ext cx="10177272" cy="654859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TW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TW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𝒥</m:t>
                        </m:r>
                      </m:e>
                      <m:sub>
                        <m:r>
                          <a:rPr lang="en-US" altLang="zh-TW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altLang="zh-TW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TW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limLow>
                          <m:limLowPr>
                            <m:ctrlPr>
                              <a:rPr lang="en-US" altLang="zh-TW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pos m:val="bot"/>
                                <m:vertJc m:val="top"/>
                                <m:ctrlPr>
                                  <a:rPr lang="en-US" altLang="zh-TW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d>
                                  <m:dPr>
                                    <m:ctrlPr>
                                      <a:rPr lang="en-US" altLang="zh-TW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zh-TW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</m:d>
                                <m:r>
                                  <a:rPr lang="en-US" altLang="zh-TW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US" altLang="zh-TW" sz="16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𝒟</m:t>
                                </m:r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lang="en-US" altLang="zh-TW" sz="1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Data Source</m:t>
                            </m:r>
                          </m:lim>
                        </m:limLow>
                      </m:e>
                    </m:d>
                    <m:d>
                      <m:dPr>
                        <m:ctrlPr>
                          <a:rPr lang="en-US" altLang="zh-TW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</m:d>
                          </m:sup>
                          <m:e>
                            <m:limLow>
                              <m:limLowPr>
                                <m:ctrlP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groupChr>
                                  <m:groupChrPr>
                                    <m:chr m:val="⏟"/>
                                    <m:pos m:val="bot"/>
                                    <m:vertJc m:val="top"/>
                                    <m:ctrlPr>
                                      <a:rPr lang="en-US" altLang="zh-TW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altLang="zh-TW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  <m:sSub>
                                      <m:sSubPr>
                                        <m:ctrlPr>
                                          <a:rPr lang="en-US" altLang="zh-TW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zh-TW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𝒜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TW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n-US" altLang="zh-TW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  <m:r>
                                          <a:rPr lang="en-US" altLang="zh-TW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zh-TW" sz="16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𝑟𝑓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groupCh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en-US" altLang="zh-TW" sz="16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Gradient Coefficient</m:t>
                                </m:r>
                              </m:lim>
                            </m:limLow>
                          </m:e>
                        </m:nary>
                        <m:sSub>
                          <m:sSubPr>
                            <m:ctrlP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func>
                              <m:funcPr>
                                <m:ctrlP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func>
                          </m:e>
                          <m:sub>
                            <m: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TW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TW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TW" sz="1600" b="0" i="0" dirty="0">
                    <a:solidFill>
                      <a:srgbClr val="000000"/>
                    </a:solidFill>
                    <a:latin typeface="Cambria Math"/>
                  </a:rPr>
                  <a:t>,</a:t>
                </a:r>
                <a:r>
                  <a:rPr lang="zh-TW" altLang="en-US" sz="1600" b="0" i="0" dirty="0">
                    <a:solidFill>
                      <a:srgbClr val="000000"/>
                    </a:solidFill>
                    <a:latin typeface="Cambria Math"/>
                  </a:rPr>
                  <a:t>     </a:t>
                </a:r>
                <a:r>
                  <a:rPr lang="en-US" altLang="zh-TW" sz="1600" b="0" i="0" dirty="0">
                    <a:solidFill>
                      <a:srgbClr val="000000"/>
                    </a:solidFill>
                    <a:latin typeface="Cambria Math"/>
                  </a:rPr>
                  <a:t>(5)</a:t>
                </a:r>
                <a:endParaRPr sz="160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552" y="1784833"/>
                <a:ext cx="10177272" cy="654859"/>
              </a:xfrm>
              <a:prstGeom prst="rect">
                <a:avLst/>
              </a:prstGeom>
              <a:blipFill>
                <a:blip r:embed="rId2"/>
                <a:stretch>
                  <a:fillRect t="-50467" b="-467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77240" y="306324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Three Ingredients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584448"/>
            <a:ext cx="28895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 u="sng">
                <a:solidFill>
                  <a:srgbClr val="000000"/>
                </a:solidFill>
                <a:latin typeface="Georgia"/>
              </a:rPr>
              <a:t>D · Data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3931920"/>
            <a:ext cx="2889504" cy="60350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Determines prompts and sampled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584448"/>
            <a:ext cx="28895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 dirty="0">
                <a:solidFill>
                  <a:srgbClr val="000000"/>
                </a:solidFill>
                <a:latin typeface="Georgia"/>
              </a:rPr>
              <a:t>r / π_ref · Reward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931920"/>
            <a:ext cx="2889504" cy="60350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Rule-based judgment or a learned reward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3584448"/>
            <a:ext cx="28895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A ·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7" y="3931920"/>
            <a:ext cx="2889504" cy="60350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Produces GC, the token-level gradient coefficient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 u="sng">
                <a:solidFill>
                  <a:srgbClr val="000000"/>
                </a:solidFill>
                <a:latin typeface="Georgia"/>
              </a:rPr>
              <a:t>GC controls how strongly each token probability is reinforced or penalized.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The appendix derives specific choices of data source and GC for SFT, RFT, Online RFT, DPO, PPO and GRPO.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B4D9C8-EA27-786A-D32F-56CA5185B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5.2 Insights of Reinforcement Learning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5138928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 u="sng">
                <a:solidFill>
                  <a:srgbClr val="000000"/>
                </a:solidFill>
                <a:latin typeface="Georgia"/>
              </a:rPr>
              <a:t>Three Components in the Paper’s Analysis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431536"/>
            <a:ext cx="1033272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270" b="1">
                <a:solidFill>
                  <a:srgbClr val="000000"/>
                </a:solidFill>
                <a:latin typeface="Georgia"/>
              </a:rPr>
              <a:t>• Data source: </a:t>
            </a:r>
            <a:r>
              <a:rPr sz="1270" b="0">
                <a:solidFill>
                  <a:srgbClr val="000000"/>
                </a:solidFill>
                <a:latin typeface="Georgia"/>
              </a:rPr>
              <a:t>prompts and outputs determine which examples train the policy.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5769864"/>
            <a:ext cx="1033272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270" b="1">
                <a:solidFill>
                  <a:srgbClr val="000000"/>
                </a:solidFill>
                <a:latin typeface="Georgia"/>
              </a:rPr>
              <a:t>• Reward + algorithm: </a:t>
            </a:r>
            <a:r>
              <a:rPr sz="1270" b="0">
                <a:solidFill>
                  <a:srgbClr val="000000"/>
                </a:solidFill>
                <a:latin typeface="Georgia"/>
              </a:rPr>
              <a:t>scores become token-level weights that reinforce or penalize outputs.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22B25AE-4B63-EED7-C342-22ADA755B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1049"/>
            <a:ext cx="8912680" cy="3343449"/>
          </a:xfrm>
          <a:prstGeom prst="rect">
            <a:avLst/>
          </a:prstGeom>
        </p:spPr>
      </p:pic>
      <p:sp>
        <p:nvSpPr>
          <p:cNvPr id="67" name="投影片編號版面配置區 66">
            <a:extLst>
              <a:ext uri="{FF2B5EF4-FFF2-40B4-BE49-F238E27FC236}">
                <a16:creationId xmlns:a16="http://schemas.microsoft.com/office/drawing/2014/main" id="{8B1AC917-EB50-D914-2F4C-C5A309D57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02C00-FD80-B3B5-9761-044CD7EF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E44E9F-9EC4-0F10-BF1D-A07FB3FEAB66}"/>
              </a:ext>
            </a:extLst>
          </p:cNvPr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5.2 Insights of Reinforcement Learning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42DEE67-14F2-F2C0-A9CF-050CF482F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91" y="908577"/>
            <a:ext cx="5515495" cy="280152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D903C3B-C67A-9B89-91C3-1B73596E6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414" y="824380"/>
            <a:ext cx="5259185" cy="296943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04C889F-E08F-683F-2281-5D29A921D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939" y="3709617"/>
            <a:ext cx="5208951" cy="2830360"/>
          </a:xfrm>
          <a:prstGeom prst="rect">
            <a:avLst/>
          </a:prstGeom>
        </p:spPr>
      </p:pic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0F7F613C-EDAA-BBE4-71A9-130D643C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99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A.1.1 Supervised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 u="sng">
                <a:solidFill>
                  <a:srgbClr val="000000"/>
                </a:solidFill>
                <a:latin typeface="Georgia"/>
              </a:rPr>
              <a:t>Equations (6)–(7) · SFT Objective and Gradient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408176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(6)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69264" y="1462100"/>
                <a:ext cx="10268712" cy="824841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𝑆𝐹𝑇</m:t>
                          </m:r>
                        </m:sub>
                      </m:sSub>
                      <m:d>
                        <m:dPr>
                          <m:ctrlPr>
                            <a:rPr lang="en-US" altLang="zh-TW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</m:sup>
                            <m:e>
                              <m:sSub>
                                <m:sSubPr>
                                  <m:ctrlP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unc>
                                    <m:funcPr>
                                      <m:ctrlPr>
                                        <a:rPr lang="en-US" altLang="zh-TW" sz="15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5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altLang="zh-TW" sz="15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func>
                                </m:e>
                                <m:sub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e>
                          </m:nary>
                          <m:d>
                            <m:dPr>
                              <m:ctrlP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zh-TW" sz="15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155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155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1462100"/>
                <a:ext cx="10268712" cy="8248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932688" y="2478024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(7)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969264" y="2541854"/>
                <a:ext cx="10268712" cy="805029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51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1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TW" sz="151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TW" sz="151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1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51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𝑆𝐹𝑇</m:t>
                          </m:r>
                        </m:sub>
                      </m:sSub>
                      <m:r>
                        <a:rPr lang="en-US" altLang="zh-TW" sz="151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51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1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51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</m:sup>
                            <m:e>
                              <m:sSub>
                                <m:sSubPr>
                                  <m:ctrlP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func>
                            </m:e>
                            <m:sub>
                              <m: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51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zh-TW" sz="151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151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151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2541854"/>
                <a:ext cx="10268712" cy="805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777240" y="365760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2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Data source: </a:t>
            </a:r>
            <a:r>
              <a:rPr sz="1450">
                <a:solidFill>
                  <a:srgbClr val="000000"/>
                </a:solidFill>
                <a:latin typeface="Georgia"/>
              </a:rPr>
              <a:t>question–answer pairs selected for supervised fine-tuning.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07408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Reward function: </a:t>
            </a:r>
            <a:r>
              <a:rPr sz="1450">
                <a:solidFill>
                  <a:srgbClr val="000000"/>
                </a:solidFill>
                <a:latin typeface="Georgia"/>
              </a:rPr>
              <a:t>implicit human selection of the target response; no separate reward model is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9744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50" b="1">
                <a:solidFill>
                  <a:srgbClr val="000000"/>
                </a:solidFill>
                <a:latin typeface="Georgia"/>
              </a:rPr>
              <a:t>• Gradient coefficient: </a:t>
            </a:r>
            <a:r>
              <a:rPr sz="1450">
                <a:solidFill>
                  <a:srgbClr val="000000"/>
                </a:solidFill>
                <a:latin typeface="Georgia"/>
              </a:rPr>
              <a:t>always 1 for target tokens; standard next-token log-likelihood learning.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FC8F76-C173-94AD-B96C-14C9E53E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A.1.2 Rejection Sampling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106527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80" b="1" i="0">
                <a:solidFill>
                  <a:srgbClr val="000000"/>
                </a:solidFill>
                <a:latin typeface="Georgia"/>
              </a:rPr>
              <a:t>Equations (8)–(10) · RFT Objective, Gradient and Coefficient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380744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(8)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69264" y="1518854"/>
                <a:ext cx="10268712" cy="775340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𝑅𝐹𝑇</m:t>
                          </m:r>
                        </m:sub>
                      </m:sSub>
                      <m:d>
                        <m:d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1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</m:sup>
                            <m:e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</m:e>
                          </m:nary>
                          <m:d>
                            <m:dPr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func>
                            </m:e>
                            <m:sub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1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145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1518854"/>
                <a:ext cx="10268712" cy="7753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932688" y="2542032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(9)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969264" y="2602418"/>
                <a:ext cx="10268712" cy="775340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𝑅𝐹𝑇</m:t>
                          </m:r>
                        </m:sub>
                      </m:sSub>
                      <m:d>
                        <m:d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1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</m:sup>
                            <m:e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</m:e>
                          </m:nary>
                          <m:d>
                            <m:dPr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func>
                            </m:e>
                            <m:sub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1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145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2602418"/>
                <a:ext cx="10268712" cy="7753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932688" y="3547872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(10)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969264" y="3681999"/>
                <a:ext cx="10268712" cy="554704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TW" sz="145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𝑅𝐹𝑇</m:t>
                          </m:r>
                        </m:sub>
                      </m:sSub>
                      <m:d>
                        <m:d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1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  <m:r>
                        <a:rPr lang="en-US" altLang="zh-TW" sz="1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14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145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the answer of o is correct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4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145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the answer of o is incorrect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145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681999"/>
                <a:ext cx="10268712" cy="5547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822960" y="4526280"/>
            <a:ext cx="1042416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10" b="1">
                <a:solidFill>
                  <a:srgbClr val="000000"/>
                </a:solidFill>
                <a:latin typeface="Georgia"/>
              </a:rPr>
              <a:t>• Procedure: </a:t>
            </a:r>
            <a:r>
              <a:rPr sz="1410">
                <a:solidFill>
                  <a:srgbClr val="000000"/>
                </a:solidFill>
                <a:latin typeface="Georgia"/>
              </a:rPr>
              <a:t>sample multiple outputs from the SFT model, keep correct outputs, then fine-tune on accepted outputs.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10328"/>
            <a:ext cx="10424160" cy="479907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10" b="1" dirty="0">
                <a:solidFill>
                  <a:srgbClr val="000000"/>
                </a:solidFill>
                <a:latin typeface="Georgia"/>
              </a:rPr>
              <a:t>• Implication: </a:t>
            </a:r>
            <a:r>
              <a:rPr sz="1410" dirty="0">
                <a:solidFill>
                  <a:srgbClr val="000000"/>
                </a:solidFill>
                <a:latin typeface="Georgia"/>
              </a:rPr>
              <a:t>correct answers receive positive learning weight; incorrect answers receive zero weight in this simplified formulation.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E76B3B-E17A-2426-578F-263968D4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A.1.3 Online Rejection Sampling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Equation (11) · Online RFT Gradient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472184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(11)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69264" y="1639099"/>
                <a:ext cx="10268712" cy="800027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𝑂𝑛𝑅𝐹𝑇</m:t>
                          </m:r>
                        </m:sub>
                      </m:sSub>
                      <m:d>
                        <m:dPr>
                          <m:ctrlP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1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</m:sup>
                            <m:e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</m:e>
                          </m:nary>
                          <m:d>
                            <m:dPr>
                              <m:ctrl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func>
                            </m:e>
                            <m:sub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1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150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1639099"/>
                <a:ext cx="10268712" cy="8000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77240" y="292608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Difference from Offline RFT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429000"/>
            <a:ext cx="42611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 u="sng">
                <a:solidFill>
                  <a:srgbClr val="000000"/>
                </a:solidFill>
                <a:latin typeface="Georgia"/>
              </a:rPr>
              <a:t>Offline RFT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3776472"/>
            <a:ext cx="4261104" cy="58521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Outputs are sampled from the fixed SFT model π_SFT.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429000"/>
            <a:ext cx="42611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Online RFT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776472"/>
            <a:ext cx="4261104" cy="58521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Outputs are sampled from the current policy π_θ.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28032"/>
            <a:ext cx="1024128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Shared rule signal: </a:t>
            </a:r>
            <a:r>
              <a:rPr sz="1420">
                <a:solidFill>
                  <a:srgbClr val="000000"/>
                </a:solidFill>
                <a:latin typeface="Georgia"/>
              </a:rPr>
              <a:t>I(o) indicates answer correctness.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84648"/>
            <a:ext cx="10241280" cy="483311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Main distinction: </a:t>
            </a:r>
            <a:r>
              <a:rPr sz="1420">
                <a:solidFill>
                  <a:srgbClr val="000000"/>
                </a:solidFill>
                <a:latin typeface="Georgia"/>
              </a:rPr>
              <a:t>the training examples are refreshed from the real-time policy, allowing exploration to track current behavior.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53155C-B65D-4EB8-3B36-91B05EE5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A.1.4 Direct Preference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Equation (12) · DPO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103875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(12) · Conditional context is omitted from token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50976" y="1669113"/>
                <a:ext cx="10314432" cy="758285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𝐷𝑃𝑂</m:t>
                          </m:r>
                        </m:sub>
                      </m:sSub>
                      <m:d>
                        <m:d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p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p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func>
                        <m:func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  <m:d>
                        <m:d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>
                            <m:fPr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  <m:e>
                              <m:func>
                                <m:func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den>
                                  </m:f>
                                </m:e>
                              </m:func>
                            </m:e>
                          </m:nary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>
                            <m:fPr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  <m:e>
                              <m:func>
                                <m:func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den>
                                  </m:f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sz="140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" y="1669113"/>
                <a:ext cx="10314432" cy="7582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77240" y="27889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Equation (13) · Pairwise Gradient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82112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(13)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69264" y="3269092"/>
                <a:ext cx="10268712" cy="850169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𝐷𝑃𝑂</m:t>
                          </m:r>
                        </m:sub>
                      </m:sSub>
                      <m:d>
                        <m:d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138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p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p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p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p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  <m:e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𝐷𝑃𝑂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func>
                            </m:e>
                            <m:sub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p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p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  <m:e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𝐷𝑃𝑂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func>
                            </m:e>
                            <m:sub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sz="138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269092"/>
                <a:ext cx="10268712" cy="8501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932688" y="4352544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(14) · Token-level coefficient (abbreviated)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969264" y="4530494"/>
                <a:ext cx="10268712" cy="540212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TW" sz="138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𝐷𝑃𝑂</m:t>
                          </m:r>
                        </m:sub>
                      </m:sSub>
                      <m:d>
                        <m:d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138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38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&lt;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</m:sup>
                                      </m:sSubSup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&lt;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</m:sup>
                                      </m:sSubSup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&lt;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bSup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&lt;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bSup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sz="138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4530494"/>
                <a:ext cx="10268712" cy="5402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o⁺ is the preferred output, o⁻ the rejected output; full formulas condition each token probability on q and preceding tokens.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29DAA8-E87A-A7AC-D10A-94FF3534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A.1.5 Proximal Policy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Equation (15) · PPO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353312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(15)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69264" y="1514036"/>
                <a:ext cx="10268712" cy="720967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𝑃𝑃𝑂</m:t>
                          </m:r>
                        </m:sub>
                      </m:sSub>
                      <m:d>
                        <m:dPr>
                          <m:ctrlP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1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𝑜𝑙𝑑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f>
                        <m:fPr>
                          <m:ctrlP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d>
                        </m:sup>
                        <m:e>
                          <m:func>
                            <m:funcPr>
                              <m:ctrl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TW" sz="1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sz="15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clip</m:t>
                                  </m:r>
                                  <m:d>
                                    <m:dPr>
                                      <m:ctrlP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5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𝑜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𝑜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𝑜𝑙𝑑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𝑜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  <m:r>
                                                <a:rPr lang="en-US" altLang="zh-TW" sz="15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𝑜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&lt;</m:t>
                                                  </m:r>
                                                  <m:r>
                                                    <a:rPr lang="en-US" altLang="zh-TW" sz="15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den>
                                      </m:f>
                                      <m: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,1−</m:t>
                                      </m:r>
                                      <m: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,1+</m:t>
                                      </m:r>
                                      <m: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TW" sz="1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TW" sz="1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150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1514036"/>
                <a:ext cx="10268712" cy="7209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77240" y="2514600"/>
            <a:ext cx="106527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80" b="1" i="0">
                <a:solidFill>
                  <a:srgbClr val="000000"/>
                </a:solidFill>
                <a:latin typeface="Georgia"/>
              </a:rPr>
              <a:t>Equations (16)–(17) · Simplified Objective and Gradient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07792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(16)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69264" y="3001474"/>
                <a:ext cx="10268712" cy="672172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𝑃𝑃𝑂</m:t>
                          </m:r>
                        </m:sub>
                      </m:sSub>
                      <m:d>
                        <m:d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139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𝑜𝑙𝑑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f>
                        <m:f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d>
                        </m:sup>
                        <m:e>
                          <m:f>
                            <m:fPr>
                              <m:ctrl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&lt;</m:t>
                                      </m:r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𝑜𝑙𝑑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&lt;</m:t>
                                      </m:r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139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139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001474"/>
                <a:ext cx="10268712" cy="6721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932688" y="3877055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(17)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969264" y="3970738"/>
                <a:ext cx="10268712" cy="672172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𝑃𝑃𝑂</m:t>
                          </m:r>
                        </m:sub>
                      </m:sSub>
                      <m:d>
                        <m:d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139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39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𝑜𝑙𝑑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39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f>
                        <m:f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func>
                        </m:e>
                        <m:sub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139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TW" sz="139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139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970738"/>
                <a:ext cx="10268712" cy="672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932688" y="4855464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(18)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969264" y="5049356"/>
                <a:ext cx="10268712" cy="316305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TW" sz="145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𝑃𝑃𝑂</m:t>
                          </m:r>
                        </m:sub>
                      </m:sSub>
                      <m:d>
                        <m:d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4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𝑟𝑚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altLang="zh-TW" sz="1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14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14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sz="145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5049356"/>
                <a:ext cx="10268712" cy="3163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A_t is computed with GAE from token rewards and a learned value function Vψ; PPO therefore needs a critic/value model.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95095D-9EBA-3277-2A59-36194FB6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A.1.6 Group Relative Policy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106527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80" b="1" i="0">
                <a:solidFill>
                  <a:srgbClr val="000000"/>
                </a:solidFill>
                <a:latin typeface="Georgia"/>
              </a:rPr>
              <a:t>Equation (19) · GRPO Objective (Simplified Analysis)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353312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(19) · Token conditioning on q and previous tokens is abbreviated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69264" y="1705237"/>
                <a:ext cx="10268712" cy="667747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𝐺𝑅𝑃𝑂</m:t>
                          </m:r>
                        </m:sub>
                      </m:sSub>
                      <m:d>
                        <m:d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138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bSup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𝑜𝑙𝑑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f>
                        <m:fPr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f>
                            <m:fPr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38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,&lt;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,&lt;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38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,&lt;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,&lt;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8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altLang="zh-TW" sz="138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𝑟𝑒𝑓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𝑜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𝑜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,&lt;</m:t>
                                                  </m:r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𝑜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  <m:r>
                                                <a:rPr lang="en-US" altLang="zh-TW" sz="138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𝑜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,&lt;</m:t>
                                                  </m:r>
                                                  <m:r>
                                                    <a:rPr lang="en-US" altLang="zh-TW" sz="138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den>
                                      </m:f>
                                    </m:e>
                                  </m:func>
                                  <m:r>
                                    <a:rPr lang="en-US" altLang="zh-TW" sz="138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altLang="zh-TW" sz="138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138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1705237"/>
                <a:ext cx="10268712" cy="6677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77240" y="2816352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Equation (20) · GRPO Gradient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209544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(20)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69264" y="3428998"/>
                <a:ext cx="10268712" cy="676660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𝐺𝑅𝑃𝑂</m:t>
                          </m:r>
                        </m:sub>
                      </m:sSub>
                      <m:d>
                        <m:d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𝑠𝑓𝑡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bSup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𝑜𝑙𝑑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sub>
                      </m:sSub>
                      <m:f>
                        <m:f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f>
                            <m:fPr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,&lt;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,&lt;</m:t>
                                              </m:r>
                                              <m:r>
                                                <a:rPr lang="en-US" altLang="zh-TW" sz="1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  <m:r>
                                    <a:rPr lang="en-US" altLang="zh-TW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func>
                        </m:e>
                        <m:sub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,&lt;</m:t>
                              </m:r>
                              <m:r>
                                <a:rPr lang="en-US" altLang="zh-TW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TW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140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428998"/>
                <a:ext cx="10268712" cy="676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932688" y="4462272"/>
            <a:ext cx="10341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 i="1">
                <a:solidFill>
                  <a:srgbClr val="000000"/>
                </a:solidFill>
                <a:latin typeface="Georgia"/>
              </a:rPr>
              <a:t>Equation (21)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969264" y="4562898"/>
                <a:ext cx="10268712" cy="621709"/>
              </a:xfrm>
              <a:prstGeom prst="rect">
                <a:avLst/>
              </a:prstGeom>
              <a:noFill/>
            </p:spPr>
            <p:txBody>
              <a:bodyPr wrap="square" lIns="9144" tIns="9144" rIns="9144" bIns="9144" anchor="ctr">
                <a:spAutoFit/>
              </a:bodyPr>
              <a:lstStyle/>
              <a:p>
                <a:pPr algn="ctr">
                  <a:lnSpc>
                    <a:spcPct val="100000"/>
                  </a:lnSpc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TW" sz="142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𝐺𝑅𝑃𝑂</m:t>
                          </m:r>
                        </m:sub>
                      </m:sSub>
                      <m:d>
                        <m:dPr>
                          <m:ctrlP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14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𝑟𝑚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altLang="zh-TW" sz="14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zh-TW" sz="14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4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14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4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4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,&lt;</m:t>
                                      </m:r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TW" sz="14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,&lt;</m:t>
                                      </m:r>
                                      <m:r>
                                        <a:rPr lang="en-US" altLang="zh-TW" sz="14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en-US" altLang="zh-TW" sz="14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sz="1420" b="0" i="0" dirty="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4562898"/>
                <a:ext cx="10268712" cy="6217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This simplified equation assumes π_old = π_θ for the appendix derivation. The main training objective uses the clipped form in Equation (3).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7736D3-1B3D-C7D8-543B-3338253D4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5.2.2 Why RL Works?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Pass@K vs. Maj@K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481328"/>
            <a:ext cx="343814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 i="0" u="sng">
                <a:solidFill>
                  <a:srgbClr val="000000"/>
                </a:solidFill>
                <a:latin typeface="Georgia"/>
              </a:rPr>
              <a:t>Pass@K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1828800"/>
            <a:ext cx="3438144" cy="6583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Does at least one of K samples solve the problem?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7" y="1481328"/>
            <a:ext cx="343814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 i="0">
                <a:solidFill>
                  <a:srgbClr val="000000"/>
                </a:solidFill>
                <a:latin typeface="Georgia"/>
              </a:rPr>
              <a:t>Maj@K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7" y="1828800"/>
            <a:ext cx="3438144" cy="6583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Does the majority / most frequent answer become correct?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Observed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01568"/>
            <a:ext cx="10424160" cy="4754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RL improves Maj@K: </a:t>
            </a:r>
            <a:r>
              <a:rPr sz="1420">
                <a:solidFill>
                  <a:srgbClr val="000000"/>
                </a:solidFill>
                <a:latin typeface="Georgia"/>
              </a:rPr>
              <a:t>the model becomes more likely to produce a correct answer consistently across samples.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13632"/>
            <a:ext cx="10424160" cy="4754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Pass@K does not improve similarly: </a:t>
            </a:r>
            <a:r>
              <a:rPr sz="1420">
                <a:solidFill>
                  <a:srgbClr val="000000"/>
                </a:solidFill>
                <a:latin typeface="Georgia"/>
              </a:rPr>
              <a:t>the best-of-K capability is not the metric showing the main RL gain.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25696"/>
            <a:ext cx="10424160" cy="4754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Authors’ interpretation: </a:t>
            </a:r>
            <a:r>
              <a:rPr sz="1420">
                <a:solidFill>
                  <a:srgbClr val="000000"/>
                </a:solidFill>
                <a:latin typeface="Georgia"/>
              </a:rPr>
              <a:t>RL may primarily make the output distribution more robust by increasing the probability of correct responses among sampled candidates, rather than creating wholly new underlying capabilities.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47488"/>
            <a:ext cx="1042416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20" b="1">
                <a:solidFill>
                  <a:srgbClr val="000000"/>
                </a:solidFill>
                <a:latin typeface="Georgia"/>
              </a:rPr>
              <a:t>• Implication: </a:t>
            </a:r>
            <a:r>
              <a:rPr sz="1420">
                <a:solidFill>
                  <a:srgbClr val="000000"/>
                </a:solidFill>
                <a:latin typeface="Georgia"/>
              </a:rPr>
              <a:t>reasoning evaluation should distinguish “can produce a correct answer at least once” from “usually produces a correct answer.”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367256-795F-70F2-9834-2BAE6376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000000"/>
                </a:solidFill>
                <a:latin typeface="Georgia"/>
              </a:rPr>
              <a:t>5.2.3 How to Achieve More Effective RL?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257300"/>
            <a:ext cx="3191256" cy="2139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000000"/>
                </a:solidFill>
                <a:latin typeface="Georgia"/>
              </a:rP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257300"/>
            <a:ext cx="3191256" cy="2139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000000"/>
                </a:solidFill>
                <a:latin typeface="Georgia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257300"/>
            <a:ext cx="3191256" cy="2139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000000"/>
                </a:solidFill>
                <a:latin typeface="Georgia"/>
              </a:rPr>
              <a:t>Reward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93392"/>
            <a:ext cx="3200400" cy="89855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20" b="1">
                <a:solidFill>
                  <a:srgbClr val="000000"/>
                </a:solidFill>
                <a:latin typeface="Georgia"/>
              </a:rPr>
              <a:t>• Broader prompts: </a:t>
            </a:r>
            <a:r>
              <a:rPr sz="1320">
                <a:solidFill>
                  <a:srgbClr val="000000"/>
                </a:solidFill>
                <a:latin typeface="Georgia"/>
              </a:rPr>
              <a:t>improve generalization to out-of-distribution problems and advanced decoding or tree-search strategies.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65094"/>
            <a:ext cx="3200400" cy="6739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20" b="1">
                <a:solidFill>
                  <a:srgbClr val="000000"/>
                </a:solidFill>
                <a:latin typeface="Georgia"/>
              </a:rPr>
              <a:t>• Efficient exploration: </a:t>
            </a:r>
            <a:r>
              <a:rPr sz="1320">
                <a:solidFill>
                  <a:srgbClr val="000000"/>
                </a:solidFill>
                <a:latin typeface="Georgia"/>
              </a:rPr>
              <a:t>inference-time efficiency directly affects how much policy exploration can be done.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93392"/>
            <a:ext cx="3200400" cy="6739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20" b="1">
                <a:solidFill>
                  <a:srgbClr val="000000"/>
                </a:solidFill>
                <a:latin typeface="Georgia"/>
              </a:rPr>
              <a:t>• Robustness to noise: </a:t>
            </a:r>
            <a:r>
              <a:rPr sz="1320">
                <a:solidFill>
                  <a:srgbClr val="000000"/>
                </a:solidFill>
                <a:latin typeface="Georgia"/>
              </a:rPr>
              <a:t>the algorithm should avoid blindly trusting unreliable reward signals.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40456"/>
            <a:ext cx="3200400" cy="6739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20" b="1">
                <a:solidFill>
                  <a:srgbClr val="000000"/>
                </a:solidFill>
                <a:latin typeface="Georgia"/>
              </a:rPr>
              <a:t>• Weak-to-strong alignment: </a:t>
            </a:r>
            <a:r>
              <a:rPr sz="1320">
                <a:solidFill>
                  <a:srgbClr val="000000"/>
                </a:solidFill>
                <a:latin typeface="Georgia"/>
              </a:rPr>
              <a:t>use algorithmic improvements to reduce dependence on perfect supervision.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993392"/>
            <a:ext cx="3182112" cy="6739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20" b="1">
                <a:solidFill>
                  <a:srgbClr val="000000"/>
                </a:solidFill>
                <a:latin typeface="Georgia"/>
              </a:rPr>
              <a:t>• OOD generalization: </a:t>
            </a:r>
            <a:r>
              <a:rPr sz="1320">
                <a:solidFill>
                  <a:srgbClr val="000000"/>
                </a:solidFill>
                <a:latin typeface="Georgia"/>
              </a:rPr>
              <a:t>reward models must score new questions and advanced outputs reliably.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722168"/>
            <a:ext cx="3182112" cy="6739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20" b="1">
                <a:solidFill>
                  <a:srgbClr val="000000"/>
                </a:solidFill>
                <a:latin typeface="Georgia"/>
              </a:rPr>
              <a:t>• Uncertainty: </a:t>
            </a:r>
            <a:r>
              <a:rPr sz="1320">
                <a:solidFill>
                  <a:srgbClr val="000000"/>
                </a:solidFill>
                <a:latin typeface="Georgia"/>
              </a:rPr>
              <a:t>represent reward-model uncertainty, potentially to avoid over-optimizing noisy scores.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3450945"/>
            <a:ext cx="3182112" cy="67391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320" b="1">
                <a:solidFill>
                  <a:srgbClr val="000000"/>
                </a:solidFill>
                <a:latin typeface="Georgia"/>
              </a:rPr>
              <a:t>• Combine signals: </a:t>
            </a:r>
            <a:r>
              <a:rPr sz="1320">
                <a:solidFill>
                  <a:srgbClr val="000000"/>
                </a:solidFill>
                <a:latin typeface="Georgia"/>
              </a:rPr>
              <a:t>rule-based correctness and learned reward models offer complementary supervision.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70832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 u="sng">
                <a:solidFill>
                  <a:srgbClr val="000000"/>
                </a:solidFill>
                <a:latin typeface="Georgia"/>
              </a:rPr>
              <a:t>Potential Limitation Highlighted by the Paper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18304"/>
            <a:ext cx="1042416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Georgia"/>
              </a:rPr>
              <a:t>Even carefully annotated process-reward data (PRM800K) is reported to contain approximately 20% incorrect annotations, illustrating how noisy reward signals can become a bottleneck.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00000"/>
                </a:solidFill>
                <a:latin typeface="Georgia"/>
              </a:rPr>
              <a:t>These are research directions discussed by the authors, not completed methods demonstrated by this paper.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C826E7-A5BE-F2D6-3969-C9235E73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6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Main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508760"/>
            <a:ext cx="30266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 u="sng">
                <a:solidFill>
                  <a:srgbClr val="000000"/>
                </a:solidFill>
                <a:latin typeface="Georgia"/>
              </a:rPr>
              <a:t>Scalable math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1856232"/>
            <a:ext cx="3026663" cy="6309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120B math tokens selected from Common Crawl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508760"/>
            <a:ext cx="30266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Math-trained 7B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26663" cy="6309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Code-trained initialization + 500B-token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7" y="1508760"/>
            <a:ext cx="30266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Memory-efficient 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7" y="1856232"/>
            <a:ext cx="3026663" cy="6309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Georgia"/>
              </a:rPr>
              <a:t>GRPO removes the separate value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Headline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57600"/>
            <a:ext cx="21122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2100" b="1" i="0">
                <a:solidFill>
                  <a:srgbClr val="000000"/>
                </a:solidFill>
                <a:latin typeface="Georgia"/>
              </a:rPr>
              <a:t>88.2%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005072"/>
            <a:ext cx="2112263" cy="53949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GSM8K · RL · CoT top-1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3657600"/>
            <a:ext cx="21122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2100" b="1" i="0">
                <a:solidFill>
                  <a:srgbClr val="000000"/>
                </a:solidFill>
                <a:latin typeface="Georgia"/>
              </a:rPr>
              <a:t>51.7%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8" y="4005072"/>
            <a:ext cx="2112263" cy="53949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MATH · RL · CoT top-1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657600"/>
            <a:ext cx="21122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2100" b="1" i="0">
                <a:solidFill>
                  <a:srgbClr val="000000"/>
                </a:solidFill>
                <a:latin typeface="Georgia"/>
              </a:rPr>
              <a:t>60.9%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005072"/>
            <a:ext cx="2112263" cy="53949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MATH · 64-sample self-consistency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657600"/>
            <a:ext cx="211226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2100" b="1" i="0">
                <a:solidFill>
                  <a:srgbClr val="000000"/>
                </a:solidFill>
                <a:latin typeface="Georgia"/>
              </a:rPr>
              <a:t>7B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4005072"/>
            <a:ext cx="2112263" cy="53949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50" b="0" i="0">
                <a:solidFill>
                  <a:srgbClr val="000000"/>
                </a:solidFill>
                <a:latin typeface="Georgia"/>
              </a:rPr>
              <a:t>Model parameter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10378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000000"/>
                </a:solidFill>
                <a:latin typeface="Georgia"/>
              </a:rPr>
              <a:t>The paper’s central message: carefully selected mathematical data, code-pretrained initialization, mathematical SFT, and group-relative policy optimization together produce strong open-model mathematical reasoning.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C30379-060A-E951-3604-8851BC34C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120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 i="0">
                <a:solidFill>
                  <a:srgbClr val="000000"/>
                </a:solidFill>
                <a:latin typeface="Georgia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60120"/>
            <a:ext cx="53035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 u="sng">
                <a:solidFill>
                  <a:srgbClr val="000000"/>
                </a:solidFill>
                <a:latin typeface="Georgia"/>
              </a:rPr>
              <a:t>Primary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1042416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Georgia"/>
              </a:rPr>
              <a:t>Shao, Z., Wang, P., Zhu, Q., Xu, R., Song, J., Bi, X., Zhang, H., Zhang, M., Li, Y. K., Wu, Y., &amp; Guo, D. (2024).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Georgia"/>
              </a:rPr>
              <a:t>DeepSeekMath: Pushing the Limits of Mathematical Reasoning in Open Language Models.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Georgia"/>
              </a:rPr>
              <a:t>arXiv:2402.03300v3.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13632"/>
            <a:ext cx="676656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20" b="1" i="0" u="sng">
                <a:solidFill>
                  <a:srgbClr val="000000"/>
                </a:solidFill>
                <a:latin typeface="Georgia"/>
              </a:rPr>
              <a:t>Benchmarks and Methods Cited Within the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61104"/>
            <a:ext cx="1033272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000000"/>
                </a:solidFill>
                <a:latin typeface="Georgia"/>
              </a:rPr>
              <a:t>• Math benchmarks: </a:t>
            </a:r>
            <a:r>
              <a:rPr sz="1400">
                <a:solidFill>
                  <a:srgbClr val="000000"/>
                </a:solidFill>
                <a:latin typeface="Georgia"/>
              </a:rPr>
              <a:t>GSM8K, MATH, CMATH, MGSM-zh, SAT, OCW, MMLU-STEM, Gaokao-MathQA and miniF2F.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636008"/>
            <a:ext cx="1033272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000000"/>
                </a:solidFill>
                <a:latin typeface="Georgia"/>
              </a:rPr>
              <a:t>• Training methods: </a:t>
            </a:r>
            <a:r>
              <a:rPr sz="1400">
                <a:solidFill>
                  <a:srgbClr val="000000"/>
                </a:solidFill>
                <a:latin typeface="Georgia"/>
              </a:rPr>
              <a:t>SFT, Rejection Sampling Fine-tuning (RFT), Direct Preference Optimization (DPO), PPO and GRPO.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010912"/>
            <a:ext cx="1033272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8000"/>
              </a:lnSpc>
            </a:pPr>
            <a:r>
              <a:rPr sz="1400" b="1">
                <a:solidFill>
                  <a:srgbClr val="000000"/>
                </a:solidFill>
                <a:latin typeface="Georgia"/>
              </a:rPr>
              <a:t>• Evaluation caveat: </a:t>
            </a:r>
            <a:r>
              <a:rPr sz="1400">
                <a:solidFill>
                  <a:srgbClr val="000000"/>
                </a:solidFill>
                <a:latin typeface="Georgia"/>
              </a:rPr>
              <a:t>scores depend on prompting, tool access, sampling and voting settings reported in the paper.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53ABAF-FC5D-22A7-D829-FB93461B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fb1851-1ee6-4dac-9c34-f179785e4c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7CB47DCFAEF03143B2BB0712420D754F" ma:contentTypeVersion="11" ma:contentTypeDescription="建立新的文件。" ma:contentTypeScope="" ma:versionID="e8194ca5b113a47c4e35d72b8395237e">
  <xsd:schema xmlns:xsd="http://www.w3.org/2001/XMLSchema" xmlns:xs="http://www.w3.org/2001/XMLSchema" xmlns:p="http://schemas.microsoft.com/office/2006/metadata/properties" xmlns:ns3="64fb1851-1ee6-4dac-9c34-f179785e4c6b" targetNamespace="http://schemas.microsoft.com/office/2006/metadata/properties" ma:root="true" ma:fieldsID="864f57b065dccd6e8ee114e000c110b9" ns3:_="">
    <xsd:import namespace="64fb1851-1ee6-4dac-9c34-f179785e4c6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fb1851-1ee6-4dac-9c34-f179785e4c6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C6348B-C1FA-42E0-917F-8158722E42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82170A-2B5A-4089-A0FD-DD6D9A613CDE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64fb1851-1ee6-4dac-9c34-f179785e4c6b"/>
  </ds:schemaRefs>
</ds:datastoreItem>
</file>

<file path=customXml/itemProps3.xml><?xml version="1.0" encoding="utf-8"?>
<ds:datastoreItem xmlns:ds="http://schemas.openxmlformats.org/officeDocument/2006/customXml" ds:itemID="{7FC94B42-2BC8-4808-A675-DA68FE502C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fb1851-1ee6-4dac-9c34-f179785e4c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4452</Words>
  <Application>Microsoft Office PowerPoint</Application>
  <PresentationFormat>寬螢幕</PresentationFormat>
  <Paragraphs>532</Paragraphs>
  <Slides>45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3" baseType="lpstr">
      <vt:lpstr>Noto Serif TC Black</vt:lpstr>
      <vt:lpstr>Aptos</vt:lpstr>
      <vt:lpstr>Arial</vt:lpstr>
      <vt:lpstr>Cambria Math</vt:lpstr>
      <vt:lpstr>Franklin Gothic Book</vt:lpstr>
      <vt:lpstr>Franklin Gothic Medium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趙婉昀</dc:creator>
  <cp:keywords/>
  <dc:description>generated using python-pptx</dc:description>
  <cp:lastModifiedBy>趙婉昀</cp:lastModifiedBy>
  <cp:revision>3</cp:revision>
  <dcterms:created xsi:type="dcterms:W3CDTF">2013-01-27T09:14:16Z</dcterms:created>
  <dcterms:modified xsi:type="dcterms:W3CDTF">2026-10-22T07:58:59Z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0x0101007CB47DCFAEF03143B2BB0712420D754F</vt:lpwstr>
  </property>
</Properties>
</file>